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28"/>
  </p:notesMasterIdLst>
  <p:sldIdLst>
    <p:sldId id="280" r:id="rId3"/>
    <p:sldId id="258" r:id="rId4"/>
    <p:sldId id="282"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83" r:id="rId23"/>
    <p:sldId id="276" r:id="rId24"/>
    <p:sldId id="277" r:id="rId25"/>
    <p:sldId id="279" r:id="rId26"/>
    <p:sldId id="281" r:id="rId27"/>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923" autoAdjust="0"/>
  </p:normalViewPr>
  <p:slideViewPr>
    <p:cSldViewPr>
      <p:cViewPr varScale="1">
        <p:scale>
          <a:sx n="168" d="100"/>
          <a:sy n="168" d="100"/>
        </p:scale>
        <p:origin x="1600" y="88"/>
      </p:cViewPr>
      <p:guideLst>
        <p:guide orient="horz" pos="1620"/>
        <p:guide pos="288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BC5D9F-16B7-455A-BCD6-615C9C3E5B81}" type="datetimeFigureOut">
              <a:rPr lang="zh-CN" altLang="en-US" smtClean="0"/>
              <a:t>2026/6/2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302973-C7C5-499E-821F-3B4F4C517133}" type="slidenum">
              <a:rPr lang="zh-CN" altLang="en-US" smtClean="0"/>
              <a:t>‹#›</a:t>
            </a:fld>
            <a:endParaRPr lang="zh-CN" altLang="en-US"/>
          </a:p>
        </p:txBody>
      </p:sp>
    </p:spTree>
    <p:extLst>
      <p:ext uri="{BB962C8B-B14F-4D97-AF65-F5344CB8AC3E}">
        <p14:creationId xmlns:p14="http://schemas.microsoft.com/office/powerpoint/2010/main" val="2286137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t>Hi everyone. Today we are presenting our AMATH 383 final project, Seizure Onset as a Dynamical Transition. The central idea is to view a seizure not only as a label in EEG data, but also as a change in the stability of a dynamical system. We use a Wilson-Cowan excitatory-inhibitory ODE model to study the mathematical mechanism, then compare that mechanism with features extracted from a scoped CHB-MIT EEG subset. The goal is not to build a clinical prediction device. The goal is to connect seizure onset with dynamical-systems reasoning and to check how reliable the empirical feature explanations are.</a:t>
            </a:r>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6378B0FB-98FC-479E-B2A9-21871468B7A8}"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2879383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The main question is whether seizure onset can be understood as a dynamical transition. In this framing, normal brain activity is represented as a locally stable equilibrium. As an excitability parameter changes, the system can cross a stability boundary. After that crossing, the activity may become oscillatory and seizure-like. This gives us a simple storyline: a normal regime, a parameter change, and an ictal regime. The key mathematical object is not only the EEG signal itself, but the stability of the equilibrium under changing excitatory drive.</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9B382-2B65-E952-BAC8-B5B251DA6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ABAAF2-FF26-C8A0-E7CD-A2B9F5CFA4A1}"/>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7065FB28-6742-8FB0-CEA1-026F88322582}"/>
              </a:ext>
            </a:extLst>
          </p:cNvPr>
          <p:cNvSpPr>
            <a:spLocks noGrp="1"/>
          </p:cNvSpPr>
          <p:nvPr>
            <p:ph type="body" idx="1"/>
          </p:nvPr>
        </p:nvSpPr>
        <p:spPr/>
        <p:txBody>
          <a:bodyPr/>
          <a:lstStyle/>
          <a:p>
            <a:r>
              <a:rPr lang="en-US"/>
              <a:t>Before getting into the equations, we should define the biological terms carefully. Epilepsy is a disorder associated with recurrent seizures. A seizure is a temporary episode of abnormal electrical activity in the brain. Normal brain activity is also electrical, so the difference is not that one has electricity and the other does not. The difference is regulation. In normal activity, excitation and inhibition remain balanced enough that the brain can process information. During a seizure, that regulation temporarily breaks down and abnormal activity disrupts normal function. This is why a stability-based model is useful.</a:t>
            </a:r>
          </a:p>
        </p:txBody>
      </p:sp>
      <p:sp>
        <p:nvSpPr>
          <p:cNvPr id="4" name="Slide Number Placeholder 3">
            <a:extLst>
              <a:ext uri="{FF2B5EF4-FFF2-40B4-BE49-F238E27FC236}">
                <a16:creationId xmlns:a16="http://schemas.microsoft.com/office/drawing/2014/main" id="{BCC284B9-29BF-7C95-BD60-D2E324984AA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46344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This project uses both a classifier and a mechanistic model because they answer different questions. An EEG classifier can detect which windows look ictal, which is useful for identifying seizure-overlapping data. However, a classifier alone may not explain why neural activity changes suddenly. A mechanistic ODE model asks a different question: what change in excitation, inhibition, or drive could make a normal equilibrium lose stability? This is also a direct connection to our course: state variables, governing equations, equilibria, Jacobians, eigenvalues, and qualitative interpretation.</a:t>
            </a:r>
          </a:p>
          <a:p>
            <a:endParaRPr lang="en-US" dirty="0"/>
          </a:p>
          <a:p>
            <a:endParaRPr lang="en-US" dirty="0"/>
          </a:p>
          <a:p>
            <a:endParaRPr lang="en-US" dirty="0"/>
          </a:p>
          <a:p>
            <a:r>
              <a:rPr lang="en-US" b="1" dirty="0"/>
              <a:t>Possible audience question: </a:t>
            </a:r>
            <a:r>
              <a:rPr lang="en-US" dirty="0"/>
              <a:t>The ODE model does not seem very close to the machine-learning part. Is that a problem? Answer: It is a limitation, but not a problem if we present the two parts honestly. The ODE is a mechanism model. It asks how a neural system could move from stable background activity to seizure-like oscillation. The machine-learning part is an empirical detection pipeline. It asks whether real EEG windows that overlap seizures are separable from non-ictal windows. The connection is conceptual, through the idea of transition and ictal separability, not through direct parameter fitting.</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Here is the roadmap for the presentation. First, we introduce the Wilson-Cowan ODE model and explain how it represents excitation, inhibition, and the drive parameter P. Second, we use linear stability analysis to study equilibria as P changes. Third, we move to the CHB-MIT EEG subset and explain the feature pipeline for ictal-window detection. Fourth, we use the Consistency Index to ask whether feature-importance explanations agree across methods. We end with a cautious discussion, because the ODE and EEG analyses support related but not identical claims.</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The Wilson-Cowan model has two state variables. E(t) represents normalized excitatory population activity, and I(t) represents normalized inhibitory population activity. The model captures a feedback loop: excitation pushes inhibition upward, and inhibition suppresses excitation. The parameter P enters the excitatory equation and represents excitatory drive or excitability. In this project, increasing P is a simplified way to push the system toward seizure-like activity. Importantly, P is not estimated directly from EEG. It is a control parameter used to study how local stability changes.</a:t>
            </a:r>
          </a:p>
          <a:p>
            <a:endParaRPr lang="en-US" dirty="0"/>
          </a:p>
          <a:p>
            <a:endParaRPr lang="en-US" dirty="0"/>
          </a:p>
          <a:p>
            <a:r>
              <a:rPr lang="en-US" dirty="0"/>
              <a:t>To figure out the ODE model, we started from the smallest meaningful brain feedback loop: excitation and inhibition. Instead of modeling every neuron, we model the average activity of two interacting populations. That gives two state variables, E(t) and I(t). Then we write one rate equation for each variable. Each rate equation has a decay part, a nonlinear activation part, and coupling from the other population.</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t>These are the governing equations. The first equation describes the excitatory population, and the second describes the inhibitory population. Each equation has a decay term, such as negative E or negative I, plus a nonlinear activation term. The sigmoid function converts weighted input into bounded population activity. The factors one minus E and one minus I also help keep the normalized activities bounded. The important point is that this is a nonlinear two-dimensional ODE system. Because it is nonlinear, the local behavior depends on equilibria and their Jacobian eigenvalues.</a:t>
                </a:r>
              </a:p>
              <a:p>
                <a:r>
                  <a:rPr lang="en-US"/>
                  <a:t>Model-building logic: first choose the state variables E and I. Second, write rate of change equals decay plus activation. Third, make activation nonlinear using a sigmoid so that population activity has a threshold and saturation. Fourth, define the inputs. The excitatory input is w_EE E minus w_EI I plus P, so excitation is increased by itself, suppressed by inhibition, and pushed by the drive P. The inhibitory input is w_IE E minus w_II I plus Q, so excitation activates inhibition, while inhibitory self-coupling and the background drive shape the inhibitory response.</a:t>
                </a:r>
              </a:p>
            </p:txBody>
          </p:sp>
        </mc:Choice>
        <mc:Fallback xmlns="">
          <p:sp>
            <p:nvSpPr>
              <p:cNvPr id="3" name="Notes Placeholder 2"/>
              <p:cNvSpPr>
                <a:spLocks noGrp="1"/>
              </p:cNvSpPr>
              <p:nvPr>
                <p:ph type="body" idx="1"/>
              </p:nvPr>
            </p:nvSpPr>
            <p:spPr/>
            <p:txBody>
              <a:bodyPr/>
              <a:lstStyle/>
              <a:p>
                <a:r>
                  <a:rPr lang="en-US"/>
                  <a:t>These are the governing equations. The first equation describes the excitatory population, and the second describes the inhibitory population. Each equation has a decay term, such as negative E or negative I, plus a nonlinear activation term. The sigmoid function converts weighted input into bounded population activity. The factors one minus E and one minus I also help keep the normalized activities bounded. The important point is that this is a nonlinear two-dimensional ODE system. Because it is nonlinear, the local behavior depends on equilibria and their Jacobian eigenvalues.</a:t>
                </a:r>
              </a:p>
              <a:p>
                <a:r>
                  <a:rPr lang="en-US"/>
                  <a:t>Model-building logic: first choose the state variables E and I. Second, write rate of change equals decay plus activation. Third, make activation nonlinear using a sigmoid so that population activity has a threshold and saturation. Fourth, define the inputs. The excitatory input is w_EE E minus w_EI I plus P, so excitation is increased by itself, suppressed by inhibition, and pushed by the drive P. The inhibitory input is w_IE E minus w_II I plus Q, so excitation activates inhibition, while inhibitory self-coupling and the background drive shape the inhibitory response.</a:t>
                </a:r>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Most parameters are fixed so that the analysis stays interpretable. These values are not patient-specific fitted constants. They are a qualitative Wilson-Cowan demonstration set chosen to keep excitation, inhibition, nonlinear saturation, and feedback all present while only P is varied.</a:t>
            </a:r>
          </a:p>
          <a:p>
            <a:r>
              <a:rPr lang="en-US" dirty="0"/>
              <a:t>The excitatory time scale </a:t>
            </a:r>
            <a:r>
              <a:rPr lang="en-US" dirty="0" err="1"/>
              <a:t>tau_E</a:t>
            </a:r>
            <a:r>
              <a:rPr lang="en-US" dirty="0"/>
              <a:t> equals 1, which defines the basic time unit. The inhibitory time scale </a:t>
            </a:r>
            <a:r>
              <a:rPr lang="en-US" dirty="0" err="1"/>
              <a:t>tau_I</a:t>
            </a:r>
            <a:r>
              <a:rPr lang="en-US" dirty="0"/>
              <a:t> equals 2, so inhibition responds more slowly than excitation. That slower inhibitory response helps create delayed negative feedback, which can support oscillatory behavior. The excitatory couplings </a:t>
            </a:r>
            <a:r>
              <a:rPr lang="en-US" dirty="0" err="1"/>
              <a:t>w_EE</a:t>
            </a:r>
            <a:r>
              <a:rPr lang="en-US" dirty="0"/>
              <a:t> and </a:t>
            </a:r>
            <a:r>
              <a:rPr lang="en-US" dirty="0" err="1"/>
              <a:t>w_IE</a:t>
            </a:r>
            <a:r>
              <a:rPr lang="en-US" dirty="0"/>
              <a:t> are both 10, so excitation both reinforces itself and activates inhibition. The inhibitory couplings </a:t>
            </a:r>
            <a:r>
              <a:rPr lang="en-US" dirty="0" err="1"/>
              <a:t>w_EI</a:t>
            </a:r>
            <a:r>
              <a:rPr lang="en-US" dirty="0"/>
              <a:t> equals 9 and </a:t>
            </a:r>
            <a:r>
              <a:rPr lang="en-US" dirty="0" err="1"/>
              <a:t>w_II</a:t>
            </a:r>
            <a:r>
              <a:rPr lang="en-US" dirty="0"/>
              <a:t> equals 2, so inhibition strongly suppresses excitation but has weaker self-coupling. Q equals 0.5 and gives a small background inhibitory drive. The sigmoid slopes are 1.5, which gives a smooth nonlinear response rather than an almost linear or almost step-like response. The sigmoid thresholds are 3.5, so input has to become large enough before population activity rises strongly.</a:t>
            </a:r>
          </a:p>
          <a:p>
            <a:endParaRPr lang="en-US" dirty="0"/>
          </a:p>
          <a:p>
            <a:endParaRPr lang="en-US" dirty="0"/>
          </a:p>
          <a:p>
            <a:r>
              <a:rPr lang="en-US" b="0" dirty="0"/>
              <a:t>For the reason we choose these parameter values, w</a:t>
            </a:r>
            <a:r>
              <a:rPr lang="en-US" dirty="0"/>
              <a:t>e chose them as a controlled qualitative parameter set, not as measured biological constants. Fixing them lets us isolate the main mathematical question: as the excitatory drive P changes, does the tracked equilibrium stay stable or lose stability? Different parameter choices could produce different diagrams, so our claim is about this interpretable Wilson-Cowan setting, not exact patient-specific physiology. P ranges from 0 to 8 because that range includes the low-drive stable regime, the intermediate unstable interval, and the restabilized high-drive regime.</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This slide summarizes the stability method. For each value of P, we solve for an equilibrium, meaning a point where both derivatives are zero. Then we evaluate the Jacobian matrix at that equilibrium. The Jacobian gives the local linear approximation to the nonlinear system. Next, we compute the eigenvalues. If the largest real part of the eigenvalues is negative, perturbations decay and the equilibrium is locally stable. If the largest real part is positive, perturbations grow and the equilibrium is locally unstable. This is the main numerical diagnostic used in the ODE analysis.</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This figure shows the main ODE result. The sweep tracks one equilibrium for each tested value of P. Out of 201 grid points, 171 are locally stable and 30 are unstable. The unstable interval is approximately P equals 1.64 to 2.80. In words, low drive gives a stable equilibrium, intermediate drive produces loss of local stability, and high drive restabilizes the equilibrium. The middle panel is especially important because it shows the largest real eigenvalue crossing zero. That crossing is the mathematical signal that local stability changes.</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This table explains how to interpret the stability change. Near both stability crossings, the eigenvalues are complex conjugate pairs. Therefore, the result is best described as a Hopf-like loss of local stability. A Hopf-like transition means the system does not just move away in a straight line. It tends to start rotating or oscillating around the equilibrium. That matches the idea of rhythmic seizure-like activity. We are not claiming a fully validated Hopf bifurcation from a complete bifurcation analysis. We are also not claiming a saddle-node transition, hysteresis, or the appearance of a separate stable seizure equilibrium. The safe conclusion is that changing P can make the equilibrium lose local stability in a way associated with oscillatory behavior.</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The phase plane gives a visual interpretation of the same result. Here P equals 2.0, which lies inside the unstable interval. The red marker is the unstable equilibrium. The vector field around it has rotational structure, meaning nearby trajectories do not simply move straight back to the equilibrium. This visual pattern matches the complex-eigenvalue result. It supports the interpretation that the instability is oscillatory. Again, this is a qualitative dynamical mechanism, not a direct simulation of a patient-specific seizure.</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Now we move from the ODE model to the EEG data. The empirical component uses a scoped CHB-MIT subset with subjects chb01, chb03, and chb05. The subset contains 51 EDF records and 35,679 non-overlapping five-second windows. The class balance is highly uneven: there are 34,241 baseline windows, 1,143 preictal windows, and only 295 ictal windows. Ictal windows are less than one percent of the dataset. This imbalance matters because accuracy alone can be misleading, and false positives become important when there are many non-ictal windows.</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The label design is very important. A window is labeled one only if it overlaps an annotated ictal interval. Baseline and preictal windows are labeled zero during classifier training. Therefore, the task is ictal-window detection. It is not seizure prediction, and it is not a validated early-warning system. Preictal windows are included to provide descriptive context, but they are not treated as positive examples. Throughout the presentation, the safest wording is ictal-window detection rather than seizure prediction.</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The EEG signal is a time series, so each five-second window has many raw voltage values. Instead of feeding all raw values directly into the models, we summarize each window with features. For each five-second EEG window, features are computed from eight bipolar EEG channels when available. The feature families include amplitude features such as RMS and line length, spectral power features such as delta, theta, alpha, and beta power, and complexity features such as entropy and Hjorth measures. Channel-level features are summarized by the mean across channels and the maximum across channels. This gives 50 total features: 25 base features times two channel summaries. These features are empirical observables. They are not direct measurements of the ODE variables E and I.</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This table summarizes how selected features behave by phase. The main separation is between ictal and non-ictal windows. For example, mean RMS is about 39 for baseline and about 40 for preictal, but it rises to about 120 for ictal windows. Mean theta power rises from about 94 at baseline to over 1,000 during ictal windows. Mean Hjorth activity rises from about 1,733 to more than 15,000. In contrast, baseline and preictal medians are much closer to each other. This supports ictal separability more strongly than gradual preictal separation.</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This figure plots median feature trajectories relative to seizure onset. The dashed red line marks onset. Several features change sharply at or right after onset. For example, beta power, line length, and the transition index rise strongly. This is consistent with ictal windows being very different from baseline. The trajectories are robust-z scaled and clipped for visualization, so the figure should be read as a pattern summary rather than raw physical magnitude. Preictal medians are close to baseline, so this supports ictal separability more than reliable preictal prediction.</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Logistic regression is a relatively simple model that combines features with weights and outputs a probability of an ictal window. Random forest is a collection of decision trees. Each tree makes simple split decisions, and the forest combines them. RFECV </a:t>
            </a:r>
            <a:r>
              <a:rPr lang="zh-CN" altLang="zh-CN" dirty="0"/>
              <a:t>(Recursive Feature Elimination with Cross-Validation)</a:t>
            </a:r>
            <a:r>
              <a:rPr lang="en-US" dirty="0"/>
              <a:t> logistic regression means recursive feature elimination with cross-validation. It starts with many features and repeatedly removes weaker ones while checking performance.</a:t>
            </a:r>
          </a:p>
          <a:p>
            <a:r>
              <a:rPr lang="en-US" dirty="0"/>
              <a:t>This slide compares the classifier results. All three models achieve high balanced accuracy because they detect many ictal windows. RFECV logistic regression has the highest balanced accuracy and recall, so it is the most sensitive model in this run. However, it also has the lowest precision and the highest false-positive-window rate. Random forest has lower recall, but better precision and fewer false positives. Therefore, RFECV is not simply the best model overall. The best model depends on whether the priority is sensitivity, precision, or reducing false-positive burden.</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This slide focuses on preictal positive-call rates. Although preictal windows were labeled negative during training, the models call them positive more often than baseline windows. For example, RFECV logistic regression calls about 5.2 percent of baseline windows positive, but about 17.9 percent of preictal windows positive. This is suggestive because it may reflect onset-near feature changes. However, it does not validate seizure prediction. The implementation does not assign time-to-next-seizure labels across neighboring EDF files, so this result should be treated only as qualitative context.</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This slide slows down the Consistency Index. We compare three feature-importance rankings: logistic-regression coefficient magnitude, random-forest impurity importance, and random-forest permutation importance. CI_rank measures global rank agreement across all features. CI_topk measures overlap among the top eight features. Alpha weights these two components. The red dashed line is CI_rank, the green dotted line is CI_topk, and the blue curve is the combined CI(alpha). At alpha equals 0.5, the full-feature CI is 0.432. The main interpretation is that the methods have moderate rank agreement but weak agreement on the exact top features.</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lang="en-US"/>
              <a:t>This slide connects RFECV to explanation reliability. RFECV selected 22 of the 50 features. After that, logistic-regression and random-forest models were refit on the selected subset and CI was recomputed. This asks whether feature selection makes the explanations more stable. In this run, it did not. The selected-feature CI at alpha equals 0.5 decreased to 0.407, compared with 0.432 for the full feature set. So RFECV improved recall and balanced accuracy, but it did not improve explanation consistency.</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This discussion slide separates the two main claims of the project. The Wilson-Cowan ODE gives a mathematical mechanism: changing the excitatory drive P can move the equilibrium into a locally unstable interval, and the complex eigenvalues support oscillatory local behavior. The EEG analysis gives qualitative empirical support: ictal windows in the scoped CHB-MIT subset are separable from non-ictal windows mainly through amplitude, spectral-power, and Hjorth-activity features.</a:t>
            </a:r>
          </a:p>
          <a:p>
            <a:endParaRPr lang="en-US" dirty="0"/>
          </a:p>
          <a:p>
            <a:r>
              <a:rPr lang="en-US" b="1" dirty="0"/>
              <a:t>Possible audience question: The ODE model does not seem very close to the machine-learning part. Is that a problem?</a:t>
            </a:r>
            <a:r>
              <a:rPr lang="en-US" dirty="0"/>
              <a:t> Answer: It is a real limitation, but it is acceptable because we are not claiming a direct fit. The ODE variables E and I are abstract population activities, while the machine-learning features are empirical EEG summaries such as RMS, power, entropy, and Hjorth activity. The connection is that a stability loss in the ODE can produce oscillatory seizure-like behavior, and the EEG data show that ictal windows have strong amplitude and power changes. These two claims are qualitatively compatible, but they are not the same. A stronger future project would estimate a latent excitability parameter P(t) from EEG, fit a patient-specific neural mass model, or use ODE-derived features inside the classifier.</a:t>
            </a:r>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lang="en-US"/>
              <a:t>The limitations are central to the project. Mathematically, the Wilson-Cowan model is intentionally simple. Two variables cannot represent spatial seizure propagation, detailed anatomy, medication effects, or multiple seizure types. The parameter P is also abstract: it summarizes changes in excitatory drive or effective inhibition, but it is not estimated from EEG. Empirically, the dataset is scoped to three subjects and 51 EDF records, so the results should not be presented as a full CHB-MIT benchmark or as unseen-patient generalization. The classifier target is ictal-window detection, so it should not be described as seizure prediction or a clinical alarm system. Finally, the explanation rankings are only partly stable, so interpretation should remain cautious.</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lang="en-US" dirty="0"/>
              <a:t>This references slide lists the main sources used for the presentation. The most important sources are the Wilson-Cowan neural population model, the CHB-MIT dataset, the PhysioNet database paper, the </a:t>
            </a:r>
            <a:r>
              <a:rPr lang="en-US" dirty="0" err="1"/>
              <a:t>Epileptor</a:t>
            </a:r>
            <a:r>
              <a:rPr lang="en-US" dirty="0"/>
              <a:t> transition paper, and the CI/RFECV explanation-consistency paper. Use this slide only if the audience asks about sources or if there is extra time at the end.</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t>Thank you for listening. We are happy to take questions. The main message is that seizure onset can be studied as a stability transition in a nonlinear ODE model, while the EEG analysis supports ictal separability in a scoped dataset. The careful interpretation is mechanism plus qualitative EEG support, not a validated clinical prediction system.</a:t>
            </a:r>
          </a:p>
        </p:txBody>
      </p:sp>
      <p:sp>
        <p:nvSpPr>
          <p:cNvPr id="583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2087F77F-ECEA-4F94-9D86-50FC5BDD0F5F}" type="slidenum">
              <a:rPr lang="zh-CN" altLang="en-US" smtClean="0">
                <a:solidFill>
                  <a:prstClr val="black"/>
                </a:solidFill>
              </a:rPr>
              <a:pPr/>
              <a:t>25</a:t>
            </a:fld>
            <a:endParaRPr lang="zh-CN" altLang="en-US">
              <a:solidFill>
                <a:prstClr val="black"/>
              </a:solidFill>
            </a:endParaRPr>
          </a:p>
        </p:txBody>
      </p:sp>
    </p:spTree>
    <p:extLst>
      <p:ext uri="{BB962C8B-B14F-4D97-AF65-F5344CB8AC3E}">
        <p14:creationId xmlns:p14="http://schemas.microsoft.com/office/powerpoint/2010/main" val="1288642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515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500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022838"/>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72644051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rgbClr val="022838"/>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29374467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842184083"/>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580800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489718"/>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62198119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1987E9AA-40E9-4147-A6F6-4AC1BDDCF4ED}" type="datetimeFigureOut">
              <a:rPr lang="zh-CN" altLang="en-US">
                <a:solidFill>
                  <a:prstClr val="black"/>
                </a:solidFill>
              </a:rPr>
              <a:pPr>
                <a:defRPr/>
              </a:pPr>
              <a:t>2026/6/2</a:t>
            </a:fld>
            <a:endParaRPr lang="zh-CN" altLang="en-US">
              <a:solidFill>
                <a:prstClr val="black"/>
              </a:solidFill>
            </a:endParaRPr>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solidFill>
                <a:prstClr val="black"/>
              </a:solidFill>
            </a:endParaRPr>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90638F1E-22C3-4941-9A9F-B049A79A2F30}" type="slidenum">
              <a:rPr lang="zh-CN" altLang="en-US">
                <a:solidFill>
                  <a:prstClr val="black"/>
                </a:solidFill>
              </a:rPr>
              <a:pPr>
                <a:defRPr/>
              </a:pPr>
              <a:t>‹#›</a:t>
            </a:fld>
            <a:endParaRPr lang="zh-CN" altLang="en-US">
              <a:solidFill>
                <a:prstClr val="black"/>
              </a:solidFill>
            </a:endParaRPr>
          </a:p>
        </p:txBody>
      </p:sp>
    </p:spTree>
    <p:extLst>
      <p:ext uri="{BB962C8B-B14F-4D97-AF65-F5344CB8AC3E}">
        <p14:creationId xmlns:p14="http://schemas.microsoft.com/office/powerpoint/2010/main" val="118692458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C50FBEC9-7B56-45AB-91CD-DDCED57A5657}" type="datetimeFigureOut">
              <a:rPr lang="zh-CN" altLang="en-US">
                <a:solidFill>
                  <a:prstClr val="black"/>
                </a:solidFill>
              </a:rPr>
              <a:pPr>
                <a:defRPr/>
              </a:pPr>
              <a:t>2026/6/2</a:t>
            </a:fld>
            <a:endParaRPr lang="zh-CN" altLang="en-US">
              <a:solidFill>
                <a:prstClr val="black"/>
              </a:solidFill>
            </a:endParaRPr>
          </a:p>
        </p:txBody>
      </p:sp>
      <p:sp>
        <p:nvSpPr>
          <p:cNvPr id="8" name="页脚占位符 7"/>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solidFill>
                <a:prstClr val="black"/>
              </a:solidFill>
            </a:endParaRPr>
          </a:p>
        </p:txBody>
      </p:sp>
      <p:sp>
        <p:nvSpPr>
          <p:cNvPr id="9" name="灯片编号占位符 8"/>
          <p:cNvSpPr>
            <a:spLocks noGrp="1"/>
          </p:cNvSpPr>
          <p:nvPr>
            <p:ph type="sldNum" sz="quarter" idx="12"/>
          </p:nvPr>
        </p:nvSpPr>
        <p:spPr>
          <a:xfrm>
            <a:off x="6553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D9506706-76C2-406A-AD4A-6E1F9C540517}" type="slidenum">
              <a:rPr lang="zh-CN" altLang="en-US">
                <a:solidFill>
                  <a:prstClr val="black"/>
                </a:solidFill>
              </a:rPr>
              <a:pPr>
                <a:defRPr/>
              </a:pPr>
              <a:t>‹#›</a:t>
            </a:fld>
            <a:endParaRPr lang="zh-CN" altLang="en-US">
              <a:solidFill>
                <a:prstClr val="black"/>
              </a:solidFill>
            </a:endParaRPr>
          </a:p>
        </p:txBody>
      </p:sp>
    </p:spTree>
    <p:extLst>
      <p:ext uri="{BB962C8B-B14F-4D97-AF65-F5344CB8AC3E}">
        <p14:creationId xmlns:p14="http://schemas.microsoft.com/office/powerpoint/2010/main" val="253957881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ADF7166A-B836-4358-A580-5C6F71409A0E}" type="datetimeFigureOut">
              <a:rPr lang="zh-CN" altLang="en-US">
                <a:solidFill>
                  <a:prstClr val="black"/>
                </a:solidFill>
              </a:rPr>
              <a:pPr>
                <a:defRPr/>
              </a:pPr>
              <a:t>2026/6/2</a:t>
            </a:fld>
            <a:endParaRPr lang="zh-CN" altLang="en-US">
              <a:solidFill>
                <a:prstClr val="black"/>
              </a:solidFill>
            </a:endParaRPr>
          </a:p>
        </p:txBody>
      </p:sp>
      <p:sp>
        <p:nvSpPr>
          <p:cNvPr id="4" name="页脚占位符 3"/>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solidFill>
                <a:prstClr val="black"/>
              </a:solidFill>
            </a:endParaRPr>
          </a:p>
        </p:txBody>
      </p:sp>
      <p:sp>
        <p:nvSpPr>
          <p:cNvPr id="5" name="灯片编号占位符 4"/>
          <p:cNvSpPr>
            <a:spLocks noGrp="1"/>
          </p:cNvSpPr>
          <p:nvPr>
            <p:ph type="sldNum" sz="quarter" idx="12"/>
          </p:nvPr>
        </p:nvSpPr>
        <p:spPr>
          <a:xfrm>
            <a:off x="6553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04228EF6-8EE5-4CB2-BFED-2FD908A2E5D3}" type="slidenum">
              <a:rPr lang="zh-CN" altLang="en-US">
                <a:solidFill>
                  <a:prstClr val="black"/>
                </a:solidFill>
              </a:rPr>
              <a:pPr>
                <a:defRPr/>
              </a:pPr>
              <a:t>‹#›</a:t>
            </a:fld>
            <a:endParaRPr lang="zh-CN" altLang="en-US">
              <a:solidFill>
                <a:prstClr val="black"/>
              </a:solidFill>
            </a:endParaRPr>
          </a:p>
        </p:txBody>
      </p:sp>
    </p:spTree>
    <p:extLst>
      <p:ext uri="{BB962C8B-B14F-4D97-AF65-F5344CB8AC3E}">
        <p14:creationId xmlns:p14="http://schemas.microsoft.com/office/powerpoint/2010/main" val="33564935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469036EC-7CDF-4D4A-8EA3-ACC7E06FC1DE}" type="datetimeFigureOut">
              <a:rPr lang="zh-CN" altLang="en-US">
                <a:solidFill>
                  <a:prstClr val="black"/>
                </a:solidFill>
              </a:rPr>
              <a:pPr>
                <a:defRPr/>
              </a:pPr>
              <a:t>2026/6/2</a:t>
            </a:fld>
            <a:endParaRPr lang="zh-CN" altLang="en-US">
              <a:solidFill>
                <a:prstClr val="black"/>
              </a:solidFill>
            </a:endParaRPr>
          </a:p>
        </p:txBody>
      </p:sp>
      <p:sp>
        <p:nvSpPr>
          <p:cNvPr id="3" name="页脚占位符 2"/>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solidFill>
                <a:prstClr val="black"/>
              </a:solidFill>
            </a:endParaRPr>
          </a:p>
        </p:txBody>
      </p:sp>
      <p:sp>
        <p:nvSpPr>
          <p:cNvPr id="4" name="灯片编号占位符 3"/>
          <p:cNvSpPr>
            <a:spLocks noGrp="1"/>
          </p:cNvSpPr>
          <p:nvPr>
            <p:ph type="sldNum" sz="quarter" idx="12"/>
          </p:nvPr>
        </p:nvSpPr>
        <p:spPr>
          <a:xfrm>
            <a:off x="6553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713C1FEB-CA8E-4707-A353-1927E74762FD}" type="slidenum">
              <a:rPr lang="zh-CN" altLang="en-US">
                <a:solidFill>
                  <a:prstClr val="black"/>
                </a:solidFill>
              </a:rPr>
              <a:pPr>
                <a:defRPr/>
              </a:pPr>
              <a:t>‹#›</a:t>
            </a:fld>
            <a:endParaRPr lang="zh-CN" altLang="en-US">
              <a:solidFill>
                <a:prstClr val="black"/>
              </a:solidFill>
            </a:endParaRPr>
          </a:p>
        </p:txBody>
      </p:sp>
    </p:spTree>
    <p:extLst>
      <p:ext uri="{BB962C8B-B14F-4D97-AF65-F5344CB8AC3E}">
        <p14:creationId xmlns:p14="http://schemas.microsoft.com/office/powerpoint/2010/main" val="418206048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40B9AD60-13DD-427F-87B1-C732D2CD20A4}" type="datetimeFigureOut">
              <a:rPr lang="zh-CN" altLang="en-US">
                <a:solidFill>
                  <a:prstClr val="black"/>
                </a:solidFill>
              </a:rPr>
              <a:pPr>
                <a:defRPr/>
              </a:pPr>
              <a:t>2026/6/2</a:t>
            </a:fld>
            <a:endParaRPr lang="zh-CN" altLang="en-US">
              <a:solidFill>
                <a:prstClr val="black"/>
              </a:solidFill>
            </a:endParaRPr>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solidFill>
                <a:prstClr val="black"/>
              </a:solidFill>
            </a:endParaRPr>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89C81D7E-753C-4EA8-A574-57643B177569}" type="slidenum">
              <a:rPr lang="zh-CN" altLang="en-US">
                <a:solidFill>
                  <a:prstClr val="black"/>
                </a:solidFill>
              </a:rPr>
              <a:pPr>
                <a:defRPr/>
              </a:pPr>
              <a:t>‹#›</a:t>
            </a:fld>
            <a:endParaRPr lang="zh-CN" altLang="en-US">
              <a:solidFill>
                <a:prstClr val="black"/>
              </a:solidFill>
            </a:endParaRPr>
          </a:p>
        </p:txBody>
      </p:sp>
    </p:spTree>
    <p:extLst>
      <p:ext uri="{BB962C8B-B14F-4D97-AF65-F5344CB8AC3E}">
        <p14:creationId xmlns:p14="http://schemas.microsoft.com/office/powerpoint/2010/main" val="168529149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6470D9B3-7B33-4394-AE3B-2354F4DBFC98}" type="datetimeFigureOut">
              <a:rPr lang="zh-CN" altLang="en-US">
                <a:solidFill>
                  <a:prstClr val="black"/>
                </a:solidFill>
              </a:rPr>
              <a:pPr>
                <a:defRPr/>
              </a:pPr>
              <a:t>2026/6/2</a:t>
            </a:fld>
            <a:endParaRPr lang="zh-CN" altLang="en-US">
              <a:solidFill>
                <a:prstClr val="black"/>
              </a:solidFill>
            </a:endParaRPr>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solidFill>
                <a:prstClr val="black"/>
              </a:solidFill>
            </a:endParaRPr>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9E9D8A0B-85E1-4A77-A118-2056434ACC27}" type="slidenum">
              <a:rPr lang="zh-CN" altLang="en-US">
                <a:solidFill>
                  <a:prstClr val="black"/>
                </a:solidFill>
              </a:rPr>
              <a:pPr>
                <a:defRPr/>
              </a:pPr>
              <a:t>‹#›</a:t>
            </a:fld>
            <a:endParaRPr lang="zh-CN" altLang="en-US">
              <a:solidFill>
                <a:prstClr val="black"/>
              </a:solidFill>
            </a:endParaRPr>
          </a:p>
        </p:txBody>
      </p:sp>
    </p:spTree>
    <p:extLst>
      <p:ext uri="{BB962C8B-B14F-4D97-AF65-F5344CB8AC3E}">
        <p14:creationId xmlns:p14="http://schemas.microsoft.com/office/powerpoint/2010/main" val="229570601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536C1D42-94CB-43E0-BCED-49E030A0DADB}" type="datetimeFigureOut">
              <a:rPr lang="zh-CN" altLang="en-US">
                <a:solidFill>
                  <a:prstClr val="black"/>
                </a:solidFill>
              </a:rPr>
              <a:pPr>
                <a:defRPr/>
              </a:pPr>
              <a:t>2026/6/2</a:t>
            </a:fld>
            <a:endParaRPr lang="zh-CN" altLang="en-US">
              <a:solidFill>
                <a:prstClr val="black"/>
              </a:solidFill>
            </a:endParaRPr>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solidFill>
                <a:prstClr val="black"/>
              </a:solidFill>
            </a:endParaRPr>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4EADC77A-F12D-4ADF-A186-3C0F971214F7}" type="slidenum">
              <a:rPr lang="zh-CN" altLang="en-US">
                <a:solidFill>
                  <a:prstClr val="black"/>
                </a:solidFill>
              </a:rPr>
              <a:pPr>
                <a:defRPr/>
              </a:pPr>
              <a:t>‹#›</a:t>
            </a:fld>
            <a:endParaRPr lang="zh-CN" altLang="en-US">
              <a:solidFill>
                <a:prstClr val="black"/>
              </a:solidFill>
            </a:endParaRPr>
          </a:p>
        </p:txBody>
      </p:sp>
    </p:spTree>
    <p:extLst>
      <p:ext uri="{BB962C8B-B14F-4D97-AF65-F5344CB8AC3E}">
        <p14:creationId xmlns:p14="http://schemas.microsoft.com/office/powerpoint/2010/main" val="32099713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9C21BA69-E2C2-46C9-9FF1-B7591C4556AF}" type="datetimeFigureOut">
              <a:rPr lang="zh-CN" altLang="en-US">
                <a:solidFill>
                  <a:prstClr val="black"/>
                </a:solidFill>
              </a:rPr>
              <a:pPr>
                <a:defRPr/>
              </a:pPr>
              <a:t>2026/6/2</a:t>
            </a:fld>
            <a:endParaRPr lang="zh-CN" altLang="en-US">
              <a:solidFill>
                <a:prstClr val="black"/>
              </a:solidFill>
            </a:endParaRPr>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solidFill>
                <a:prstClr val="black"/>
              </a:solidFill>
            </a:endParaRPr>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fld id="{CCA24087-47CA-4D7B-A608-8EB02B1F4241}" type="slidenum">
              <a:rPr lang="zh-CN" altLang="en-US">
                <a:solidFill>
                  <a:prstClr val="black"/>
                </a:solidFill>
              </a:rPr>
              <a:pPr>
                <a:defRPr/>
              </a:pPr>
              <a:t>‹#›</a:t>
            </a:fld>
            <a:endParaRPr lang="zh-CN" altLang="en-US">
              <a:solidFill>
                <a:prstClr val="black"/>
              </a:solidFill>
            </a:endParaRPr>
          </a:p>
        </p:txBody>
      </p:sp>
    </p:spTree>
    <p:extLst>
      <p:ext uri="{BB962C8B-B14F-4D97-AF65-F5344CB8AC3E}">
        <p14:creationId xmlns:p14="http://schemas.microsoft.com/office/powerpoint/2010/main" val="843361703"/>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995027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11562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9939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3205977"/>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283675"/>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Lst>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11876" name="Freeform 23"/>
          <p:cNvSpPr>
            <a:spLocks noEditPoints="1"/>
          </p:cNvSpPr>
          <p:nvPr/>
        </p:nvSpPr>
        <p:spPr bwMode="auto">
          <a:xfrm>
            <a:off x="2688522" y="540401"/>
            <a:ext cx="4065034" cy="4062762"/>
          </a:xfrm>
          <a:custGeom>
            <a:avLst/>
            <a:gdLst>
              <a:gd name="T0" fmla="*/ 649 w 755"/>
              <a:gd name="T1" fmla="*/ 221 h 754"/>
              <a:gd name="T2" fmla="*/ 644 w 755"/>
              <a:gd name="T3" fmla="*/ 215 h 754"/>
              <a:gd name="T4" fmla="*/ 585 w 755"/>
              <a:gd name="T5" fmla="*/ 86 h 754"/>
              <a:gd name="T6" fmla="*/ 544 w 755"/>
              <a:gd name="T7" fmla="*/ 38 h 754"/>
              <a:gd name="T8" fmla="*/ 566 w 755"/>
              <a:gd name="T9" fmla="*/ 85 h 754"/>
              <a:gd name="T10" fmla="*/ 485 w 755"/>
              <a:gd name="T11" fmla="*/ 79 h 754"/>
              <a:gd name="T12" fmla="*/ 377 w 755"/>
              <a:gd name="T13" fmla="*/ 0 h 754"/>
              <a:gd name="T14" fmla="*/ 297 w 755"/>
              <a:gd name="T15" fmla="*/ 7 h 754"/>
              <a:gd name="T16" fmla="*/ 173 w 755"/>
              <a:gd name="T17" fmla="*/ 84 h 754"/>
              <a:gd name="T18" fmla="*/ 170 w 755"/>
              <a:gd name="T19" fmla="*/ 85 h 754"/>
              <a:gd name="T20" fmla="*/ 157 w 755"/>
              <a:gd name="T21" fmla="*/ 130 h 754"/>
              <a:gd name="T22" fmla="*/ 104 w 755"/>
              <a:gd name="T23" fmla="*/ 221 h 754"/>
              <a:gd name="T24" fmla="*/ 1 w 755"/>
              <a:gd name="T25" fmla="*/ 377 h 754"/>
              <a:gd name="T26" fmla="*/ 88 w 755"/>
              <a:gd name="T27" fmla="*/ 411 h 754"/>
              <a:gd name="T28" fmla="*/ 38 w 755"/>
              <a:gd name="T29" fmla="*/ 540 h 754"/>
              <a:gd name="T30" fmla="*/ 168 w 755"/>
              <a:gd name="T31" fmla="*/ 662 h 754"/>
              <a:gd name="T32" fmla="*/ 169 w 755"/>
              <a:gd name="T33" fmla="*/ 670 h 754"/>
              <a:gd name="T34" fmla="*/ 188 w 755"/>
              <a:gd name="T35" fmla="*/ 669 h 754"/>
              <a:gd name="T36" fmla="*/ 298 w 755"/>
              <a:gd name="T37" fmla="*/ 748 h 754"/>
              <a:gd name="T38" fmla="*/ 377 w 755"/>
              <a:gd name="T39" fmla="*/ 674 h 754"/>
              <a:gd name="T40" fmla="*/ 480 w 755"/>
              <a:gd name="T41" fmla="*/ 671 h 754"/>
              <a:gd name="T42" fmla="*/ 490 w 755"/>
              <a:gd name="T43" fmla="*/ 672 h 754"/>
              <a:gd name="T44" fmla="*/ 541 w 755"/>
              <a:gd name="T45" fmla="*/ 719 h 754"/>
              <a:gd name="T46" fmla="*/ 631 w 755"/>
              <a:gd name="T47" fmla="*/ 661 h 754"/>
              <a:gd name="T48" fmla="*/ 643 w 755"/>
              <a:gd name="T49" fmla="*/ 538 h 754"/>
              <a:gd name="T50" fmla="*/ 650 w 755"/>
              <a:gd name="T51" fmla="*/ 533 h 754"/>
              <a:gd name="T52" fmla="*/ 755 w 755"/>
              <a:gd name="T53" fmla="*/ 377 h 754"/>
              <a:gd name="T54" fmla="*/ 504 w 755"/>
              <a:gd name="T55" fmla="*/ 373 h 754"/>
              <a:gd name="T56" fmla="*/ 645 w 755"/>
              <a:gd name="T57" fmla="*/ 225 h 754"/>
              <a:gd name="T58" fmla="*/ 383 w 755"/>
              <a:gd name="T59" fmla="*/ 502 h 754"/>
              <a:gd name="T60" fmla="*/ 504 w 755"/>
              <a:gd name="T61" fmla="*/ 383 h 754"/>
              <a:gd name="T62" fmla="*/ 256 w 755"/>
              <a:gd name="T63" fmla="*/ 378 h 754"/>
              <a:gd name="T64" fmla="*/ 266 w 755"/>
              <a:gd name="T65" fmla="*/ 510 h 754"/>
              <a:gd name="T66" fmla="*/ 377 w 755"/>
              <a:gd name="T67" fmla="*/ 257 h 754"/>
              <a:gd name="T68" fmla="*/ 256 w 755"/>
              <a:gd name="T69" fmla="*/ 243 h 754"/>
              <a:gd name="T70" fmla="*/ 489 w 755"/>
              <a:gd name="T71" fmla="*/ 245 h 754"/>
              <a:gd name="T72" fmla="*/ 564 w 755"/>
              <a:gd name="T73" fmla="*/ 86 h 754"/>
              <a:gd name="T74" fmla="*/ 639 w 755"/>
              <a:gd name="T75" fmla="*/ 220 h 754"/>
              <a:gd name="T76" fmla="*/ 491 w 755"/>
              <a:gd name="T77" fmla="*/ 85 h 754"/>
              <a:gd name="T78" fmla="*/ 503 w 755"/>
              <a:gd name="T79" fmla="*/ 238 h 754"/>
              <a:gd name="T80" fmla="*/ 378 w 755"/>
              <a:gd name="T81" fmla="*/ 90 h 754"/>
              <a:gd name="T82" fmla="*/ 377 w 755"/>
              <a:gd name="T83" fmla="*/ 90 h 754"/>
              <a:gd name="T84" fmla="*/ 268 w 755"/>
              <a:gd name="T85" fmla="*/ 89 h 754"/>
              <a:gd name="T86" fmla="*/ 173 w 755"/>
              <a:gd name="T87" fmla="*/ 95 h 754"/>
              <a:gd name="T88" fmla="*/ 251 w 755"/>
              <a:gd name="T89" fmla="*/ 238 h 754"/>
              <a:gd name="T90" fmla="*/ 114 w 755"/>
              <a:gd name="T91" fmla="*/ 217 h 754"/>
              <a:gd name="T92" fmla="*/ 245 w 755"/>
              <a:gd name="T93" fmla="*/ 243 h 754"/>
              <a:gd name="T94" fmla="*/ 86 w 755"/>
              <a:gd name="T95" fmla="*/ 377 h 754"/>
              <a:gd name="T96" fmla="*/ 246 w 755"/>
              <a:gd name="T97" fmla="*/ 378 h 754"/>
              <a:gd name="T98" fmla="*/ 110 w 755"/>
              <a:gd name="T99" fmla="*/ 528 h 754"/>
              <a:gd name="T100" fmla="*/ 169 w 755"/>
              <a:gd name="T101" fmla="*/ 661 h 754"/>
              <a:gd name="T102" fmla="*/ 251 w 755"/>
              <a:gd name="T103" fmla="*/ 518 h 754"/>
              <a:gd name="T104" fmla="*/ 268 w 755"/>
              <a:gd name="T105" fmla="*/ 666 h 754"/>
              <a:gd name="T106" fmla="*/ 373 w 755"/>
              <a:gd name="T107" fmla="*/ 503 h 754"/>
              <a:gd name="T108" fmla="*/ 475 w 755"/>
              <a:gd name="T109" fmla="*/ 670 h 754"/>
              <a:gd name="T110" fmla="*/ 458 w 755"/>
              <a:gd name="T111" fmla="*/ 507 h 754"/>
              <a:gd name="T112" fmla="*/ 480 w 755"/>
              <a:gd name="T113" fmla="*/ 670 h 754"/>
              <a:gd name="T114" fmla="*/ 490 w 755"/>
              <a:gd name="T115" fmla="*/ 670 h 754"/>
              <a:gd name="T116" fmla="*/ 639 w 755"/>
              <a:gd name="T117" fmla="*/ 533 h 754"/>
              <a:gd name="T118" fmla="*/ 639 w 755"/>
              <a:gd name="T119" fmla="*/ 532 h 754"/>
              <a:gd name="T120" fmla="*/ 508 w 755"/>
              <a:gd name="T121" fmla="*/ 378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55" h="754">
                <a:moveTo>
                  <a:pt x="755" y="377"/>
                </a:moveTo>
                <a:cubicBezTo>
                  <a:pt x="727" y="377"/>
                  <a:pt x="702" y="377"/>
                  <a:pt x="679" y="377"/>
                </a:cubicBezTo>
                <a:cubicBezTo>
                  <a:pt x="679" y="374"/>
                  <a:pt x="677" y="372"/>
                  <a:pt x="675" y="372"/>
                </a:cubicBezTo>
                <a:cubicBezTo>
                  <a:pt x="672" y="363"/>
                  <a:pt x="670" y="353"/>
                  <a:pt x="667" y="344"/>
                </a:cubicBezTo>
                <a:cubicBezTo>
                  <a:pt x="657" y="305"/>
                  <a:pt x="650" y="266"/>
                  <a:pt x="646" y="225"/>
                </a:cubicBezTo>
                <a:cubicBezTo>
                  <a:pt x="648" y="224"/>
                  <a:pt x="649" y="223"/>
                  <a:pt x="649" y="221"/>
                </a:cubicBezTo>
                <a:cubicBezTo>
                  <a:pt x="653" y="220"/>
                  <a:pt x="658" y="220"/>
                  <a:pt x="662" y="220"/>
                </a:cubicBezTo>
                <a:cubicBezTo>
                  <a:pt x="679" y="218"/>
                  <a:pt x="698" y="217"/>
                  <a:pt x="717" y="215"/>
                </a:cubicBezTo>
                <a:cubicBezTo>
                  <a:pt x="717" y="214"/>
                  <a:pt x="717" y="214"/>
                  <a:pt x="717" y="214"/>
                </a:cubicBezTo>
                <a:cubicBezTo>
                  <a:pt x="703" y="215"/>
                  <a:pt x="690" y="217"/>
                  <a:pt x="677" y="218"/>
                </a:cubicBezTo>
                <a:cubicBezTo>
                  <a:pt x="668" y="218"/>
                  <a:pt x="658" y="219"/>
                  <a:pt x="649" y="220"/>
                </a:cubicBezTo>
                <a:cubicBezTo>
                  <a:pt x="649" y="217"/>
                  <a:pt x="647" y="215"/>
                  <a:pt x="644" y="215"/>
                </a:cubicBezTo>
                <a:cubicBezTo>
                  <a:pt x="644" y="215"/>
                  <a:pt x="643" y="215"/>
                  <a:pt x="642" y="216"/>
                </a:cubicBezTo>
                <a:cubicBezTo>
                  <a:pt x="630" y="199"/>
                  <a:pt x="619" y="181"/>
                  <a:pt x="611" y="162"/>
                </a:cubicBezTo>
                <a:cubicBezTo>
                  <a:pt x="601" y="141"/>
                  <a:pt x="593" y="117"/>
                  <a:pt x="586" y="90"/>
                </a:cubicBezTo>
                <a:cubicBezTo>
                  <a:pt x="586" y="90"/>
                  <a:pt x="586" y="90"/>
                  <a:pt x="586" y="90"/>
                </a:cubicBezTo>
                <a:cubicBezTo>
                  <a:pt x="586" y="89"/>
                  <a:pt x="586" y="88"/>
                  <a:pt x="586" y="87"/>
                </a:cubicBezTo>
                <a:cubicBezTo>
                  <a:pt x="586" y="87"/>
                  <a:pt x="585" y="86"/>
                  <a:pt x="585" y="86"/>
                </a:cubicBezTo>
                <a:cubicBezTo>
                  <a:pt x="600" y="89"/>
                  <a:pt x="615" y="91"/>
                  <a:pt x="631" y="93"/>
                </a:cubicBezTo>
                <a:cubicBezTo>
                  <a:pt x="629" y="92"/>
                  <a:pt x="629" y="92"/>
                  <a:pt x="629" y="92"/>
                </a:cubicBezTo>
                <a:cubicBezTo>
                  <a:pt x="613" y="90"/>
                  <a:pt x="599" y="88"/>
                  <a:pt x="585" y="85"/>
                </a:cubicBezTo>
                <a:cubicBezTo>
                  <a:pt x="585" y="85"/>
                  <a:pt x="585" y="85"/>
                  <a:pt x="585" y="85"/>
                </a:cubicBezTo>
                <a:cubicBezTo>
                  <a:pt x="585" y="85"/>
                  <a:pt x="585" y="85"/>
                  <a:pt x="585" y="85"/>
                </a:cubicBezTo>
                <a:cubicBezTo>
                  <a:pt x="571" y="71"/>
                  <a:pt x="558" y="56"/>
                  <a:pt x="544" y="38"/>
                </a:cubicBezTo>
                <a:cubicBezTo>
                  <a:pt x="541" y="36"/>
                  <a:pt x="541" y="36"/>
                  <a:pt x="541" y="36"/>
                </a:cubicBezTo>
                <a:cubicBezTo>
                  <a:pt x="555" y="54"/>
                  <a:pt x="569" y="71"/>
                  <a:pt x="583" y="85"/>
                </a:cubicBezTo>
                <a:cubicBezTo>
                  <a:pt x="583" y="85"/>
                  <a:pt x="583" y="85"/>
                  <a:pt x="583" y="85"/>
                </a:cubicBezTo>
                <a:cubicBezTo>
                  <a:pt x="582" y="84"/>
                  <a:pt x="582" y="84"/>
                  <a:pt x="581" y="84"/>
                </a:cubicBezTo>
                <a:cubicBezTo>
                  <a:pt x="580" y="84"/>
                  <a:pt x="580" y="84"/>
                  <a:pt x="579" y="85"/>
                </a:cubicBezTo>
                <a:cubicBezTo>
                  <a:pt x="574" y="85"/>
                  <a:pt x="570" y="85"/>
                  <a:pt x="566" y="85"/>
                </a:cubicBezTo>
                <a:cubicBezTo>
                  <a:pt x="539" y="85"/>
                  <a:pt x="515" y="85"/>
                  <a:pt x="490" y="83"/>
                </a:cubicBezTo>
                <a:cubicBezTo>
                  <a:pt x="490" y="81"/>
                  <a:pt x="488" y="79"/>
                  <a:pt x="486" y="79"/>
                </a:cubicBezTo>
                <a:cubicBezTo>
                  <a:pt x="477" y="58"/>
                  <a:pt x="468" y="33"/>
                  <a:pt x="459" y="7"/>
                </a:cubicBezTo>
                <a:cubicBezTo>
                  <a:pt x="457" y="6"/>
                  <a:pt x="457" y="6"/>
                  <a:pt x="457" y="6"/>
                </a:cubicBezTo>
                <a:cubicBezTo>
                  <a:pt x="461" y="16"/>
                  <a:pt x="464" y="24"/>
                  <a:pt x="467" y="33"/>
                </a:cubicBezTo>
                <a:cubicBezTo>
                  <a:pt x="473" y="49"/>
                  <a:pt x="479" y="65"/>
                  <a:pt x="485" y="79"/>
                </a:cubicBezTo>
                <a:cubicBezTo>
                  <a:pt x="483" y="79"/>
                  <a:pt x="481" y="81"/>
                  <a:pt x="480" y="83"/>
                </a:cubicBezTo>
                <a:cubicBezTo>
                  <a:pt x="447" y="84"/>
                  <a:pt x="415" y="84"/>
                  <a:pt x="383" y="83"/>
                </a:cubicBezTo>
                <a:cubicBezTo>
                  <a:pt x="382" y="81"/>
                  <a:pt x="380" y="80"/>
                  <a:pt x="378" y="80"/>
                </a:cubicBezTo>
                <a:cubicBezTo>
                  <a:pt x="378" y="55"/>
                  <a:pt x="378" y="29"/>
                  <a:pt x="378" y="0"/>
                </a:cubicBezTo>
                <a:cubicBezTo>
                  <a:pt x="378" y="0"/>
                  <a:pt x="378" y="0"/>
                  <a:pt x="378" y="0"/>
                </a:cubicBezTo>
                <a:cubicBezTo>
                  <a:pt x="377" y="0"/>
                  <a:pt x="377" y="0"/>
                  <a:pt x="377" y="0"/>
                </a:cubicBezTo>
                <a:cubicBezTo>
                  <a:pt x="377" y="29"/>
                  <a:pt x="377" y="55"/>
                  <a:pt x="377" y="80"/>
                </a:cubicBezTo>
                <a:cubicBezTo>
                  <a:pt x="375" y="80"/>
                  <a:pt x="373" y="81"/>
                  <a:pt x="373" y="83"/>
                </a:cubicBezTo>
                <a:cubicBezTo>
                  <a:pt x="340" y="84"/>
                  <a:pt x="307" y="84"/>
                  <a:pt x="273" y="83"/>
                </a:cubicBezTo>
                <a:cubicBezTo>
                  <a:pt x="273" y="81"/>
                  <a:pt x="272" y="80"/>
                  <a:pt x="270" y="79"/>
                </a:cubicBezTo>
                <a:cubicBezTo>
                  <a:pt x="279" y="58"/>
                  <a:pt x="288" y="33"/>
                  <a:pt x="298" y="6"/>
                </a:cubicBezTo>
                <a:cubicBezTo>
                  <a:pt x="297" y="7"/>
                  <a:pt x="297" y="7"/>
                  <a:pt x="297" y="7"/>
                </a:cubicBezTo>
                <a:cubicBezTo>
                  <a:pt x="287" y="33"/>
                  <a:pt x="278" y="58"/>
                  <a:pt x="269" y="79"/>
                </a:cubicBezTo>
                <a:cubicBezTo>
                  <a:pt x="269" y="79"/>
                  <a:pt x="269" y="79"/>
                  <a:pt x="268" y="79"/>
                </a:cubicBezTo>
                <a:cubicBezTo>
                  <a:pt x="266" y="79"/>
                  <a:pt x="264" y="81"/>
                  <a:pt x="263" y="83"/>
                </a:cubicBezTo>
                <a:cubicBezTo>
                  <a:pt x="237" y="85"/>
                  <a:pt x="211" y="86"/>
                  <a:pt x="182" y="85"/>
                </a:cubicBezTo>
                <a:cubicBezTo>
                  <a:pt x="180" y="85"/>
                  <a:pt x="177" y="85"/>
                  <a:pt x="175" y="85"/>
                </a:cubicBezTo>
                <a:cubicBezTo>
                  <a:pt x="174" y="84"/>
                  <a:pt x="174" y="84"/>
                  <a:pt x="173" y="84"/>
                </a:cubicBezTo>
                <a:cubicBezTo>
                  <a:pt x="173" y="84"/>
                  <a:pt x="173" y="84"/>
                  <a:pt x="172" y="84"/>
                </a:cubicBezTo>
                <a:cubicBezTo>
                  <a:pt x="187" y="70"/>
                  <a:pt x="200" y="54"/>
                  <a:pt x="214" y="36"/>
                </a:cubicBezTo>
                <a:cubicBezTo>
                  <a:pt x="211" y="38"/>
                  <a:pt x="211" y="38"/>
                  <a:pt x="211" y="38"/>
                </a:cubicBezTo>
                <a:cubicBezTo>
                  <a:pt x="198" y="56"/>
                  <a:pt x="184" y="71"/>
                  <a:pt x="170" y="85"/>
                </a:cubicBezTo>
                <a:cubicBezTo>
                  <a:pt x="170" y="85"/>
                  <a:pt x="170" y="85"/>
                  <a:pt x="170" y="85"/>
                </a:cubicBezTo>
                <a:cubicBezTo>
                  <a:pt x="170" y="85"/>
                  <a:pt x="170" y="85"/>
                  <a:pt x="170" y="85"/>
                </a:cubicBezTo>
                <a:cubicBezTo>
                  <a:pt x="156" y="88"/>
                  <a:pt x="142" y="90"/>
                  <a:pt x="126" y="92"/>
                </a:cubicBezTo>
                <a:cubicBezTo>
                  <a:pt x="124" y="93"/>
                  <a:pt x="124" y="93"/>
                  <a:pt x="124" y="93"/>
                </a:cubicBezTo>
                <a:cubicBezTo>
                  <a:pt x="140" y="91"/>
                  <a:pt x="155" y="89"/>
                  <a:pt x="169" y="86"/>
                </a:cubicBezTo>
                <a:cubicBezTo>
                  <a:pt x="168" y="87"/>
                  <a:pt x="168" y="88"/>
                  <a:pt x="168" y="90"/>
                </a:cubicBezTo>
                <a:cubicBezTo>
                  <a:pt x="168" y="90"/>
                  <a:pt x="168" y="91"/>
                  <a:pt x="168" y="92"/>
                </a:cubicBezTo>
                <a:cubicBezTo>
                  <a:pt x="165" y="106"/>
                  <a:pt x="161" y="118"/>
                  <a:pt x="157" y="130"/>
                </a:cubicBezTo>
                <a:cubicBezTo>
                  <a:pt x="146" y="163"/>
                  <a:pt x="132" y="190"/>
                  <a:pt x="113" y="216"/>
                </a:cubicBezTo>
                <a:cubicBezTo>
                  <a:pt x="112" y="215"/>
                  <a:pt x="111" y="215"/>
                  <a:pt x="110" y="215"/>
                </a:cubicBezTo>
                <a:cubicBezTo>
                  <a:pt x="107" y="215"/>
                  <a:pt x="105" y="217"/>
                  <a:pt x="104" y="220"/>
                </a:cubicBezTo>
                <a:cubicBezTo>
                  <a:pt x="84" y="218"/>
                  <a:pt x="62" y="216"/>
                  <a:pt x="38" y="214"/>
                </a:cubicBezTo>
                <a:cubicBezTo>
                  <a:pt x="38" y="215"/>
                  <a:pt x="38" y="215"/>
                  <a:pt x="38" y="215"/>
                </a:cubicBezTo>
                <a:cubicBezTo>
                  <a:pt x="62" y="217"/>
                  <a:pt x="84" y="219"/>
                  <a:pt x="104" y="221"/>
                </a:cubicBezTo>
                <a:cubicBezTo>
                  <a:pt x="105" y="223"/>
                  <a:pt x="107" y="225"/>
                  <a:pt x="109" y="225"/>
                </a:cubicBezTo>
                <a:cubicBezTo>
                  <a:pt x="107" y="249"/>
                  <a:pt x="104" y="272"/>
                  <a:pt x="99" y="294"/>
                </a:cubicBezTo>
                <a:cubicBezTo>
                  <a:pt x="94" y="320"/>
                  <a:pt x="88" y="345"/>
                  <a:pt x="81" y="372"/>
                </a:cubicBezTo>
                <a:cubicBezTo>
                  <a:pt x="81" y="372"/>
                  <a:pt x="81" y="372"/>
                  <a:pt x="81" y="372"/>
                </a:cubicBezTo>
                <a:cubicBezTo>
                  <a:pt x="78" y="372"/>
                  <a:pt x="75" y="374"/>
                  <a:pt x="75" y="377"/>
                </a:cubicBezTo>
                <a:cubicBezTo>
                  <a:pt x="52" y="377"/>
                  <a:pt x="28" y="377"/>
                  <a:pt x="1" y="377"/>
                </a:cubicBezTo>
                <a:cubicBezTo>
                  <a:pt x="0" y="377"/>
                  <a:pt x="0" y="377"/>
                  <a:pt x="0" y="377"/>
                </a:cubicBezTo>
                <a:cubicBezTo>
                  <a:pt x="0" y="377"/>
                  <a:pt x="0" y="377"/>
                  <a:pt x="0" y="377"/>
                </a:cubicBezTo>
                <a:cubicBezTo>
                  <a:pt x="1" y="378"/>
                  <a:pt x="1" y="378"/>
                  <a:pt x="1" y="378"/>
                </a:cubicBezTo>
                <a:cubicBezTo>
                  <a:pt x="28" y="378"/>
                  <a:pt x="52" y="378"/>
                  <a:pt x="75" y="378"/>
                </a:cubicBezTo>
                <a:cubicBezTo>
                  <a:pt x="76" y="380"/>
                  <a:pt x="78" y="382"/>
                  <a:pt x="80" y="382"/>
                </a:cubicBezTo>
                <a:cubicBezTo>
                  <a:pt x="83" y="392"/>
                  <a:pt x="86" y="401"/>
                  <a:pt x="88" y="411"/>
                </a:cubicBezTo>
                <a:cubicBezTo>
                  <a:pt x="98" y="450"/>
                  <a:pt x="105" y="487"/>
                  <a:pt x="109" y="528"/>
                </a:cubicBezTo>
                <a:cubicBezTo>
                  <a:pt x="106" y="528"/>
                  <a:pt x="104" y="531"/>
                  <a:pt x="104" y="533"/>
                </a:cubicBezTo>
                <a:cubicBezTo>
                  <a:pt x="104" y="534"/>
                  <a:pt x="104" y="534"/>
                  <a:pt x="104" y="534"/>
                </a:cubicBezTo>
                <a:cubicBezTo>
                  <a:pt x="101" y="534"/>
                  <a:pt x="97" y="534"/>
                  <a:pt x="93" y="535"/>
                </a:cubicBezTo>
                <a:cubicBezTo>
                  <a:pt x="76" y="536"/>
                  <a:pt x="58" y="538"/>
                  <a:pt x="38" y="540"/>
                </a:cubicBezTo>
                <a:cubicBezTo>
                  <a:pt x="38" y="540"/>
                  <a:pt x="38" y="540"/>
                  <a:pt x="38" y="540"/>
                </a:cubicBezTo>
                <a:cubicBezTo>
                  <a:pt x="52" y="539"/>
                  <a:pt x="65" y="538"/>
                  <a:pt x="78" y="537"/>
                </a:cubicBezTo>
                <a:cubicBezTo>
                  <a:pt x="87" y="536"/>
                  <a:pt x="96" y="535"/>
                  <a:pt x="104" y="535"/>
                </a:cubicBezTo>
                <a:cubicBezTo>
                  <a:pt x="105" y="537"/>
                  <a:pt x="107" y="539"/>
                  <a:pt x="109" y="539"/>
                </a:cubicBezTo>
                <a:cubicBezTo>
                  <a:pt x="110" y="539"/>
                  <a:pt x="111" y="538"/>
                  <a:pt x="112" y="538"/>
                </a:cubicBezTo>
                <a:cubicBezTo>
                  <a:pt x="125" y="555"/>
                  <a:pt x="135" y="573"/>
                  <a:pt x="145" y="592"/>
                </a:cubicBezTo>
                <a:cubicBezTo>
                  <a:pt x="154" y="613"/>
                  <a:pt x="162" y="635"/>
                  <a:pt x="168" y="662"/>
                </a:cubicBezTo>
                <a:cubicBezTo>
                  <a:pt x="167" y="663"/>
                  <a:pt x="167" y="664"/>
                  <a:pt x="167" y="666"/>
                </a:cubicBezTo>
                <a:cubicBezTo>
                  <a:pt x="167" y="666"/>
                  <a:pt x="167" y="667"/>
                  <a:pt x="167" y="668"/>
                </a:cubicBezTo>
                <a:cubicBezTo>
                  <a:pt x="154" y="665"/>
                  <a:pt x="139" y="663"/>
                  <a:pt x="124" y="661"/>
                </a:cubicBezTo>
                <a:cubicBezTo>
                  <a:pt x="126" y="663"/>
                  <a:pt x="126" y="663"/>
                  <a:pt x="126" y="663"/>
                </a:cubicBezTo>
                <a:cubicBezTo>
                  <a:pt x="132" y="663"/>
                  <a:pt x="137" y="664"/>
                  <a:pt x="142" y="665"/>
                </a:cubicBezTo>
                <a:cubicBezTo>
                  <a:pt x="151" y="666"/>
                  <a:pt x="160" y="668"/>
                  <a:pt x="169" y="670"/>
                </a:cubicBezTo>
                <a:cubicBezTo>
                  <a:pt x="169" y="670"/>
                  <a:pt x="170" y="670"/>
                  <a:pt x="171" y="671"/>
                </a:cubicBezTo>
                <a:cubicBezTo>
                  <a:pt x="185" y="684"/>
                  <a:pt x="198" y="699"/>
                  <a:pt x="211" y="717"/>
                </a:cubicBezTo>
                <a:cubicBezTo>
                  <a:pt x="214" y="719"/>
                  <a:pt x="214" y="719"/>
                  <a:pt x="214" y="719"/>
                </a:cubicBezTo>
                <a:cubicBezTo>
                  <a:pt x="201" y="700"/>
                  <a:pt x="187" y="684"/>
                  <a:pt x="173" y="671"/>
                </a:cubicBezTo>
                <a:cubicBezTo>
                  <a:pt x="173" y="670"/>
                  <a:pt x="174" y="670"/>
                  <a:pt x="175" y="670"/>
                </a:cubicBezTo>
                <a:cubicBezTo>
                  <a:pt x="179" y="670"/>
                  <a:pt x="184" y="670"/>
                  <a:pt x="188" y="669"/>
                </a:cubicBezTo>
                <a:cubicBezTo>
                  <a:pt x="215" y="669"/>
                  <a:pt x="239" y="670"/>
                  <a:pt x="264" y="671"/>
                </a:cubicBezTo>
                <a:cubicBezTo>
                  <a:pt x="264" y="671"/>
                  <a:pt x="264" y="671"/>
                  <a:pt x="264" y="672"/>
                </a:cubicBezTo>
                <a:cubicBezTo>
                  <a:pt x="264" y="674"/>
                  <a:pt x="266" y="677"/>
                  <a:pt x="269" y="677"/>
                </a:cubicBezTo>
                <a:cubicBezTo>
                  <a:pt x="269" y="677"/>
                  <a:pt x="269" y="677"/>
                  <a:pt x="270" y="677"/>
                </a:cubicBezTo>
                <a:cubicBezTo>
                  <a:pt x="278" y="698"/>
                  <a:pt x="287" y="722"/>
                  <a:pt x="297" y="748"/>
                </a:cubicBezTo>
                <a:cubicBezTo>
                  <a:pt x="298" y="748"/>
                  <a:pt x="298" y="748"/>
                  <a:pt x="298" y="748"/>
                </a:cubicBezTo>
                <a:cubicBezTo>
                  <a:pt x="294" y="739"/>
                  <a:pt x="291" y="730"/>
                  <a:pt x="288" y="722"/>
                </a:cubicBezTo>
                <a:cubicBezTo>
                  <a:pt x="282" y="706"/>
                  <a:pt x="276" y="690"/>
                  <a:pt x="271" y="676"/>
                </a:cubicBezTo>
                <a:cubicBezTo>
                  <a:pt x="273" y="676"/>
                  <a:pt x="274" y="674"/>
                  <a:pt x="274" y="672"/>
                </a:cubicBezTo>
                <a:cubicBezTo>
                  <a:pt x="274" y="671"/>
                  <a:pt x="274" y="671"/>
                  <a:pt x="274" y="671"/>
                </a:cubicBezTo>
                <a:cubicBezTo>
                  <a:pt x="308" y="670"/>
                  <a:pt x="341" y="670"/>
                  <a:pt x="373" y="672"/>
                </a:cubicBezTo>
                <a:cubicBezTo>
                  <a:pt x="374" y="673"/>
                  <a:pt x="376" y="674"/>
                  <a:pt x="377" y="674"/>
                </a:cubicBezTo>
                <a:cubicBezTo>
                  <a:pt x="377" y="699"/>
                  <a:pt x="377" y="725"/>
                  <a:pt x="377" y="754"/>
                </a:cubicBezTo>
                <a:cubicBezTo>
                  <a:pt x="377" y="754"/>
                  <a:pt x="377" y="754"/>
                  <a:pt x="377" y="754"/>
                </a:cubicBezTo>
                <a:cubicBezTo>
                  <a:pt x="378" y="754"/>
                  <a:pt x="378" y="754"/>
                  <a:pt x="378" y="754"/>
                </a:cubicBezTo>
                <a:cubicBezTo>
                  <a:pt x="378" y="725"/>
                  <a:pt x="378" y="699"/>
                  <a:pt x="378" y="674"/>
                </a:cubicBezTo>
                <a:cubicBezTo>
                  <a:pt x="380" y="674"/>
                  <a:pt x="381" y="673"/>
                  <a:pt x="382" y="672"/>
                </a:cubicBezTo>
                <a:cubicBezTo>
                  <a:pt x="414" y="670"/>
                  <a:pt x="446" y="670"/>
                  <a:pt x="480" y="671"/>
                </a:cubicBezTo>
                <a:cubicBezTo>
                  <a:pt x="480" y="671"/>
                  <a:pt x="480" y="671"/>
                  <a:pt x="480" y="672"/>
                </a:cubicBezTo>
                <a:cubicBezTo>
                  <a:pt x="480" y="674"/>
                  <a:pt x="482" y="676"/>
                  <a:pt x="484" y="677"/>
                </a:cubicBezTo>
                <a:cubicBezTo>
                  <a:pt x="476" y="698"/>
                  <a:pt x="467" y="722"/>
                  <a:pt x="457" y="748"/>
                </a:cubicBezTo>
                <a:cubicBezTo>
                  <a:pt x="459" y="748"/>
                  <a:pt x="459" y="748"/>
                  <a:pt x="459" y="748"/>
                </a:cubicBezTo>
                <a:cubicBezTo>
                  <a:pt x="468" y="722"/>
                  <a:pt x="477" y="698"/>
                  <a:pt x="485" y="677"/>
                </a:cubicBezTo>
                <a:cubicBezTo>
                  <a:pt x="488" y="676"/>
                  <a:pt x="490" y="674"/>
                  <a:pt x="490" y="672"/>
                </a:cubicBezTo>
                <a:cubicBezTo>
                  <a:pt x="490" y="671"/>
                  <a:pt x="490" y="671"/>
                  <a:pt x="490" y="671"/>
                </a:cubicBezTo>
                <a:cubicBezTo>
                  <a:pt x="517" y="670"/>
                  <a:pt x="545" y="669"/>
                  <a:pt x="574" y="670"/>
                </a:cubicBezTo>
                <a:cubicBezTo>
                  <a:pt x="576" y="670"/>
                  <a:pt x="577" y="670"/>
                  <a:pt x="579" y="670"/>
                </a:cubicBezTo>
                <a:cubicBezTo>
                  <a:pt x="580" y="670"/>
                  <a:pt x="581" y="671"/>
                  <a:pt x="582" y="671"/>
                </a:cubicBezTo>
                <a:cubicBezTo>
                  <a:pt x="582" y="671"/>
                  <a:pt x="582" y="671"/>
                  <a:pt x="582" y="671"/>
                </a:cubicBezTo>
                <a:cubicBezTo>
                  <a:pt x="568" y="685"/>
                  <a:pt x="555" y="700"/>
                  <a:pt x="541" y="719"/>
                </a:cubicBezTo>
                <a:cubicBezTo>
                  <a:pt x="544" y="717"/>
                  <a:pt x="544" y="717"/>
                  <a:pt x="544" y="717"/>
                </a:cubicBezTo>
                <a:cubicBezTo>
                  <a:pt x="558" y="699"/>
                  <a:pt x="571" y="683"/>
                  <a:pt x="585" y="670"/>
                </a:cubicBezTo>
                <a:cubicBezTo>
                  <a:pt x="585" y="670"/>
                  <a:pt x="585" y="670"/>
                  <a:pt x="585" y="670"/>
                </a:cubicBezTo>
                <a:cubicBezTo>
                  <a:pt x="585" y="670"/>
                  <a:pt x="585" y="670"/>
                  <a:pt x="585" y="670"/>
                </a:cubicBezTo>
                <a:cubicBezTo>
                  <a:pt x="599" y="667"/>
                  <a:pt x="614" y="665"/>
                  <a:pt x="629" y="663"/>
                </a:cubicBezTo>
                <a:cubicBezTo>
                  <a:pt x="631" y="661"/>
                  <a:pt x="631" y="661"/>
                  <a:pt x="631" y="661"/>
                </a:cubicBezTo>
                <a:cubicBezTo>
                  <a:pt x="627" y="662"/>
                  <a:pt x="623" y="662"/>
                  <a:pt x="618" y="663"/>
                </a:cubicBezTo>
                <a:cubicBezTo>
                  <a:pt x="607" y="664"/>
                  <a:pt x="597" y="666"/>
                  <a:pt x="586" y="668"/>
                </a:cubicBezTo>
                <a:cubicBezTo>
                  <a:pt x="587" y="667"/>
                  <a:pt x="587" y="667"/>
                  <a:pt x="587" y="666"/>
                </a:cubicBezTo>
                <a:cubicBezTo>
                  <a:pt x="587" y="665"/>
                  <a:pt x="587" y="664"/>
                  <a:pt x="587" y="663"/>
                </a:cubicBezTo>
                <a:cubicBezTo>
                  <a:pt x="590" y="649"/>
                  <a:pt x="594" y="636"/>
                  <a:pt x="598" y="624"/>
                </a:cubicBezTo>
                <a:cubicBezTo>
                  <a:pt x="609" y="591"/>
                  <a:pt x="624" y="564"/>
                  <a:pt x="643" y="538"/>
                </a:cubicBezTo>
                <a:cubicBezTo>
                  <a:pt x="643" y="538"/>
                  <a:pt x="644" y="539"/>
                  <a:pt x="645" y="539"/>
                </a:cubicBezTo>
                <a:cubicBezTo>
                  <a:pt x="647" y="539"/>
                  <a:pt x="649" y="537"/>
                  <a:pt x="650" y="535"/>
                </a:cubicBezTo>
                <a:cubicBezTo>
                  <a:pt x="670" y="536"/>
                  <a:pt x="692" y="538"/>
                  <a:pt x="717" y="540"/>
                </a:cubicBezTo>
                <a:cubicBezTo>
                  <a:pt x="717" y="540"/>
                  <a:pt x="717" y="540"/>
                  <a:pt x="717" y="540"/>
                </a:cubicBezTo>
                <a:cubicBezTo>
                  <a:pt x="693" y="537"/>
                  <a:pt x="670" y="535"/>
                  <a:pt x="650" y="534"/>
                </a:cubicBezTo>
                <a:cubicBezTo>
                  <a:pt x="650" y="534"/>
                  <a:pt x="650" y="534"/>
                  <a:pt x="650" y="533"/>
                </a:cubicBezTo>
                <a:cubicBezTo>
                  <a:pt x="650" y="531"/>
                  <a:pt x="648" y="529"/>
                  <a:pt x="646" y="528"/>
                </a:cubicBezTo>
                <a:cubicBezTo>
                  <a:pt x="648" y="505"/>
                  <a:pt x="652" y="483"/>
                  <a:pt x="656" y="460"/>
                </a:cubicBezTo>
                <a:cubicBezTo>
                  <a:pt x="661" y="434"/>
                  <a:pt x="667" y="408"/>
                  <a:pt x="675" y="382"/>
                </a:cubicBezTo>
                <a:cubicBezTo>
                  <a:pt x="677" y="381"/>
                  <a:pt x="678" y="380"/>
                  <a:pt x="678" y="378"/>
                </a:cubicBezTo>
                <a:cubicBezTo>
                  <a:pt x="702" y="378"/>
                  <a:pt x="727" y="378"/>
                  <a:pt x="755" y="378"/>
                </a:cubicBezTo>
                <a:cubicBezTo>
                  <a:pt x="755" y="377"/>
                  <a:pt x="755" y="377"/>
                  <a:pt x="755" y="377"/>
                </a:cubicBezTo>
                <a:cubicBezTo>
                  <a:pt x="755" y="377"/>
                  <a:pt x="755" y="377"/>
                  <a:pt x="755" y="377"/>
                </a:cubicBezTo>
                <a:close/>
                <a:moveTo>
                  <a:pt x="673" y="372"/>
                </a:moveTo>
                <a:cubicBezTo>
                  <a:pt x="670" y="372"/>
                  <a:pt x="668" y="374"/>
                  <a:pt x="668" y="377"/>
                </a:cubicBezTo>
                <a:cubicBezTo>
                  <a:pt x="668" y="377"/>
                  <a:pt x="668" y="377"/>
                  <a:pt x="668" y="377"/>
                </a:cubicBezTo>
                <a:cubicBezTo>
                  <a:pt x="599" y="377"/>
                  <a:pt x="548" y="377"/>
                  <a:pt x="508" y="377"/>
                </a:cubicBezTo>
                <a:cubicBezTo>
                  <a:pt x="508" y="375"/>
                  <a:pt x="506" y="373"/>
                  <a:pt x="504" y="373"/>
                </a:cubicBezTo>
                <a:cubicBezTo>
                  <a:pt x="500" y="335"/>
                  <a:pt x="500" y="297"/>
                  <a:pt x="504" y="248"/>
                </a:cubicBezTo>
                <a:cubicBezTo>
                  <a:pt x="507" y="247"/>
                  <a:pt x="509" y="245"/>
                  <a:pt x="509" y="243"/>
                </a:cubicBezTo>
                <a:cubicBezTo>
                  <a:pt x="509" y="243"/>
                  <a:pt x="509" y="242"/>
                  <a:pt x="509" y="242"/>
                </a:cubicBezTo>
                <a:cubicBezTo>
                  <a:pt x="544" y="238"/>
                  <a:pt x="586" y="231"/>
                  <a:pt x="639" y="222"/>
                </a:cubicBezTo>
                <a:cubicBezTo>
                  <a:pt x="640" y="224"/>
                  <a:pt x="642" y="226"/>
                  <a:pt x="644" y="226"/>
                </a:cubicBezTo>
                <a:cubicBezTo>
                  <a:pt x="645" y="226"/>
                  <a:pt x="645" y="225"/>
                  <a:pt x="645" y="225"/>
                </a:cubicBezTo>
                <a:cubicBezTo>
                  <a:pt x="649" y="276"/>
                  <a:pt x="659" y="322"/>
                  <a:pt x="673" y="372"/>
                </a:cubicBezTo>
                <a:close/>
                <a:moveTo>
                  <a:pt x="503" y="507"/>
                </a:moveTo>
                <a:cubicBezTo>
                  <a:pt x="501" y="507"/>
                  <a:pt x="499" y="509"/>
                  <a:pt x="498" y="511"/>
                </a:cubicBezTo>
                <a:cubicBezTo>
                  <a:pt x="467" y="506"/>
                  <a:pt x="440" y="504"/>
                  <a:pt x="415" y="503"/>
                </a:cubicBezTo>
                <a:cubicBezTo>
                  <a:pt x="404" y="502"/>
                  <a:pt x="393" y="502"/>
                  <a:pt x="383" y="502"/>
                </a:cubicBezTo>
                <a:cubicBezTo>
                  <a:pt x="383" y="502"/>
                  <a:pt x="383" y="502"/>
                  <a:pt x="383" y="502"/>
                </a:cubicBezTo>
                <a:cubicBezTo>
                  <a:pt x="383" y="499"/>
                  <a:pt x="381" y="497"/>
                  <a:pt x="378" y="497"/>
                </a:cubicBezTo>
                <a:cubicBezTo>
                  <a:pt x="378" y="445"/>
                  <a:pt x="378" y="411"/>
                  <a:pt x="378" y="378"/>
                </a:cubicBezTo>
                <a:cubicBezTo>
                  <a:pt x="412" y="378"/>
                  <a:pt x="446" y="378"/>
                  <a:pt x="498" y="378"/>
                </a:cubicBezTo>
                <a:cubicBezTo>
                  <a:pt x="498" y="378"/>
                  <a:pt x="498" y="378"/>
                  <a:pt x="498" y="378"/>
                </a:cubicBezTo>
                <a:cubicBezTo>
                  <a:pt x="498" y="380"/>
                  <a:pt x="500" y="383"/>
                  <a:pt x="503" y="383"/>
                </a:cubicBezTo>
                <a:cubicBezTo>
                  <a:pt x="503" y="383"/>
                  <a:pt x="503" y="383"/>
                  <a:pt x="504" y="383"/>
                </a:cubicBezTo>
                <a:cubicBezTo>
                  <a:pt x="503" y="384"/>
                  <a:pt x="503" y="385"/>
                  <a:pt x="503" y="386"/>
                </a:cubicBezTo>
                <a:cubicBezTo>
                  <a:pt x="499" y="423"/>
                  <a:pt x="500" y="459"/>
                  <a:pt x="504" y="507"/>
                </a:cubicBezTo>
                <a:cubicBezTo>
                  <a:pt x="503" y="507"/>
                  <a:pt x="503" y="507"/>
                  <a:pt x="503" y="507"/>
                </a:cubicBezTo>
                <a:close/>
                <a:moveTo>
                  <a:pt x="252" y="508"/>
                </a:moveTo>
                <a:cubicBezTo>
                  <a:pt x="256" y="458"/>
                  <a:pt x="256" y="421"/>
                  <a:pt x="252" y="383"/>
                </a:cubicBezTo>
                <a:cubicBezTo>
                  <a:pt x="254" y="382"/>
                  <a:pt x="256" y="380"/>
                  <a:pt x="256" y="378"/>
                </a:cubicBezTo>
                <a:cubicBezTo>
                  <a:pt x="256" y="378"/>
                  <a:pt x="256" y="378"/>
                  <a:pt x="256" y="378"/>
                </a:cubicBezTo>
                <a:cubicBezTo>
                  <a:pt x="309" y="378"/>
                  <a:pt x="343" y="378"/>
                  <a:pt x="377" y="378"/>
                </a:cubicBezTo>
                <a:cubicBezTo>
                  <a:pt x="377" y="411"/>
                  <a:pt x="377" y="445"/>
                  <a:pt x="377" y="497"/>
                </a:cubicBezTo>
                <a:cubicBezTo>
                  <a:pt x="375" y="497"/>
                  <a:pt x="372" y="499"/>
                  <a:pt x="372" y="502"/>
                </a:cubicBezTo>
                <a:cubicBezTo>
                  <a:pt x="372" y="502"/>
                  <a:pt x="372" y="502"/>
                  <a:pt x="372" y="502"/>
                </a:cubicBezTo>
                <a:cubicBezTo>
                  <a:pt x="340" y="502"/>
                  <a:pt x="307" y="504"/>
                  <a:pt x="266" y="510"/>
                </a:cubicBezTo>
                <a:cubicBezTo>
                  <a:pt x="263" y="510"/>
                  <a:pt x="259" y="511"/>
                  <a:pt x="255" y="511"/>
                </a:cubicBezTo>
                <a:cubicBezTo>
                  <a:pt x="255" y="509"/>
                  <a:pt x="253" y="508"/>
                  <a:pt x="252" y="508"/>
                </a:cubicBezTo>
                <a:close/>
                <a:moveTo>
                  <a:pt x="256" y="243"/>
                </a:moveTo>
                <a:cubicBezTo>
                  <a:pt x="288" y="248"/>
                  <a:pt x="315" y="251"/>
                  <a:pt x="340" y="252"/>
                </a:cubicBezTo>
                <a:cubicBezTo>
                  <a:pt x="351" y="252"/>
                  <a:pt x="362" y="252"/>
                  <a:pt x="372" y="252"/>
                </a:cubicBezTo>
                <a:cubicBezTo>
                  <a:pt x="373" y="255"/>
                  <a:pt x="375" y="257"/>
                  <a:pt x="377" y="257"/>
                </a:cubicBezTo>
                <a:cubicBezTo>
                  <a:pt x="377" y="309"/>
                  <a:pt x="377" y="343"/>
                  <a:pt x="377" y="377"/>
                </a:cubicBezTo>
                <a:cubicBezTo>
                  <a:pt x="343" y="377"/>
                  <a:pt x="309" y="377"/>
                  <a:pt x="256" y="377"/>
                </a:cubicBezTo>
                <a:cubicBezTo>
                  <a:pt x="256" y="375"/>
                  <a:pt x="254" y="373"/>
                  <a:pt x="252" y="372"/>
                </a:cubicBezTo>
                <a:cubicBezTo>
                  <a:pt x="252" y="371"/>
                  <a:pt x="252" y="370"/>
                  <a:pt x="252" y="369"/>
                </a:cubicBezTo>
                <a:cubicBezTo>
                  <a:pt x="256" y="332"/>
                  <a:pt x="256" y="296"/>
                  <a:pt x="252" y="248"/>
                </a:cubicBezTo>
                <a:cubicBezTo>
                  <a:pt x="254" y="247"/>
                  <a:pt x="255" y="246"/>
                  <a:pt x="256" y="243"/>
                </a:cubicBezTo>
                <a:close/>
                <a:moveTo>
                  <a:pt x="503" y="372"/>
                </a:moveTo>
                <a:cubicBezTo>
                  <a:pt x="500" y="372"/>
                  <a:pt x="498" y="374"/>
                  <a:pt x="498" y="377"/>
                </a:cubicBezTo>
                <a:cubicBezTo>
                  <a:pt x="446" y="377"/>
                  <a:pt x="412" y="377"/>
                  <a:pt x="378" y="377"/>
                </a:cubicBezTo>
                <a:cubicBezTo>
                  <a:pt x="378" y="343"/>
                  <a:pt x="378" y="309"/>
                  <a:pt x="378" y="257"/>
                </a:cubicBezTo>
                <a:cubicBezTo>
                  <a:pt x="381" y="257"/>
                  <a:pt x="383" y="255"/>
                  <a:pt x="383" y="252"/>
                </a:cubicBezTo>
                <a:cubicBezTo>
                  <a:pt x="416" y="253"/>
                  <a:pt x="448" y="251"/>
                  <a:pt x="489" y="245"/>
                </a:cubicBezTo>
                <a:cubicBezTo>
                  <a:pt x="492" y="245"/>
                  <a:pt x="495" y="244"/>
                  <a:pt x="498" y="244"/>
                </a:cubicBezTo>
                <a:cubicBezTo>
                  <a:pt x="499" y="246"/>
                  <a:pt x="501" y="248"/>
                  <a:pt x="503" y="248"/>
                </a:cubicBezTo>
                <a:cubicBezTo>
                  <a:pt x="503" y="248"/>
                  <a:pt x="503" y="248"/>
                  <a:pt x="503" y="248"/>
                </a:cubicBezTo>
                <a:cubicBezTo>
                  <a:pt x="499" y="297"/>
                  <a:pt x="499" y="335"/>
                  <a:pt x="504" y="372"/>
                </a:cubicBezTo>
                <a:cubicBezTo>
                  <a:pt x="503" y="372"/>
                  <a:pt x="503" y="372"/>
                  <a:pt x="503" y="372"/>
                </a:cubicBezTo>
                <a:close/>
                <a:moveTo>
                  <a:pt x="564" y="86"/>
                </a:moveTo>
                <a:cubicBezTo>
                  <a:pt x="568" y="86"/>
                  <a:pt x="573" y="86"/>
                  <a:pt x="577" y="86"/>
                </a:cubicBezTo>
                <a:cubicBezTo>
                  <a:pt x="576" y="87"/>
                  <a:pt x="576" y="88"/>
                  <a:pt x="576" y="90"/>
                </a:cubicBezTo>
                <a:cubicBezTo>
                  <a:pt x="576" y="92"/>
                  <a:pt x="578" y="95"/>
                  <a:pt x="581" y="95"/>
                </a:cubicBezTo>
                <a:cubicBezTo>
                  <a:pt x="583" y="95"/>
                  <a:pt x="585" y="94"/>
                  <a:pt x="586" y="92"/>
                </a:cubicBezTo>
                <a:cubicBezTo>
                  <a:pt x="599" y="144"/>
                  <a:pt x="615" y="181"/>
                  <a:pt x="641" y="216"/>
                </a:cubicBezTo>
                <a:cubicBezTo>
                  <a:pt x="640" y="217"/>
                  <a:pt x="639" y="219"/>
                  <a:pt x="639" y="220"/>
                </a:cubicBezTo>
                <a:cubicBezTo>
                  <a:pt x="639" y="221"/>
                  <a:pt x="639" y="221"/>
                  <a:pt x="639" y="221"/>
                </a:cubicBezTo>
                <a:cubicBezTo>
                  <a:pt x="614" y="226"/>
                  <a:pt x="591" y="229"/>
                  <a:pt x="570" y="233"/>
                </a:cubicBezTo>
                <a:cubicBezTo>
                  <a:pt x="547" y="236"/>
                  <a:pt x="527" y="239"/>
                  <a:pt x="508" y="241"/>
                </a:cubicBezTo>
                <a:cubicBezTo>
                  <a:pt x="508" y="239"/>
                  <a:pt x="506" y="238"/>
                  <a:pt x="504" y="238"/>
                </a:cubicBezTo>
                <a:cubicBezTo>
                  <a:pt x="497" y="199"/>
                  <a:pt x="493" y="153"/>
                  <a:pt x="488" y="89"/>
                </a:cubicBezTo>
                <a:cubicBezTo>
                  <a:pt x="490" y="88"/>
                  <a:pt x="491" y="86"/>
                  <a:pt x="491" y="85"/>
                </a:cubicBezTo>
                <a:cubicBezTo>
                  <a:pt x="514" y="86"/>
                  <a:pt x="538" y="87"/>
                  <a:pt x="564" y="86"/>
                </a:cubicBezTo>
                <a:close/>
                <a:moveTo>
                  <a:pt x="480" y="85"/>
                </a:moveTo>
                <a:cubicBezTo>
                  <a:pt x="480" y="87"/>
                  <a:pt x="483" y="90"/>
                  <a:pt x="485" y="90"/>
                </a:cubicBezTo>
                <a:cubicBezTo>
                  <a:pt x="486" y="90"/>
                  <a:pt x="487" y="89"/>
                  <a:pt x="487" y="89"/>
                </a:cubicBezTo>
                <a:cubicBezTo>
                  <a:pt x="489" y="111"/>
                  <a:pt x="490" y="131"/>
                  <a:pt x="492" y="150"/>
                </a:cubicBezTo>
                <a:cubicBezTo>
                  <a:pt x="495" y="184"/>
                  <a:pt x="499" y="213"/>
                  <a:pt x="503" y="238"/>
                </a:cubicBezTo>
                <a:cubicBezTo>
                  <a:pt x="500" y="238"/>
                  <a:pt x="498" y="240"/>
                  <a:pt x="498" y="243"/>
                </a:cubicBezTo>
                <a:cubicBezTo>
                  <a:pt x="498" y="243"/>
                  <a:pt x="498" y="243"/>
                  <a:pt x="498" y="243"/>
                </a:cubicBezTo>
                <a:cubicBezTo>
                  <a:pt x="478" y="246"/>
                  <a:pt x="460" y="248"/>
                  <a:pt x="442" y="249"/>
                </a:cubicBezTo>
                <a:cubicBezTo>
                  <a:pt x="421" y="251"/>
                  <a:pt x="402" y="252"/>
                  <a:pt x="383" y="251"/>
                </a:cubicBezTo>
                <a:cubicBezTo>
                  <a:pt x="382" y="249"/>
                  <a:pt x="380" y="247"/>
                  <a:pt x="378" y="247"/>
                </a:cubicBezTo>
                <a:cubicBezTo>
                  <a:pt x="378" y="207"/>
                  <a:pt x="378" y="157"/>
                  <a:pt x="378" y="90"/>
                </a:cubicBezTo>
                <a:cubicBezTo>
                  <a:pt x="381" y="90"/>
                  <a:pt x="383" y="87"/>
                  <a:pt x="383" y="85"/>
                </a:cubicBezTo>
                <a:cubicBezTo>
                  <a:pt x="383" y="84"/>
                  <a:pt x="383" y="84"/>
                  <a:pt x="383" y="84"/>
                </a:cubicBezTo>
                <a:cubicBezTo>
                  <a:pt x="415" y="86"/>
                  <a:pt x="447" y="86"/>
                  <a:pt x="480" y="85"/>
                </a:cubicBezTo>
                <a:close/>
                <a:moveTo>
                  <a:pt x="372" y="84"/>
                </a:moveTo>
                <a:cubicBezTo>
                  <a:pt x="372" y="84"/>
                  <a:pt x="372" y="85"/>
                  <a:pt x="372" y="85"/>
                </a:cubicBezTo>
                <a:cubicBezTo>
                  <a:pt x="372" y="87"/>
                  <a:pt x="375" y="90"/>
                  <a:pt x="377" y="90"/>
                </a:cubicBezTo>
                <a:cubicBezTo>
                  <a:pt x="377" y="157"/>
                  <a:pt x="377" y="207"/>
                  <a:pt x="377" y="247"/>
                </a:cubicBezTo>
                <a:cubicBezTo>
                  <a:pt x="375" y="247"/>
                  <a:pt x="373" y="249"/>
                  <a:pt x="373" y="251"/>
                </a:cubicBezTo>
                <a:cubicBezTo>
                  <a:pt x="348" y="252"/>
                  <a:pt x="324" y="251"/>
                  <a:pt x="297" y="248"/>
                </a:cubicBezTo>
                <a:cubicBezTo>
                  <a:pt x="284" y="247"/>
                  <a:pt x="270" y="245"/>
                  <a:pt x="256" y="243"/>
                </a:cubicBezTo>
                <a:cubicBezTo>
                  <a:pt x="256" y="240"/>
                  <a:pt x="254" y="238"/>
                  <a:pt x="252" y="238"/>
                </a:cubicBezTo>
                <a:cubicBezTo>
                  <a:pt x="259" y="200"/>
                  <a:pt x="263" y="153"/>
                  <a:pt x="268" y="89"/>
                </a:cubicBezTo>
                <a:cubicBezTo>
                  <a:pt x="268" y="89"/>
                  <a:pt x="268" y="90"/>
                  <a:pt x="268" y="90"/>
                </a:cubicBezTo>
                <a:cubicBezTo>
                  <a:pt x="271" y="90"/>
                  <a:pt x="274" y="87"/>
                  <a:pt x="274" y="85"/>
                </a:cubicBezTo>
                <a:cubicBezTo>
                  <a:pt x="276" y="85"/>
                  <a:pt x="278" y="85"/>
                  <a:pt x="280" y="85"/>
                </a:cubicBezTo>
                <a:cubicBezTo>
                  <a:pt x="311" y="86"/>
                  <a:pt x="342" y="86"/>
                  <a:pt x="372" y="84"/>
                </a:cubicBezTo>
                <a:close/>
                <a:moveTo>
                  <a:pt x="169" y="93"/>
                </a:moveTo>
                <a:cubicBezTo>
                  <a:pt x="170" y="94"/>
                  <a:pt x="171" y="95"/>
                  <a:pt x="173" y="95"/>
                </a:cubicBezTo>
                <a:cubicBezTo>
                  <a:pt x="176" y="95"/>
                  <a:pt x="178" y="92"/>
                  <a:pt x="178" y="90"/>
                </a:cubicBezTo>
                <a:cubicBezTo>
                  <a:pt x="178" y="88"/>
                  <a:pt x="178" y="87"/>
                  <a:pt x="177" y="86"/>
                </a:cubicBezTo>
                <a:cubicBezTo>
                  <a:pt x="207" y="87"/>
                  <a:pt x="236" y="86"/>
                  <a:pt x="263" y="85"/>
                </a:cubicBezTo>
                <a:cubicBezTo>
                  <a:pt x="263" y="87"/>
                  <a:pt x="265" y="89"/>
                  <a:pt x="267" y="89"/>
                </a:cubicBezTo>
                <a:cubicBezTo>
                  <a:pt x="263" y="146"/>
                  <a:pt x="259" y="189"/>
                  <a:pt x="253" y="225"/>
                </a:cubicBezTo>
                <a:cubicBezTo>
                  <a:pt x="253" y="229"/>
                  <a:pt x="252" y="234"/>
                  <a:pt x="251" y="238"/>
                </a:cubicBezTo>
                <a:cubicBezTo>
                  <a:pt x="251" y="238"/>
                  <a:pt x="251" y="237"/>
                  <a:pt x="251" y="237"/>
                </a:cubicBezTo>
                <a:cubicBezTo>
                  <a:pt x="248" y="237"/>
                  <a:pt x="246" y="239"/>
                  <a:pt x="246" y="241"/>
                </a:cubicBezTo>
                <a:cubicBezTo>
                  <a:pt x="227" y="239"/>
                  <a:pt x="208" y="236"/>
                  <a:pt x="186" y="233"/>
                </a:cubicBezTo>
                <a:cubicBezTo>
                  <a:pt x="164" y="229"/>
                  <a:pt x="141" y="225"/>
                  <a:pt x="115" y="221"/>
                </a:cubicBezTo>
                <a:cubicBezTo>
                  <a:pt x="115" y="221"/>
                  <a:pt x="115" y="221"/>
                  <a:pt x="115" y="220"/>
                </a:cubicBezTo>
                <a:cubicBezTo>
                  <a:pt x="115" y="219"/>
                  <a:pt x="114" y="218"/>
                  <a:pt x="114" y="217"/>
                </a:cubicBezTo>
                <a:cubicBezTo>
                  <a:pt x="139" y="182"/>
                  <a:pt x="156" y="145"/>
                  <a:pt x="169" y="93"/>
                </a:cubicBezTo>
                <a:close/>
                <a:moveTo>
                  <a:pt x="110" y="225"/>
                </a:moveTo>
                <a:cubicBezTo>
                  <a:pt x="112" y="225"/>
                  <a:pt x="114" y="224"/>
                  <a:pt x="115" y="222"/>
                </a:cubicBezTo>
                <a:cubicBezTo>
                  <a:pt x="157" y="229"/>
                  <a:pt x="192" y="235"/>
                  <a:pt x="223" y="239"/>
                </a:cubicBezTo>
                <a:cubicBezTo>
                  <a:pt x="231" y="240"/>
                  <a:pt x="238" y="241"/>
                  <a:pt x="245" y="242"/>
                </a:cubicBezTo>
                <a:cubicBezTo>
                  <a:pt x="245" y="242"/>
                  <a:pt x="245" y="242"/>
                  <a:pt x="245" y="243"/>
                </a:cubicBezTo>
                <a:cubicBezTo>
                  <a:pt x="245" y="246"/>
                  <a:pt x="248" y="248"/>
                  <a:pt x="251" y="248"/>
                </a:cubicBezTo>
                <a:cubicBezTo>
                  <a:pt x="251" y="248"/>
                  <a:pt x="251" y="248"/>
                  <a:pt x="251" y="248"/>
                </a:cubicBezTo>
                <a:cubicBezTo>
                  <a:pt x="252" y="263"/>
                  <a:pt x="253" y="277"/>
                  <a:pt x="254" y="291"/>
                </a:cubicBezTo>
                <a:cubicBezTo>
                  <a:pt x="255" y="320"/>
                  <a:pt x="254" y="346"/>
                  <a:pt x="251" y="372"/>
                </a:cubicBezTo>
                <a:cubicBezTo>
                  <a:pt x="248" y="373"/>
                  <a:pt x="246" y="374"/>
                  <a:pt x="246" y="377"/>
                </a:cubicBezTo>
                <a:cubicBezTo>
                  <a:pt x="206" y="377"/>
                  <a:pt x="155" y="377"/>
                  <a:pt x="86" y="377"/>
                </a:cubicBezTo>
                <a:cubicBezTo>
                  <a:pt x="86" y="377"/>
                  <a:pt x="86" y="377"/>
                  <a:pt x="86" y="377"/>
                </a:cubicBezTo>
                <a:cubicBezTo>
                  <a:pt x="86" y="374"/>
                  <a:pt x="84" y="373"/>
                  <a:pt x="82" y="372"/>
                </a:cubicBezTo>
                <a:cubicBezTo>
                  <a:pt x="96" y="322"/>
                  <a:pt x="106" y="276"/>
                  <a:pt x="110" y="225"/>
                </a:cubicBezTo>
                <a:close/>
                <a:moveTo>
                  <a:pt x="82" y="382"/>
                </a:moveTo>
                <a:cubicBezTo>
                  <a:pt x="84" y="381"/>
                  <a:pt x="85" y="380"/>
                  <a:pt x="86" y="378"/>
                </a:cubicBezTo>
                <a:cubicBezTo>
                  <a:pt x="154" y="378"/>
                  <a:pt x="205" y="378"/>
                  <a:pt x="246" y="378"/>
                </a:cubicBezTo>
                <a:cubicBezTo>
                  <a:pt x="246" y="380"/>
                  <a:pt x="248" y="383"/>
                  <a:pt x="251" y="383"/>
                </a:cubicBezTo>
                <a:cubicBezTo>
                  <a:pt x="255" y="421"/>
                  <a:pt x="255" y="458"/>
                  <a:pt x="251" y="507"/>
                </a:cubicBezTo>
                <a:cubicBezTo>
                  <a:pt x="251" y="507"/>
                  <a:pt x="251" y="507"/>
                  <a:pt x="251" y="507"/>
                </a:cubicBezTo>
                <a:cubicBezTo>
                  <a:pt x="248" y="507"/>
                  <a:pt x="245" y="510"/>
                  <a:pt x="245" y="512"/>
                </a:cubicBezTo>
                <a:cubicBezTo>
                  <a:pt x="210" y="517"/>
                  <a:pt x="167" y="524"/>
                  <a:pt x="114" y="533"/>
                </a:cubicBezTo>
                <a:cubicBezTo>
                  <a:pt x="114" y="530"/>
                  <a:pt x="112" y="529"/>
                  <a:pt x="110" y="528"/>
                </a:cubicBezTo>
                <a:cubicBezTo>
                  <a:pt x="106" y="478"/>
                  <a:pt x="96" y="431"/>
                  <a:pt x="82" y="382"/>
                </a:cubicBezTo>
                <a:close/>
                <a:moveTo>
                  <a:pt x="190" y="668"/>
                </a:moveTo>
                <a:cubicBezTo>
                  <a:pt x="185" y="668"/>
                  <a:pt x="181" y="668"/>
                  <a:pt x="176" y="669"/>
                </a:cubicBezTo>
                <a:cubicBezTo>
                  <a:pt x="177" y="668"/>
                  <a:pt x="177" y="667"/>
                  <a:pt x="177" y="666"/>
                </a:cubicBezTo>
                <a:cubicBezTo>
                  <a:pt x="177" y="663"/>
                  <a:pt x="175" y="660"/>
                  <a:pt x="172" y="660"/>
                </a:cubicBezTo>
                <a:cubicBezTo>
                  <a:pt x="171" y="660"/>
                  <a:pt x="170" y="661"/>
                  <a:pt x="169" y="661"/>
                </a:cubicBezTo>
                <a:cubicBezTo>
                  <a:pt x="156" y="609"/>
                  <a:pt x="139" y="572"/>
                  <a:pt x="113" y="537"/>
                </a:cubicBezTo>
                <a:cubicBezTo>
                  <a:pt x="114" y="536"/>
                  <a:pt x="115" y="535"/>
                  <a:pt x="115" y="533"/>
                </a:cubicBezTo>
                <a:cubicBezTo>
                  <a:pt x="141" y="529"/>
                  <a:pt x="164" y="525"/>
                  <a:pt x="186" y="522"/>
                </a:cubicBezTo>
                <a:cubicBezTo>
                  <a:pt x="208" y="519"/>
                  <a:pt x="227" y="516"/>
                  <a:pt x="245" y="513"/>
                </a:cubicBezTo>
                <a:cubicBezTo>
                  <a:pt x="246" y="516"/>
                  <a:pt x="248" y="518"/>
                  <a:pt x="251" y="518"/>
                </a:cubicBezTo>
                <a:cubicBezTo>
                  <a:pt x="251" y="518"/>
                  <a:pt x="251" y="518"/>
                  <a:pt x="251" y="518"/>
                </a:cubicBezTo>
                <a:cubicBezTo>
                  <a:pt x="258" y="556"/>
                  <a:pt x="262" y="603"/>
                  <a:pt x="267" y="667"/>
                </a:cubicBezTo>
                <a:cubicBezTo>
                  <a:pt x="266" y="667"/>
                  <a:pt x="264" y="668"/>
                  <a:pt x="264" y="670"/>
                </a:cubicBezTo>
                <a:cubicBezTo>
                  <a:pt x="240" y="668"/>
                  <a:pt x="216" y="668"/>
                  <a:pt x="190" y="668"/>
                </a:cubicBezTo>
                <a:close/>
                <a:moveTo>
                  <a:pt x="274" y="670"/>
                </a:moveTo>
                <a:cubicBezTo>
                  <a:pt x="273" y="668"/>
                  <a:pt x="271" y="666"/>
                  <a:pt x="269" y="666"/>
                </a:cubicBezTo>
                <a:cubicBezTo>
                  <a:pt x="269" y="666"/>
                  <a:pt x="268" y="666"/>
                  <a:pt x="268" y="666"/>
                </a:cubicBezTo>
                <a:cubicBezTo>
                  <a:pt x="266" y="644"/>
                  <a:pt x="265" y="624"/>
                  <a:pt x="263" y="605"/>
                </a:cubicBezTo>
                <a:cubicBezTo>
                  <a:pt x="260" y="571"/>
                  <a:pt x="257" y="542"/>
                  <a:pt x="252" y="518"/>
                </a:cubicBezTo>
                <a:cubicBezTo>
                  <a:pt x="254" y="517"/>
                  <a:pt x="256" y="515"/>
                  <a:pt x="256" y="513"/>
                </a:cubicBezTo>
                <a:cubicBezTo>
                  <a:pt x="256" y="512"/>
                  <a:pt x="256" y="512"/>
                  <a:pt x="256" y="512"/>
                </a:cubicBezTo>
                <a:cubicBezTo>
                  <a:pt x="276" y="509"/>
                  <a:pt x="295" y="507"/>
                  <a:pt x="313" y="505"/>
                </a:cubicBezTo>
                <a:cubicBezTo>
                  <a:pt x="334" y="503"/>
                  <a:pt x="353" y="503"/>
                  <a:pt x="373" y="503"/>
                </a:cubicBezTo>
                <a:cubicBezTo>
                  <a:pt x="373" y="505"/>
                  <a:pt x="375" y="507"/>
                  <a:pt x="377" y="507"/>
                </a:cubicBezTo>
                <a:cubicBezTo>
                  <a:pt x="377" y="547"/>
                  <a:pt x="377" y="597"/>
                  <a:pt x="377" y="664"/>
                </a:cubicBezTo>
                <a:cubicBezTo>
                  <a:pt x="375" y="664"/>
                  <a:pt x="372" y="666"/>
                  <a:pt x="372" y="669"/>
                </a:cubicBezTo>
                <a:cubicBezTo>
                  <a:pt x="372" y="669"/>
                  <a:pt x="373" y="670"/>
                  <a:pt x="373" y="670"/>
                </a:cubicBezTo>
                <a:cubicBezTo>
                  <a:pt x="340" y="669"/>
                  <a:pt x="308" y="669"/>
                  <a:pt x="274" y="670"/>
                </a:cubicBezTo>
                <a:close/>
                <a:moveTo>
                  <a:pt x="475" y="670"/>
                </a:moveTo>
                <a:cubicBezTo>
                  <a:pt x="444" y="669"/>
                  <a:pt x="413" y="669"/>
                  <a:pt x="383" y="670"/>
                </a:cubicBezTo>
                <a:cubicBezTo>
                  <a:pt x="383" y="670"/>
                  <a:pt x="383" y="669"/>
                  <a:pt x="383" y="669"/>
                </a:cubicBezTo>
                <a:cubicBezTo>
                  <a:pt x="383" y="666"/>
                  <a:pt x="381" y="664"/>
                  <a:pt x="378" y="664"/>
                </a:cubicBezTo>
                <a:cubicBezTo>
                  <a:pt x="378" y="597"/>
                  <a:pt x="378" y="547"/>
                  <a:pt x="378" y="507"/>
                </a:cubicBezTo>
                <a:cubicBezTo>
                  <a:pt x="380" y="507"/>
                  <a:pt x="382" y="505"/>
                  <a:pt x="383" y="503"/>
                </a:cubicBezTo>
                <a:cubicBezTo>
                  <a:pt x="407" y="503"/>
                  <a:pt x="431" y="504"/>
                  <a:pt x="458" y="507"/>
                </a:cubicBezTo>
                <a:cubicBezTo>
                  <a:pt x="471" y="508"/>
                  <a:pt x="484" y="510"/>
                  <a:pt x="498" y="512"/>
                </a:cubicBezTo>
                <a:cubicBezTo>
                  <a:pt x="498" y="512"/>
                  <a:pt x="498" y="512"/>
                  <a:pt x="498" y="513"/>
                </a:cubicBezTo>
                <a:cubicBezTo>
                  <a:pt x="498" y="515"/>
                  <a:pt x="500" y="517"/>
                  <a:pt x="503" y="518"/>
                </a:cubicBezTo>
                <a:cubicBezTo>
                  <a:pt x="496" y="556"/>
                  <a:pt x="492" y="603"/>
                  <a:pt x="487" y="667"/>
                </a:cubicBezTo>
                <a:cubicBezTo>
                  <a:pt x="486" y="666"/>
                  <a:pt x="486" y="666"/>
                  <a:pt x="485" y="666"/>
                </a:cubicBezTo>
                <a:cubicBezTo>
                  <a:pt x="483" y="666"/>
                  <a:pt x="481" y="668"/>
                  <a:pt x="480" y="670"/>
                </a:cubicBezTo>
                <a:cubicBezTo>
                  <a:pt x="479" y="670"/>
                  <a:pt x="477" y="670"/>
                  <a:pt x="475" y="670"/>
                </a:cubicBezTo>
                <a:close/>
                <a:moveTo>
                  <a:pt x="586" y="662"/>
                </a:moveTo>
                <a:cubicBezTo>
                  <a:pt x="585" y="661"/>
                  <a:pt x="584" y="660"/>
                  <a:pt x="582" y="660"/>
                </a:cubicBezTo>
                <a:cubicBezTo>
                  <a:pt x="579" y="660"/>
                  <a:pt x="577" y="663"/>
                  <a:pt x="577" y="666"/>
                </a:cubicBezTo>
                <a:cubicBezTo>
                  <a:pt x="577" y="667"/>
                  <a:pt x="577" y="668"/>
                  <a:pt x="578" y="669"/>
                </a:cubicBezTo>
                <a:cubicBezTo>
                  <a:pt x="547" y="668"/>
                  <a:pt x="518" y="668"/>
                  <a:pt x="490" y="670"/>
                </a:cubicBezTo>
                <a:cubicBezTo>
                  <a:pt x="490" y="669"/>
                  <a:pt x="489" y="668"/>
                  <a:pt x="488" y="667"/>
                </a:cubicBezTo>
                <a:cubicBezTo>
                  <a:pt x="492" y="609"/>
                  <a:pt x="496" y="566"/>
                  <a:pt x="502" y="529"/>
                </a:cubicBezTo>
                <a:cubicBezTo>
                  <a:pt x="502" y="525"/>
                  <a:pt x="503" y="522"/>
                  <a:pt x="504" y="518"/>
                </a:cubicBezTo>
                <a:cubicBezTo>
                  <a:pt x="506" y="518"/>
                  <a:pt x="508" y="516"/>
                  <a:pt x="509" y="513"/>
                </a:cubicBezTo>
                <a:cubicBezTo>
                  <a:pt x="527" y="516"/>
                  <a:pt x="547" y="518"/>
                  <a:pt x="570" y="522"/>
                </a:cubicBezTo>
                <a:cubicBezTo>
                  <a:pt x="591" y="525"/>
                  <a:pt x="614" y="529"/>
                  <a:pt x="639" y="533"/>
                </a:cubicBezTo>
                <a:cubicBezTo>
                  <a:pt x="639" y="533"/>
                  <a:pt x="639" y="533"/>
                  <a:pt x="639" y="533"/>
                </a:cubicBezTo>
                <a:cubicBezTo>
                  <a:pt x="639" y="535"/>
                  <a:pt x="640" y="537"/>
                  <a:pt x="642" y="538"/>
                </a:cubicBezTo>
                <a:cubicBezTo>
                  <a:pt x="616" y="573"/>
                  <a:pt x="599" y="610"/>
                  <a:pt x="586" y="662"/>
                </a:cubicBezTo>
                <a:close/>
                <a:moveTo>
                  <a:pt x="645" y="528"/>
                </a:moveTo>
                <a:cubicBezTo>
                  <a:pt x="645" y="528"/>
                  <a:pt x="645" y="528"/>
                  <a:pt x="645" y="528"/>
                </a:cubicBezTo>
                <a:cubicBezTo>
                  <a:pt x="642" y="528"/>
                  <a:pt x="640" y="530"/>
                  <a:pt x="639" y="532"/>
                </a:cubicBezTo>
                <a:cubicBezTo>
                  <a:pt x="598" y="526"/>
                  <a:pt x="563" y="520"/>
                  <a:pt x="533" y="516"/>
                </a:cubicBezTo>
                <a:cubicBezTo>
                  <a:pt x="524" y="514"/>
                  <a:pt x="516" y="513"/>
                  <a:pt x="509" y="512"/>
                </a:cubicBezTo>
                <a:cubicBezTo>
                  <a:pt x="508" y="510"/>
                  <a:pt x="507" y="508"/>
                  <a:pt x="504" y="508"/>
                </a:cubicBezTo>
                <a:cubicBezTo>
                  <a:pt x="503" y="492"/>
                  <a:pt x="502" y="477"/>
                  <a:pt x="502" y="464"/>
                </a:cubicBezTo>
                <a:cubicBezTo>
                  <a:pt x="501" y="434"/>
                  <a:pt x="501" y="409"/>
                  <a:pt x="504" y="383"/>
                </a:cubicBezTo>
                <a:cubicBezTo>
                  <a:pt x="507" y="382"/>
                  <a:pt x="508" y="380"/>
                  <a:pt x="508" y="378"/>
                </a:cubicBezTo>
                <a:cubicBezTo>
                  <a:pt x="548" y="378"/>
                  <a:pt x="599" y="378"/>
                  <a:pt x="668" y="378"/>
                </a:cubicBezTo>
                <a:cubicBezTo>
                  <a:pt x="669" y="380"/>
                  <a:pt x="671" y="382"/>
                  <a:pt x="673" y="382"/>
                </a:cubicBezTo>
                <a:cubicBezTo>
                  <a:pt x="673" y="382"/>
                  <a:pt x="673" y="382"/>
                  <a:pt x="673" y="382"/>
                </a:cubicBezTo>
                <a:cubicBezTo>
                  <a:pt x="659" y="432"/>
                  <a:pt x="650" y="478"/>
                  <a:pt x="645" y="528"/>
                </a:cubicBezTo>
                <a:close/>
              </a:path>
            </a:pathLst>
          </a:custGeom>
          <a:gradFill>
            <a:gsLst>
              <a:gs pos="100000">
                <a:srgbClr val="1A4E7E"/>
              </a:gs>
              <a:gs pos="0">
                <a:srgbClr val="166293"/>
              </a:gs>
            </a:gsLst>
            <a:path path="shape">
              <a:fillToRect l="50000" t="50000" r="50000" b="50000"/>
            </a:path>
          </a:gradFill>
          <a:ln>
            <a:noFill/>
          </a:ln>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11901" name="椭圆 11900"/>
          <p:cNvSpPr/>
          <p:nvPr/>
        </p:nvSpPr>
        <p:spPr>
          <a:xfrm>
            <a:off x="7315051" y="2751138"/>
            <a:ext cx="159842" cy="159842"/>
          </a:xfrm>
          <a:prstGeom prst="ellipse">
            <a:avLst/>
          </a:prstGeom>
          <a:gradFill flip="none" rotWithShape="1">
            <a:gsLst>
              <a:gs pos="0">
                <a:srgbClr val="4DC9FE"/>
              </a:gs>
              <a:gs pos="54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5506" name="椭圆 5505"/>
          <p:cNvSpPr/>
          <p:nvPr/>
        </p:nvSpPr>
        <p:spPr>
          <a:xfrm>
            <a:off x="7875588" y="2751138"/>
            <a:ext cx="123825" cy="123825"/>
          </a:xfrm>
          <a:prstGeom prst="ellipse">
            <a:avLst/>
          </a:prstGeom>
          <a:gradFill flip="none" rotWithShape="1">
            <a:gsLst>
              <a:gs pos="0">
                <a:srgbClr val="4DC9FE">
                  <a:alpha val="43000"/>
                </a:srgbClr>
              </a:gs>
              <a:gs pos="10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5507" name="椭圆 5506"/>
          <p:cNvSpPr/>
          <p:nvPr/>
        </p:nvSpPr>
        <p:spPr>
          <a:xfrm>
            <a:off x="6789505" y="3051562"/>
            <a:ext cx="164078" cy="164078"/>
          </a:xfrm>
          <a:prstGeom prst="ellipse">
            <a:avLst/>
          </a:prstGeom>
          <a:gradFill flip="none" rotWithShape="1">
            <a:gsLst>
              <a:gs pos="0">
                <a:srgbClr val="4DC9FE"/>
              </a:gs>
              <a:gs pos="8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5509" name="椭圆 5508"/>
          <p:cNvSpPr/>
          <p:nvPr/>
        </p:nvSpPr>
        <p:spPr>
          <a:xfrm>
            <a:off x="1913444" y="3486641"/>
            <a:ext cx="116880" cy="116880"/>
          </a:xfrm>
          <a:prstGeom prst="ellipse">
            <a:avLst/>
          </a:prstGeom>
          <a:gradFill flip="none" rotWithShape="1">
            <a:gsLst>
              <a:gs pos="0">
                <a:srgbClr val="4DC9FE"/>
              </a:gs>
              <a:gs pos="54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5510" name="椭圆 5509"/>
          <p:cNvSpPr/>
          <p:nvPr/>
        </p:nvSpPr>
        <p:spPr>
          <a:xfrm>
            <a:off x="2216150" y="3438525"/>
            <a:ext cx="90488" cy="90488"/>
          </a:xfrm>
          <a:prstGeom prst="ellipse">
            <a:avLst/>
          </a:prstGeom>
          <a:gradFill flip="none" rotWithShape="1">
            <a:gsLst>
              <a:gs pos="0">
                <a:srgbClr val="4DC9FE"/>
              </a:gs>
              <a:gs pos="10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5511" name="椭圆 5510"/>
          <p:cNvSpPr/>
          <p:nvPr/>
        </p:nvSpPr>
        <p:spPr>
          <a:xfrm>
            <a:off x="1541189" y="2868182"/>
            <a:ext cx="65462" cy="65462"/>
          </a:xfrm>
          <a:prstGeom prst="ellipse">
            <a:avLst/>
          </a:prstGeom>
          <a:gradFill flip="none" rotWithShape="1">
            <a:gsLst>
              <a:gs pos="0">
                <a:srgbClr val="4DC9FE"/>
              </a:gs>
              <a:gs pos="8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5512" name="椭圆 5511"/>
          <p:cNvSpPr/>
          <p:nvPr/>
        </p:nvSpPr>
        <p:spPr>
          <a:xfrm>
            <a:off x="942975" y="2947988"/>
            <a:ext cx="58738" cy="58737"/>
          </a:xfrm>
          <a:prstGeom prst="ellipse">
            <a:avLst/>
          </a:prstGeom>
          <a:gradFill flip="none" rotWithShape="1">
            <a:gsLst>
              <a:gs pos="0">
                <a:srgbClr val="4DC9FE"/>
              </a:gs>
              <a:gs pos="10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5513" name="椭圆 5512"/>
          <p:cNvSpPr/>
          <p:nvPr/>
        </p:nvSpPr>
        <p:spPr>
          <a:xfrm>
            <a:off x="3997424" y="3560094"/>
            <a:ext cx="159842" cy="159842"/>
          </a:xfrm>
          <a:prstGeom prst="ellipse">
            <a:avLst/>
          </a:prstGeom>
          <a:gradFill flip="none" rotWithShape="1">
            <a:gsLst>
              <a:gs pos="0">
                <a:srgbClr val="4DC9FE"/>
              </a:gs>
              <a:gs pos="54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5514" name="椭圆 5513"/>
          <p:cNvSpPr/>
          <p:nvPr/>
        </p:nvSpPr>
        <p:spPr>
          <a:xfrm>
            <a:off x="4540250" y="3535363"/>
            <a:ext cx="122238" cy="122237"/>
          </a:xfrm>
          <a:prstGeom prst="ellipse">
            <a:avLst/>
          </a:prstGeom>
          <a:gradFill flip="none" rotWithShape="1">
            <a:gsLst>
              <a:gs pos="0">
                <a:srgbClr val="4DC9FE">
                  <a:alpha val="47000"/>
                </a:srgbClr>
              </a:gs>
              <a:gs pos="10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5508" name="椭圆 5507"/>
          <p:cNvSpPr/>
          <p:nvPr/>
        </p:nvSpPr>
        <p:spPr>
          <a:xfrm>
            <a:off x="6229350" y="3168650"/>
            <a:ext cx="80963" cy="80963"/>
          </a:xfrm>
          <a:prstGeom prst="ellipse">
            <a:avLst/>
          </a:prstGeom>
          <a:gradFill flip="none" rotWithShape="1">
            <a:gsLst>
              <a:gs pos="0">
                <a:srgbClr val="4DC9FE">
                  <a:alpha val="69000"/>
                </a:srgbClr>
              </a:gs>
              <a:gs pos="10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5515" name="椭圆 5514"/>
          <p:cNvSpPr/>
          <p:nvPr/>
        </p:nvSpPr>
        <p:spPr>
          <a:xfrm>
            <a:off x="3577861" y="2780796"/>
            <a:ext cx="164078" cy="164078"/>
          </a:xfrm>
          <a:prstGeom prst="ellipse">
            <a:avLst/>
          </a:prstGeom>
          <a:gradFill flip="none" rotWithShape="1">
            <a:gsLst>
              <a:gs pos="0">
                <a:srgbClr val="4DC9FE"/>
              </a:gs>
              <a:gs pos="8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11874" name="Freeform 21"/>
          <p:cNvSpPr>
            <a:spLocks/>
          </p:cNvSpPr>
          <p:nvPr/>
        </p:nvSpPr>
        <p:spPr bwMode="auto">
          <a:xfrm>
            <a:off x="5583238" y="1579563"/>
            <a:ext cx="87313" cy="123825"/>
          </a:xfrm>
          <a:custGeom>
            <a:avLst/>
            <a:gdLst>
              <a:gd name="T0" fmla="*/ 0 w 23"/>
              <a:gd name="T1" fmla="*/ 0 h 33"/>
              <a:gd name="T2" fmla="*/ 23 w 23"/>
              <a:gd name="T3" fmla="*/ 33 h 33"/>
              <a:gd name="T4" fmla="*/ 0 w 23"/>
              <a:gd name="T5" fmla="*/ 0 h 33"/>
            </a:gdLst>
            <a:ahLst/>
            <a:cxnLst>
              <a:cxn ang="0">
                <a:pos x="T0" y="T1"/>
              </a:cxn>
              <a:cxn ang="0">
                <a:pos x="T2" y="T3"/>
              </a:cxn>
              <a:cxn ang="0">
                <a:pos x="T4" y="T5"/>
              </a:cxn>
            </a:cxnLst>
            <a:rect l="0" t="0" r="r" b="b"/>
            <a:pathLst>
              <a:path w="23" h="33">
                <a:moveTo>
                  <a:pt x="0" y="0"/>
                </a:moveTo>
                <a:cubicBezTo>
                  <a:pt x="7" y="12"/>
                  <a:pt x="14" y="23"/>
                  <a:pt x="23" y="33"/>
                </a:cubicBezTo>
                <a:lnTo>
                  <a:pt x="0" y="0"/>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11875" name="Freeform 22"/>
          <p:cNvSpPr>
            <a:spLocks/>
          </p:cNvSpPr>
          <p:nvPr/>
        </p:nvSpPr>
        <p:spPr bwMode="auto">
          <a:xfrm>
            <a:off x="3468688" y="1579563"/>
            <a:ext cx="87313" cy="123825"/>
          </a:xfrm>
          <a:custGeom>
            <a:avLst/>
            <a:gdLst>
              <a:gd name="T0" fmla="*/ 0 w 23"/>
              <a:gd name="T1" fmla="*/ 33 h 33"/>
              <a:gd name="T2" fmla="*/ 23 w 23"/>
              <a:gd name="T3" fmla="*/ 0 h 33"/>
              <a:gd name="T4" fmla="*/ 0 w 23"/>
              <a:gd name="T5" fmla="*/ 33 h 33"/>
            </a:gdLst>
            <a:ahLst/>
            <a:cxnLst>
              <a:cxn ang="0">
                <a:pos x="T0" y="T1"/>
              </a:cxn>
              <a:cxn ang="0">
                <a:pos x="T2" y="T3"/>
              </a:cxn>
              <a:cxn ang="0">
                <a:pos x="T4" y="T5"/>
              </a:cxn>
            </a:cxnLst>
            <a:rect l="0" t="0" r="r" b="b"/>
            <a:pathLst>
              <a:path w="23" h="33">
                <a:moveTo>
                  <a:pt x="0" y="33"/>
                </a:moveTo>
                <a:cubicBezTo>
                  <a:pt x="9" y="23"/>
                  <a:pt x="16" y="12"/>
                  <a:pt x="23" y="0"/>
                </a:cubicBezTo>
                <a:lnTo>
                  <a:pt x="0" y="33"/>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8" name="Freeform 17"/>
          <p:cNvSpPr>
            <a:spLocks noEditPoints="1"/>
          </p:cNvSpPr>
          <p:nvPr/>
        </p:nvSpPr>
        <p:spPr bwMode="auto">
          <a:xfrm>
            <a:off x="2499719" y="504917"/>
            <a:ext cx="4144562" cy="4140018"/>
          </a:xfrm>
          <a:custGeom>
            <a:avLst/>
            <a:gdLst>
              <a:gd name="T0" fmla="*/ 643 w 769"/>
              <a:gd name="T1" fmla="*/ 96 h 768"/>
              <a:gd name="T2" fmla="*/ 486 w 769"/>
              <a:gd name="T3" fmla="*/ 14 h 768"/>
              <a:gd name="T4" fmla="*/ 378 w 769"/>
              <a:gd name="T5" fmla="*/ 6 h 768"/>
              <a:gd name="T6" fmla="*/ 252 w 769"/>
              <a:gd name="T7" fmla="*/ 23 h 768"/>
              <a:gd name="T8" fmla="*/ 39 w 769"/>
              <a:gd name="T9" fmla="*/ 222 h 768"/>
              <a:gd name="T10" fmla="*/ 33 w 769"/>
              <a:gd name="T11" fmla="*/ 539 h 768"/>
              <a:gd name="T12" fmla="*/ 246 w 769"/>
              <a:gd name="T13" fmla="*/ 748 h 768"/>
              <a:gd name="T14" fmla="*/ 335 w 769"/>
              <a:gd name="T15" fmla="*/ 759 h 768"/>
              <a:gd name="T16" fmla="*/ 486 w 769"/>
              <a:gd name="T17" fmla="*/ 753 h 768"/>
              <a:gd name="T18" fmla="*/ 643 w 769"/>
              <a:gd name="T19" fmla="*/ 672 h 768"/>
              <a:gd name="T20" fmla="*/ 769 w 769"/>
              <a:gd name="T21" fmla="*/ 384 h 768"/>
              <a:gd name="T22" fmla="*/ 676 w 769"/>
              <a:gd name="T23" fmla="*/ 220 h 768"/>
              <a:gd name="T24" fmla="*/ 447 w 769"/>
              <a:gd name="T25" fmla="*/ 757 h 768"/>
              <a:gd name="T26" fmla="*/ 496 w 769"/>
              <a:gd name="T27" fmla="*/ 748 h 768"/>
              <a:gd name="T28" fmla="*/ 541 w 769"/>
              <a:gd name="T29" fmla="*/ 566 h 768"/>
              <a:gd name="T30" fmla="*/ 271 w 769"/>
              <a:gd name="T31" fmla="*/ 680 h 768"/>
              <a:gd name="T32" fmla="*/ 384 w 769"/>
              <a:gd name="T33" fmla="*/ 683 h 768"/>
              <a:gd name="T34" fmla="*/ 227 w 769"/>
              <a:gd name="T35" fmla="*/ 567 h 768"/>
              <a:gd name="T36" fmla="*/ 184 w 769"/>
              <a:gd name="T37" fmla="*/ 88 h 768"/>
              <a:gd name="T38" fmla="*/ 106 w 769"/>
              <a:gd name="T39" fmla="*/ 210 h 768"/>
              <a:gd name="T40" fmla="*/ 228 w 769"/>
              <a:gd name="T41" fmla="*/ 201 h 768"/>
              <a:gd name="T42" fmla="*/ 499 w 769"/>
              <a:gd name="T43" fmla="*/ 87 h 768"/>
              <a:gd name="T44" fmla="*/ 394 w 769"/>
              <a:gd name="T45" fmla="*/ 76 h 768"/>
              <a:gd name="T46" fmla="*/ 501 w 769"/>
              <a:gd name="T47" fmla="*/ 86 h 768"/>
              <a:gd name="T48" fmla="*/ 561 w 769"/>
              <a:gd name="T49" fmla="*/ 372 h 768"/>
              <a:gd name="T50" fmla="*/ 546 w 769"/>
              <a:gd name="T51" fmla="*/ 542 h 768"/>
              <a:gd name="T52" fmla="*/ 560 w 769"/>
              <a:gd name="T53" fmla="*/ 396 h 768"/>
              <a:gd name="T54" fmla="*/ 209 w 769"/>
              <a:gd name="T55" fmla="*/ 396 h 768"/>
              <a:gd name="T56" fmla="*/ 333 w 769"/>
              <a:gd name="T57" fmla="*/ 210 h 768"/>
              <a:gd name="T58" fmla="*/ 397 w 769"/>
              <a:gd name="T59" fmla="*/ 208 h 768"/>
              <a:gd name="T60" fmla="*/ 385 w 769"/>
              <a:gd name="T61" fmla="*/ 367 h 768"/>
              <a:gd name="T62" fmla="*/ 208 w 769"/>
              <a:gd name="T63" fmla="*/ 371 h 768"/>
              <a:gd name="T64" fmla="*/ 207 w 769"/>
              <a:gd name="T65" fmla="*/ 396 h 768"/>
              <a:gd name="T66" fmla="*/ 83 w 769"/>
              <a:gd name="T67" fmla="*/ 384 h 768"/>
              <a:gd name="T68" fmla="*/ 559 w 769"/>
              <a:gd name="T69" fmla="*/ 555 h 768"/>
              <a:gd name="T70" fmla="*/ 575 w 769"/>
              <a:gd name="T71" fmla="*/ 553 h 768"/>
              <a:gd name="T72" fmla="*/ 669 w 769"/>
              <a:gd name="T73" fmla="*/ 541 h 768"/>
              <a:gd name="T74" fmla="*/ 633 w 769"/>
              <a:gd name="T75" fmla="*/ 155 h 768"/>
              <a:gd name="T76" fmla="*/ 517 w 769"/>
              <a:gd name="T77" fmla="*/ 25 h 768"/>
              <a:gd name="T78" fmla="*/ 496 w 769"/>
              <a:gd name="T79" fmla="*/ 18 h 768"/>
              <a:gd name="T80" fmla="*/ 576 w 769"/>
              <a:gd name="T81" fmla="*/ 86 h 768"/>
              <a:gd name="T82" fmla="*/ 440 w 769"/>
              <a:gd name="T83" fmla="*/ 15 h 768"/>
              <a:gd name="T84" fmla="*/ 434 w 769"/>
              <a:gd name="T85" fmla="*/ 9 h 768"/>
              <a:gd name="T86" fmla="*/ 378 w 769"/>
              <a:gd name="T87" fmla="*/ 7 h 768"/>
              <a:gd name="T88" fmla="*/ 182 w 769"/>
              <a:gd name="T89" fmla="*/ 84 h 768"/>
              <a:gd name="T90" fmla="*/ 252 w 769"/>
              <a:gd name="T91" fmla="*/ 24 h 768"/>
              <a:gd name="T92" fmla="*/ 242 w 769"/>
              <a:gd name="T93" fmla="*/ 29 h 768"/>
              <a:gd name="T94" fmla="*/ 102 w 769"/>
              <a:gd name="T95" fmla="*/ 209 h 768"/>
              <a:gd name="T96" fmla="*/ 45 w 769"/>
              <a:gd name="T97" fmla="*/ 227 h 768"/>
              <a:gd name="T98" fmla="*/ 39 w 769"/>
              <a:gd name="T99" fmla="*/ 234 h 768"/>
              <a:gd name="T100" fmla="*/ 90 w 769"/>
              <a:gd name="T101" fmla="*/ 547 h 768"/>
              <a:gd name="T102" fmla="*/ 93 w 769"/>
              <a:gd name="T103" fmla="*/ 548 h 768"/>
              <a:gd name="T104" fmla="*/ 126 w 769"/>
              <a:gd name="T105" fmla="*/ 660 h 768"/>
              <a:gd name="T106" fmla="*/ 148 w 769"/>
              <a:gd name="T107" fmla="*/ 672 h 768"/>
              <a:gd name="T108" fmla="*/ 284 w 769"/>
              <a:gd name="T109" fmla="*/ 752 h 768"/>
              <a:gd name="T110" fmla="*/ 271 w 769"/>
              <a:gd name="T111" fmla="*/ 697 h 768"/>
              <a:gd name="T112" fmla="*/ 277 w 769"/>
              <a:gd name="T113" fmla="*/ 695 h 768"/>
              <a:gd name="T114" fmla="*/ 385 w 769"/>
              <a:gd name="T115" fmla="*/ 700 h 768"/>
              <a:gd name="T116" fmla="*/ 527 w 769"/>
              <a:gd name="T117" fmla="*/ 739 h 768"/>
              <a:gd name="T118" fmla="*/ 602 w 769"/>
              <a:gd name="T119" fmla="*/ 677 h 768"/>
              <a:gd name="T120" fmla="*/ 602 w 769"/>
              <a:gd name="T121" fmla="*/ 676 h 768"/>
              <a:gd name="T122" fmla="*/ 645 w 769"/>
              <a:gd name="T123" fmla="*/ 661 h 768"/>
              <a:gd name="T124" fmla="*/ 695 w 769"/>
              <a:gd name="T125" fmla="*/ 393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69" h="768">
                <a:moveTo>
                  <a:pt x="763" y="378"/>
                </a:moveTo>
                <a:cubicBezTo>
                  <a:pt x="762" y="378"/>
                  <a:pt x="762" y="378"/>
                  <a:pt x="762" y="378"/>
                </a:cubicBezTo>
                <a:cubicBezTo>
                  <a:pt x="732" y="234"/>
                  <a:pt x="732" y="234"/>
                  <a:pt x="732" y="234"/>
                </a:cubicBezTo>
                <a:cubicBezTo>
                  <a:pt x="734" y="234"/>
                  <a:pt x="736" y="231"/>
                  <a:pt x="736" y="228"/>
                </a:cubicBezTo>
                <a:cubicBezTo>
                  <a:pt x="736" y="225"/>
                  <a:pt x="734" y="222"/>
                  <a:pt x="730" y="222"/>
                </a:cubicBezTo>
                <a:cubicBezTo>
                  <a:pt x="729" y="222"/>
                  <a:pt x="728" y="223"/>
                  <a:pt x="727" y="223"/>
                </a:cubicBezTo>
                <a:cubicBezTo>
                  <a:pt x="646" y="106"/>
                  <a:pt x="646" y="106"/>
                  <a:pt x="646" y="106"/>
                </a:cubicBezTo>
                <a:cubicBezTo>
                  <a:pt x="648" y="105"/>
                  <a:pt x="649" y="103"/>
                  <a:pt x="649" y="101"/>
                </a:cubicBezTo>
                <a:cubicBezTo>
                  <a:pt x="649" y="98"/>
                  <a:pt x="646" y="96"/>
                  <a:pt x="643" y="96"/>
                </a:cubicBezTo>
                <a:cubicBezTo>
                  <a:pt x="641" y="96"/>
                  <a:pt x="639" y="97"/>
                  <a:pt x="638" y="98"/>
                </a:cubicBezTo>
                <a:cubicBezTo>
                  <a:pt x="528" y="28"/>
                  <a:pt x="528" y="28"/>
                  <a:pt x="528" y="28"/>
                </a:cubicBezTo>
                <a:cubicBezTo>
                  <a:pt x="528" y="27"/>
                  <a:pt x="529" y="26"/>
                  <a:pt x="529" y="25"/>
                </a:cubicBezTo>
                <a:cubicBezTo>
                  <a:pt x="529" y="22"/>
                  <a:pt x="526" y="19"/>
                  <a:pt x="523" y="19"/>
                </a:cubicBezTo>
                <a:cubicBezTo>
                  <a:pt x="520" y="19"/>
                  <a:pt x="518" y="21"/>
                  <a:pt x="517" y="23"/>
                </a:cubicBezTo>
                <a:cubicBezTo>
                  <a:pt x="497" y="17"/>
                  <a:pt x="497" y="17"/>
                  <a:pt x="497" y="17"/>
                </a:cubicBezTo>
                <a:cubicBezTo>
                  <a:pt x="497" y="16"/>
                  <a:pt x="497" y="15"/>
                  <a:pt x="497" y="15"/>
                </a:cubicBezTo>
                <a:cubicBezTo>
                  <a:pt x="497" y="12"/>
                  <a:pt x="495" y="9"/>
                  <a:pt x="492" y="9"/>
                </a:cubicBezTo>
                <a:cubicBezTo>
                  <a:pt x="489" y="9"/>
                  <a:pt x="486" y="11"/>
                  <a:pt x="486" y="14"/>
                </a:cubicBezTo>
                <a:cubicBezTo>
                  <a:pt x="446" y="10"/>
                  <a:pt x="446" y="10"/>
                  <a:pt x="446" y="10"/>
                </a:cubicBezTo>
                <a:cubicBezTo>
                  <a:pt x="446" y="9"/>
                  <a:pt x="446" y="9"/>
                  <a:pt x="446" y="9"/>
                </a:cubicBezTo>
                <a:cubicBezTo>
                  <a:pt x="446" y="6"/>
                  <a:pt x="443" y="3"/>
                  <a:pt x="440" y="3"/>
                </a:cubicBezTo>
                <a:cubicBezTo>
                  <a:pt x="437" y="3"/>
                  <a:pt x="434" y="5"/>
                  <a:pt x="434" y="9"/>
                </a:cubicBezTo>
                <a:cubicBezTo>
                  <a:pt x="390" y="6"/>
                  <a:pt x="390" y="6"/>
                  <a:pt x="390" y="6"/>
                </a:cubicBezTo>
                <a:cubicBezTo>
                  <a:pt x="390" y="6"/>
                  <a:pt x="390" y="6"/>
                  <a:pt x="390" y="6"/>
                </a:cubicBezTo>
                <a:cubicBezTo>
                  <a:pt x="390" y="2"/>
                  <a:pt x="387" y="0"/>
                  <a:pt x="384" y="0"/>
                </a:cubicBezTo>
                <a:cubicBezTo>
                  <a:pt x="381" y="0"/>
                  <a:pt x="378" y="2"/>
                  <a:pt x="378" y="6"/>
                </a:cubicBezTo>
                <a:cubicBezTo>
                  <a:pt x="378" y="6"/>
                  <a:pt x="378" y="6"/>
                  <a:pt x="378" y="6"/>
                </a:cubicBezTo>
                <a:cubicBezTo>
                  <a:pt x="335" y="9"/>
                  <a:pt x="335" y="9"/>
                  <a:pt x="335" y="9"/>
                </a:cubicBezTo>
                <a:cubicBezTo>
                  <a:pt x="334" y="6"/>
                  <a:pt x="332" y="3"/>
                  <a:pt x="329" y="3"/>
                </a:cubicBezTo>
                <a:cubicBezTo>
                  <a:pt x="325" y="3"/>
                  <a:pt x="323" y="6"/>
                  <a:pt x="323" y="9"/>
                </a:cubicBezTo>
                <a:cubicBezTo>
                  <a:pt x="323" y="9"/>
                  <a:pt x="323" y="9"/>
                  <a:pt x="323" y="10"/>
                </a:cubicBezTo>
                <a:cubicBezTo>
                  <a:pt x="283" y="14"/>
                  <a:pt x="283" y="14"/>
                  <a:pt x="283" y="14"/>
                </a:cubicBezTo>
                <a:cubicBezTo>
                  <a:pt x="283" y="11"/>
                  <a:pt x="281" y="9"/>
                  <a:pt x="278" y="9"/>
                </a:cubicBezTo>
                <a:cubicBezTo>
                  <a:pt x="274" y="9"/>
                  <a:pt x="272" y="12"/>
                  <a:pt x="272" y="15"/>
                </a:cubicBezTo>
                <a:cubicBezTo>
                  <a:pt x="272" y="15"/>
                  <a:pt x="272" y="16"/>
                  <a:pt x="272" y="17"/>
                </a:cubicBezTo>
                <a:cubicBezTo>
                  <a:pt x="252" y="23"/>
                  <a:pt x="252" y="23"/>
                  <a:pt x="252" y="23"/>
                </a:cubicBezTo>
                <a:cubicBezTo>
                  <a:pt x="251" y="21"/>
                  <a:pt x="249" y="19"/>
                  <a:pt x="246" y="19"/>
                </a:cubicBezTo>
                <a:cubicBezTo>
                  <a:pt x="243" y="19"/>
                  <a:pt x="241" y="22"/>
                  <a:pt x="241" y="25"/>
                </a:cubicBezTo>
                <a:cubicBezTo>
                  <a:pt x="241" y="26"/>
                  <a:pt x="241" y="27"/>
                  <a:pt x="241" y="28"/>
                </a:cubicBezTo>
                <a:cubicBezTo>
                  <a:pt x="131" y="98"/>
                  <a:pt x="131" y="98"/>
                  <a:pt x="131" y="98"/>
                </a:cubicBezTo>
                <a:cubicBezTo>
                  <a:pt x="130" y="97"/>
                  <a:pt x="128" y="96"/>
                  <a:pt x="126" y="96"/>
                </a:cubicBezTo>
                <a:cubicBezTo>
                  <a:pt x="123" y="96"/>
                  <a:pt x="120" y="98"/>
                  <a:pt x="120" y="101"/>
                </a:cubicBezTo>
                <a:cubicBezTo>
                  <a:pt x="120" y="103"/>
                  <a:pt x="121" y="105"/>
                  <a:pt x="123" y="106"/>
                </a:cubicBezTo>
                <a:cubicBezTo>
                  <a:pt x="42" y="223"/>
                  <a:pt x="42" y="223"/>
                  <a:pt x="42" y="223"/>
                </a:cubicBezTo>
                <a:cubicBezTo>
                  <a:pt x="41" y="222"/>
                  <a:pt x="40" y="222"/>
                  <a:pt x="39" y="222"/>
                </a:cubicBezTo>
                <a:cubicBezTo>
                  <a:pt x="36" y="222"/>
                  <a:pt x="33" y="224"/>
                  <a:pt x="33" y="228"/>
                </a:cubicBezTo>
                <a:cubicBezTo>
                  <a:pt x="33" y="231"/>
                  <a:pt x="35" y="233"/>
                  <a:pt x="38" y="233"/>
                </a:cubicBezTo>
                <a:cubicBezTo>
                  <a:pt x="7" y="378"/>
                  <a:pt x="7" y="378"/>
                  <a:pt x="7" y="378"/>
                </a:cubicBezTo>
                <a:cubicBezTo>
                  <a:pt x="7" y="378"/>
                  <a:pt x="7" y="378"/>
                  <a:pt x="6" y="378"/>
                </a:cubicBezTo>
                <a:cubicBezTo>
                  <a:pt x="3" y="378"/>
                  <a:pt x="0" y="381"/>
                  <a:pt x="0" y="384"/>
                </a:cubicBezTo>
                <a:cubicBezTo>
                  <a:pt x="0" y="387"/>
                  <a:pt x="3" y="390"/>
                  <a:pt x="6" y="390"/>
                </a:cubicBezTo>
                <a:cubicBezTo>
                  <a:pt x="7" y="390"/>
                  <a:pt x="7" y="390"/>
                  <a:pt x="8" y="390"/>
                </a:cubicBezTo>
                <a:cubicBezTo>
                  <a:pt x="38" y="534"/>
                  <a:pt x="38" y="534"/>
                  <a:pt x="38" y="534"/>
                </a:cubicBezTo>
                <a:cubicBezTo>
                  <a:pt x="35" y="534"/>
                  <a:pt x="33" y="537"/>
                  <a:pt x="33" y="539"/>
                </a:cubicBezTo>
                <a:cubicBezTo>
                  <a:pt x="33" y="543"/>
                  <a:pt x="36" y="545"/>
                  <a:pt x="39" y="545"/>
                </a:cubicBezTo>
                <a:cubicBezTo>
                  <a:pt x="40" y="545"/>
                  <a:pt x="41" y="545"/>
                  <a:pt x="42" y="544"/>
                </a:cubicBezTo>
                <a:cubicBezTo>
                  <a:pt x="123" y="661"/>
                  <a:pt x="123" y="661"/>
                  <a:pt x="123" y="661"/>
                </a:cubicBezTo>
                <a:cubicBezTo>
                  <a:pt x="122" y="662"/>
                  <a:pt x="121" y="664"/>
                  <a:pt x="121" y="666"/>
                </a:cubicBezTo>
                <a:cubicBezTo>
                  <a:pt x="121" y="669"/>
                  <a:pt x="123" y="672"/>
                  <a:pt x="126" y="672"/>
                </a:cubicBezTo>
                <a:cubicBezTo>
                  <a:pt x="129" y="672"/>
                  <a:pt x="130" y="671"/>
                  <a:pt x="131" y="669"/>
                </a:cubicBezTo>
                <a:cubicBezTo>
                  <a:pt x="241" y="739"/>
                  <a:pt x="241" y="739"/>
                  <a:pt x="241" y="739"/>
                </a:cubicBezTo>
                <a:cubicBezTo>
                  <a:pt x="241" y="740"/>
                  <a:pt x="240" y="741"/>
                  <a:pt x="240" y="742"/>
                </a:cubicBezTo>
                <a:cubicBezTo>
                  <a:pt x="240" y="746"/>
                  <a:pt x="243" y="748"/>
                  <a:pt x="246" y="748"/>
                </a:cubicBezTo>
                <a:cubicBezTo>
                  <a:pt x="249" y="748"/>
                  <a:pt x="251" y="746"/>
                  <a:pt x="252" y="744"/>
                </a:cubicBezTo>
                <a:cubicBezTo>
                  <a:pt x="272" y="751"/>
                  <a:pt x="272" y="751"/>
                  <a:pt x="272" y="751"/>
                </a:cubicBezTo>
                <a:cubicBezTo>
                  <a:pt x="272" y="751"/>
                  <a:pt x="272" y="751"/>
                  <a:pt x="272" y="752"/>
                </a:cubicBezTo>
                <a:cubicBezTo>
                  <a:pt x="272" y="755"/>
                  <a:pt x="275" y="757"/>
                  <a:pt x="278" y="757"/>
                </a:cubicBezTo>
                <a:cubicBezTo>
                  <a:pt x="281" y="757"/>
                  <a:pt x="283" y="756"/>
                  <a:pt x="283" y="753"/>
                </a:cubicBezTo>
                <a:cubicBezTo>
                  <a:pt x="323" y="758"/>
                  <a:pt x="323" y="758"/>
                  <a:pt x="323" y="758"/>
                </a:cubicBezTo>
                <a:cubicBezTo>
                  <a:pt x="323" y="758"/>
                  <a:pt x="323" y="758"/>
                  <a:pt x="323" y="758"/>
                </a:cubicBezTo>
                <a:cubicBezTo>
                  <a:pt x="323" y="762"/>
                  <a:pt x="326" y="764"/>
                  <a:pt x="329" y="764"/>
                </a:cubicBezTo>
                <a:cubicBezTo>
                  <a:pt x="332" y="764"/>
                  <a:pt x="335" y="762"/>
                  <a:pt x="335" y="759"/>
                </a:cubicBezTo>
                <a:cubicBezTo>
                  <a:pt x="379" y="761"/>
                  <a:pt x="379" y="761"/>
                  <a:pt x="379" y="761"/>
                </a:cubicBezTo>
                <a:cubicBezTo>
                  <a:pt x="379" y="761"/>
                  <a:pt x="379" y="762"/>
                  <a:pt x="379" y="762"/>
                </a:cubicBezTo>
                <a:cubicBezTo>
                  <a:pt x="379" y="765"/>
                  <a:pt x="381" y="768"/>
                  <a:pt x="385" y="768"/>
                </a:cubicBezTo>
                <a:cubicBezTo>
                  <a:pt x="388" y="768"/>
                  <a:pt x="390" y="765"/>
                  <a:pt x="390" y="762"/>
                </a:cubicBezTo>
                <a:cubicBezTo>
                  <a:pt x="390" y="762"/>
                  <a:pt x="390" y="761"/>
                  <a:pt x="390" y="761"/>
                </a:cubicBezTo>
                <a:cubicBezTo>
                  <a:pt x="435" y="759"/>
                  <a:pt x="435" y="759"/>
                  <a:pt x="435" y="759"/>
                </a:cubicBezTo>
                <a:cubicBezTo>
                  <a:pt x="436" y="761"/>
                  <a:pt x="438" y="763"/>
                  <a:pt x="441" y="763"/>
                </a:cubicBezTo>
                <a:cubicBezTo>
                  <a:pt x="444" y="763"/>
                  <a:pt x="447" y="761"/>
                  <a:pt x="447" y="758"/>
                </a:cubicBezTo>
                <a:cubicBezTo>
                  <a:pt x="486" y="753"/>
                  <a:pt x="486" y="753"/>
                  <a:pt x="486" y="753"/>
                </a:cubicBezTo>
                <a:cubicBezTo>
                  <a:pt x="486" y="756"/>
                  <a:pt x="489" y="758"/>
                  <a:pt x="492" y="758"/>
                </a:cubicBezTo>
                <a:cubicBezTo>
                  <a:pt x="495" y="758"/>
                  <a:pt x="497" y="756"/>
                  <a:pt x="497" y="752"/>
                </a:cubicBezTo>
                <a:cubicBezTo>
                  <a:pt x="497" y="752"/>
                  <a:pt x="497" y="751"/>
                  <a:pt x="497" y="751"/>
                </a:cubicBezTo>
                <a:cubicBezTo>
                  <a:pt x="517" y="744"/>
                  <a:pt x="517" y="744"/>
                  <a:pt x="517" y="744"/>
                </a:cubicBezTo>
                <a:cubicBezTo>
                  <a:pt x="518" y="747"/>
                  <a:pt x="520" y="748"/>
                  <a:pt x="523" y="748"/>
                </a:cubicBezTo>
                <a:cubicBezTo>
                  <a:pt x="526" y="748"/>
                  <a:pt x="529" y="746"/>
                  <a:pt x="529" y="742"/>
                </a:cubicBezTo>
                <a:cubicBezTo>
                  <a:pt x="529" y="741"/>
                  <a:pt x="528" y="740"/>
                  <a:pt x="528" y="739"/>
                </a:cubicBezTo>
                <a:cubicBezTo>
                  <a:pt x="638" y="669"/>
                  <a:pt x="638" y="669"/>
                  <a:pt x="638" y="669"/>
                </a:cubicBezTo>
                <a:cubicBezTo>
                  <a:pt x="639" y="671"/>
                  <a:pt x="641" y="672"/>
                  <a:pt x="643" y="672"/>
                </a:cubicBezTo>
                <a:cubicBezTo>
                  <a:pt x="646" y="672"/>
                  <a:pt x="649" y="669"/>
                  <a:pt x="649" y="666"/>
                </a:cubicBezTo>
                <a:cubicBezTo>
                  <a:pt x="649" y="664"/>
                  <a:pt x="648" y="662"/>
                  <a:pt x="646" y="661"/>
                </a:cubicBezTo>
                <a:cubicBezTo>
                  <a:pt x="726" y="545"/>
                  <a:pt x="726" y="545"/>
                  <a:pt x="726" y="545"/>
                </a:cubicBezTo>
                <a:cubicBezTo>
                  <a:pt x="727" y="546"/>
                  <a:pt x="728" y="546"/>
                  <a:pt x="729" y="546"/>
                </a:cubicBezTo>
                <a:cubicBezTo>
                  <a:pt x="732" y="546"/>
                  <a:pt x="735" y="543"/>
                  <a:pt x="735" y="540"/>
                </a:cubicBezTo>
                <a:cubicBezTo>
                  <a:pt x="735" y="537"/>
                  <a:pt x="733" y="535"/>
                  <a:pt x="731" y="535"/>
                </a:cubicBezTo>
                <a:cubicBezTo>
                  <a:pt x="762" y="390"/>
                  <a:pt x="762" y="390"/>
                  <a:pt x="762" y="390"/>
                </a:cubicBezTo>
                <a:cubicBezTo>
                  <a:pt x="762" y="390"/>
                  <a:pt x="762" y="390"/>
                  <a:pt x="763" y="390"/>
                </a:cubicBezTo>
                <a:cubicBezTo>
                  <a:pt x="766" y="390"/>
                  <a:pt x="769" y="387"/>
                  <a:pt x="769" y="384"/>
                </a:cubicBezTo>
                <a:cubicBezTo>
                  <a:pt x="769" y="381"/>
                  <a:pt x="766" y="378"/>
                  <a:pt x="763" y="378"/>
                </a:cubicBezTo>
                <a:close/>
                <a:moveTo>
                  <a:pt x="761" y="378"/>
                </a:moveTo>
                <a:cubicBezTo>
                  <a:pt x="759" y="379"/>
                  <a:pt x="757" y="381"/>
                  <a:pt x="757" y="383"/>
                </a:cubicBezTo>
                <a:cubicBezTo>
                  <a:pt x="703" y="383"/>
                  <a:pt x="703" y="383"/>
                  <a:pt x="703" y="383"/>
                </a:cubicBezTo>
                <a:cubicBezTo>
                  <a:pt x="703" y="379"/>
                  <a:pt x="699" y="375"/>
                  <a:pt x="695" y="375"/>
                </a:cubicBezTo>
                <a:cubicBezTo>
                  <a:pt x="695" y="375"/>
                  <a:pt x="694" y="376"/>
                  <a:pt x="694" y="376"/>
                </a:cubicBezTo>
                <a:cubicBezTo>
                  <a:pt x="690" y="349"/>
                  <a:pt x="690" y="349"/>
                  <a:pt x="690" y="349"/>
                </a:cubicBezTo>
                <a:cubicBezTo>
                  <a:pt x="670" y="226"/>
                  <a:pt x="670" y="226"/>
                  <a:pt x="670" y="226"/>
                </a:cubicBezTo>
                <a:cubicBezTo>
                  <a:pt x="673" y="226"/>
                  <a:pt x="676" y="223"/>
                  <a:pt x="676" y="220"/>
                </a:cubicBezTo>
                <a:cubicBezTo>
                  <a:pt x="680" y="220"/>
                  <a:pt x="680" y="220"/>
                  <a:pt x="680" y="220"/>
                </a:cubicBezTo>
                <a:cubicBezTo>
                  <a:pt x="725" y="227"/>
                  <a:pt x="725" y="227"/>
                  <a:pt x="725" y="227"/>
                </a:cubicBezTo>
                <a:cubicBezTo>
                  <a:pt x="724" y="228"/>
                  <a:pt x="724" y="228"/>
                  <a:pt x="724" y="228"/>
                </a:cubicBezTo>
                <a:cubicBezTo>
                  <a:pt x="724" y="232"/>
                  <a:pt x="727" y="234"/>
                  <a:pt x="730" y="234"/>
                </a:cubicBezTo>
                <a:cubicBezTo>
                  <a:pt x="730" y="234"/>
                  <a:pt x="731" y="234"/>
                  <a:pt x="731" y="234"/>
                </a:cubicBezTo>
                <a:lnTo>
                  <a:pt x="761" y="378"/>
                </a:lnTo>
                <a:close/>
                <a:moveTo>
                  <a:pt x="492" y="747"/>
                </a:moveTo>
                <a:cubicBezTo>
                  <a:pt x="488" y="747"/>
                  <a:pt x="486" y="749"/>
                  <a:pt x="486" y="752"/>
                </a:cubicBezTo>
                <a:cubicBezTo>
                  <a:pt x="447" y="757"/>
                  <a:pt x="447" y="757"/>
                  <a:pt x="447" y="757"/>
                </a:cubicBezTo>
                <a:cubicBezTo>
                  <a:pt x="446" y="755"/>
                  <a:pt x="446" y="754"/>
                  <a:pt x="445" y="753"/>
                </a:cubicBezTo>
                <a:cubicBezTo>
                  <a:pt x="494" y="695"/>
                  <a:pt x="494" y="695"/>
                  <a:pt x="494" y="695"/>
                </a:cubicBezTo>
                <a:cubicBezTo>
                  <a:pt x="495" y="696"/>
                  <a:pt x="497" y="696"/>
                  <a:pt x="499" y="696"/>
                </a:cubicBezTo>
                <a:cubicBezTo>
                  <a:pt x="504" y="696"/>
                  <a:pt x="507" y="693"/>
                  <a:pt x="507" y="688"/>
                </a:cubicBezTo>
                <a:cubicBezTo>
                  <a:pt x="507" y="688"/>
                  <a:pt x="507" y="688"/>
                  <a:pt x="507" y="688"/>
                </a:cubicBezTo>
                <a:cubicBezTo>
                  <a:pt x="584" y="680"/>
                  <a:pt x="584" y="680"/>
                  <a:pt x="584" y="680"/>
                </a:cubicBezTo>
                <a:cubicBezTo>
                  <a:pt x="586" y="680"/>
                  <a:pt x="586" y="680"/>
                  <a:pt x="586" y="680"/>
                </a:cubicBezTo>
                <a:cubicBezTo>
                  <a:pt x="586" y="681"/>
                  <a:pt x="586" y="682"/>
                  <a:pt x="587" y="683"/>
                </a:cubicBezTo>
                <a:cubicBezTo>
                  <a:pt x="496" y="748"/>
                  <a:pt x="496" y="748"/>
                  <a:pt x="496" y="748"/>
                </a:cubicBezTo>
                <a:cubicBezTo>
                  <a:pt x="495" y="747"/>
                  <a:pt x="493" y="747"/>
                  <a:pt x="492" y="747"/>
                </a:cubicBezTo>
                <a:close/>
                <a:moveTo>
                  <a:pt x="393" y="691"/>
                </a:moveTo>
                <a:cubicBezTo>
                  <a:pt x="393" y="687"/>
                  <a:pt x="389" y="683"/>
                  <a:pt x="385" y="683"/>
                </a:cubicBezTo>
                <a:cubicBezTo>
                  <a:pt x="385" y="572"/>
                  <a:pt x="385" y="572"/>
                  <a:pt x="385" y="572"/>
                </a:cubicBezTo>
                <a:cubicBezTo>
                  <a:pt x="392" y="572"/>
                  <a:pt x="397" y="567"/>
                  <a:pt x="397" y="560"/>
                </a:cubicBezTo>
                <a:cubicBezTo>
                  <a:pt x="397" y="560"/>
                  <a:pt x="397" y="560"/>
                  <a:pt x="397" y="560"/>
                </a:cubicBezTo>
                <a:cubicBezTo>
                  <a:pt x="493" y="557"/>
                  <a:pt x="493" y="557"/>
                  <a:pt x="493" y="557"/>
                </a:cubicBezTo>
                <a:cubicBezTo>
                  <a:pt x="534" y="556"/>
                  <a:pt x="534" y="556"/>
                  <a:pt x="534" y="556"/>
                </a:cubicBezTo>
                <a:cubicBezTo>
                  <a:pt x="534" y="561"/>
                  <a:pt x="537" y="565"/>
                  <a:pt x="541" y="566"/>
                </a:cubicBezTo>
                <a:cubicBezTo>
                  <a:pt x="501" y="680"/>
                  <a:pt x="501" y="680"/>
                  <a:pt x="501" y="680"/>
                </a:cubicBezTo>
                <a:cubicBezTo>
                  <a:pt x="500" y="679"/>
                  <a:pt x="500" y="679"/>
                  <a:pt x="499" y="679"/>
                </a:cubicBezTo>
                <a:cubicBezTo>
                  <a:pt x="494" y="679"/>
                  <a:pt x="490" y="683"/>
                  <a:pt x="490" y="688"/>
                </a:cubicBezTo>
                <a:cubicBezTo>
                  <a:pt x="490" y="688"/>
                  <a:pt x="490" y="688"/>
                  <a:pt x="490" y="688"/>
                </a:cubicBezTo>
                <a:cubicBezTo>
                  <a:pt x="486" y="688"/>
                  <a:pt x="486" y="688"/>
                  <a:pt x="486" y="688"/>
                </a:cubicBezTo>
                <a:lnTo>
                  <a:pt x="393" y="691"/>
                </a:lnTo>
                <a:close/>
                <a:moveTo>
                  <a:pt x="376" y="691"/>
                </a:moveTo>
                <a:cubicBezTo>
                  <a:pt x="279" y="688"/>
                  <a:pt x="279" y="688"/>
                  <a:pt x="279" y="688"/>
                </a:cubicBezTo>
                <a:cubicBezTo>
                  <a:pt x="279" y="684"/>
                  <a:pt x="275" y="680"/>
                  <a:pt x="271" y="680"/>
                </a:cubicBezTo>
                <a:cubicBezTo>
                  <a:pt x="270" y="680"/>
                  <a:pt x="269" y="680"/>
                  <a:pt x="269" y="681"/>
                </a:cubicBezTo>
                <a:cubicBezTo>
                  <a:pt x="255" y="642"/>
                  <a:pt x="255" y="642"/>
                  <a:pt x="255" y="642"/>
                </a:cubicBezTo>
                <a:cubicBezTo>
                  <a:pt x="228" y="567"/>
                  <a:pt x="228" y="567"/>
                  <a:pt x="228" y="567"/>
                </a:cubicBezTo>
                <a:cubicBezTo>
                  <a:pt x="232" y="565"/>
                  <a:pt x="236" y="561"/>
                  <a:pt x="236" y="556"/>
                </a:cubicBezTo>
                <a:cubicBezTo>
                  <a:pt x="296" y="558"/>
                  <a:pt x="296" y="558"/>
                  <a:pt x="296" y="558"/>
                </a:cubicBezTo>
                <a:cubicBezTo>
                  <a:pt x="372" y="560"/>
                  <a:pt x="372" y="560"/>
                  <a:pt x="372" y="560"/>
                </a:cubicBezTo>
                <a:cubicBezTo>
                  <a:pt x="372" y="560"/>
                  <a:pt x="372" y="560"/>
                  <a:pt x="372" y="560"/>
                </a:cubicBezTo>
                <a:cubicBezTo>
                  <a:pt x="372" y="567"/>
                  <a:pt x="377" y="572"/>
                  <a:pt x="384" y="572"/>
                </a:cubicBezTo>
                <a:cubicBezTo>
                  <a:pt x="384" y="683"/>
                  <a:pt x="384" y="683"/>
                  <a:pt x="384" y="683"/>
                </a:cubicBezTo>
                <a:cubicBezTo>
                  <a:pt x="380" y="683"/>
                  <a:pt x="376" y="686"/>
                  <a:pt x="376" y="691"/>
                </a:cubicBezTo>
                <a:close/>
                <a:moveTo>
                  <a:pt x="175" y="671"/>
                </a:moveTo>
                <a:cubicBezTo>
                  <a:pt x="174" y="671"/>
                  <a:pt x="173" y="671"/>
                  <a:pt x="172" y="672"/>
                </a:cubicBezTo>
                <a:cubicBezTo>
                  <a:pt x="106" y="556"/>
                  <a:pt x="106" y="556"/>
                  <a:pt x="106" y="556"/>
                </a:cubicBezTo>
                <a:cubicBezTo>
                  <a:pt x="108" y="555"/>
                  <a:pt x="110" y="553"/>
                  <a:pt x="110" y="550"/>
                </a:cubicBezTo>
                <a:cubicBezTo>
                  <a:pt x="160" y="553"/>
                  <a:pt x="160" y="553"/>
                  <a:pt x="160" y="553"/>
                </a:cubicBezTo>
                <a:cubicBezTo>
                  <a:pt x="211" y="555"/>
                  <a:pt x="211" y="555"/>
                  <a:pt x="211" y="555"/>
                </a:cubicBezTo>
                <a:cubicBezTo>
                  <a:pt x="211" y="562"/>
                  <a:pt x="217" y="567"/>
                  <a:pt x="224" y="567"/>
                </a:cubicBezTo>
                <a:cubicBezTo>
                  <a:pt x="225" y="567"/>
                  <a:pt x="226" y="567"/>
                  <a:pt x="227" y="567"/>
                </a:cubicBezTo>
                <a:cubicBezTo>
                  <a:pt x="268" y="681"/>
                  <a:pt x="268" y="681"/>
                  <a:pt x="268" y="681"/>
                </a:cubicBezTo>
                <a:cubicBezTo>
                  <a:pt x="265" y="682"/>
                  <a:pt x="263" y="684"/>
                  <a:pt x="262" y="687"/>
                </a:cubicBezTo>
                <a:cubicBezTo>
                  <a:pt x="193" y="680"/>
                  <a:pt x="193" y="680"/>
                  <a:pt x="193" y="680"/>
                </a:cubicBezTo>
                <a:cubicBezTo>
                  <a:pt x="184" y="679"/>
                  <a:pt x="184" y="679"/>
                  <a:pt x="184" y="679"/>
                </a:cubicBezTo>
                <a:cubicBezTo>
                  <a:pt x="184" y="679"/>
                  <a:pt x="184" y="679"/>
                  <a:pt x="184" y="679"/>
                </a:cubicBezTo>
                <a:cubicBezTo>
                  <a:pt x="184" y="675"/>
                  <a:pt x="180" y="671"/>
                  <a:pt x="175" y="671"/>
                </a:cubicBezTo>
                <a:close/>
                <a:moveTo>
                  <a:pt x="176" y="97"/>
                </a:moveTo>
                <a:cubicBezTo>
                  <a:pt x="180" y="97"/>
                  <a:pt x="184" y="93"/>
                  <a:pt x="184" y="89"/>
                </a:cubicBezTo>
                <a:cubicBezTo>
                  <a:pt x="184" y="88"/>
                  <a:pt x="184" y="88"/>
                  <a:pt x="184" y="88"/>
                </a:cubicBezTo>
                <a:cubicBezTo>
                  <a:pt x="262" y="80"/>
                  <a:pt x="262" y="80"/>
                  <a:pt x="262" y="80"/>
                </a:cubicBezTo>
                <a:cubicBezTo>
                  <a:pt x="262" y="83"/>
                  <a:pt x="264" y="86"/>
                  <a:pt x="267" y="87"/>
                </a:cubicBezTo>
                <a:cubicBezTo>
                  <a:pt x="229" y="194"/>
                  <a:pt x="229" y="194"/>
                  <a:pt x="229" y="194"/>
                </a:cubicBezTo>
                <a:cubicBezTo>
                  <a:pt x="227" y="201"/>
                  <a:pt x="227" y="201"/>
                  <a:pt x="227" y="201"/>
                </a:cubicBezTo>
                <a:cubicBezTo>
                  <a:pt x="226" y="200"/>
                  <a:pt x="224" y="200"/>
                  <a:pt x="223" y="200"/>
                </a:cubicBezTo>
                <a:cubicBezTo>
                  <a:pt x="216" y="200"/>
                  <a:pt x="210" y="205"/>
                  <a:pt x="210" y="212"/>
                </a:cubicBezTo>
                <a:cubicBezTo>
                  <a:pt x="160" y="215"/>
                  <a:pt x="160" y="215"/>
                  <a:pt x="160" y="215"/>
                </a:cubicBezTo>
                <a:cubicBezTo>
                  <a:pt x="110" y="217"/>
                  <a:pt x="110" y="217"/>
                  <a:pt x="110" y="217"/>
                </a:cubicBezTo>
                <a:cubicBezTo>
                  <a:pt x="110" y="214"/>
                  <a:pt x="109" y="211"/>
                  <a:pt x="106" y="210"/>
                </a:cubicBezTo>
                <a:cubicBezTo>
                  <a:pt x="171" y="96"/>
                  <a:pt x="171" y="96"/>
                  <a:pt x="171" y="96"/>
                </a:cubicBezTo>
                <a:cubicBezTo>
                  <a:pt x="173" y="97"/>
                  <a:pt x="174" y="97"/>
                  <a:pt x="176" y="97"/>
                </a:cubicBezTo>
                <a:close/>
                <a:moveTo>
                  <a:pt x="376" y="76"/>
                </a:moveTo>
                <a:cubicBezTo>
                  <a:pt x="377" y="80"/>
                  <a:pt x="380" y="84"/>
                  <a:pt x="384" y="84"/>
                </a:cubicBezTo>
                <a:cubicBezTo>
                  <a:pt x="384" y="196"/>
                  <a:pt x="384" y="196"/>
                  <a:pt x="384" y="196"/>
                </a:cubicBezTo>
                <a:cubicBezTo>
                  <a:pt x="377" y="196"/>
                  <a:pt x="372" y="201"/>
                  <a:pt x="372" y="208"/>
                </a:cubicBezTo>
                <a:cubicBezTo>
                  <a:pt x="276" y="210"/>
                  <a:pt x="276" y="210"/>
                  <a:pt x="276" y="210"/>
                </a:cubicBezTo>
                <a:cubicBezTo>
                  <a:pt x="235" y="211"/>
                  <a:pt x="235" y="211"/>
                  <a:pt x="235" y="211"/>
                </a:cubicBezTo>
                <a:cubicBezTo>
                  <a:pt x="235" y="207"/>
                  <a:pt x="232" y="203"/>
                  <a:pt x="228" y="201"/>
                </a:cubicBezTo>
                <a:cubicBezTo>
                  <a:pt x="268" y="88"/>
                  <a:pt x="268" y="88"/>
                  <a:pt x="268" y="88"/>
                </a:cubicBezTo>
                <a:cubicBezTo>
                  <a:pt x="269" y="88"/>
                  <a:pt x="270" y="88"/>
                  <a:pt x="270" y="88"/>
                </a:cubicBezTo>
                <a:cubicBezTo>
                  <a:pt x="275" y="88"/>
                  <a:pt x="279" y="84"/>
                  <a:pt x="279" y="79"/>
                </a:cubicBezTo>
                <a:cubicBezTo>
                  <a:pt x="279" y="79"/>
                  <a:pt x="279" y="79"/>
                  <a:pt x="279" y="79"/>
                </a:cubicBezTo>
                <a:cubicBezTo>
                  <a:pt x="283" y="79"/>
                  <a:pt x="283" y="79"/>
                  <a:pt x="283" y="79"/>
                </a:cubicBezTo>
                <a:lnTo>
                  <a:pt x="376" y="76"/>
                </a:lnTo>
                <a:close/>
                <a:moveTo>
                  <a:pt x="394" y="76"/>
                </a:moveTo>
                <a:cubicBezTo>
                  <a:pt x="490" y="79"/>
                  <a:pt x="490" y="79"/>
                  <a:pt x="490" y="79"/>
                </a:cubicBezTo>
                <a:cubicBezTo>
                  <a:pt x="490" y="83"/>
                  <a:pt x="494" y="87"/>
                  <a:pt x="499" y="87"/>
                </a:cubicBezTo>
                <a:cubicBezTo>
                  <a:pt x="499" y="87"/>
                  <a:pt x="500" y="87"/>
                  <a:pt x="501" y="87"/>
                </a:cubicBezTo>
                <a:cubicBezTo>
                  <a:pt x="514" y="125"/>
                  <a:pt x="514" y="125"/>
                  <a:pt x="514" y="125"/>
                </a:cubicBezTo>
                <a:cubicBezTo>
                  <a:pt x="541" y="201"/>
                  <a:pt x="541" y="201"/>
                  <a:pt x="541" y="201"/>
                </a:cubicBezTo>
                <a:cubicBezTo>
                  <a:pt x="537" y="202"/>
                  <a:pt x="533" y="206"/>
                  <a:pt x="533" y="211"/>
                </a:cubicBezTo>
                <a:cubicBezTo>
                  <a:pt x="473" y="210"/>
                  <a:pt x="473" y="210"/>
                  <a:pt x="473" y="210"/>
                </a:cubicBezTo>
                <a:cubicBezTo>
                  <a:pt x="397" y="208"/>
                  <a:pt x="397" y="208"/>
                  <a:pt x="397" y="208"/>
                </a:cubicBezTo>
                <a:cubicBezTo>
                  <a:pt x="396" y="201"/>
                  <a:pt x="391" y="196"/>
                  <a:pt x="385" y="196"/>
                </a:cubicBezTo>
                <a:cubicBezTo>
                  <a:pt x="385" y="84"/>
                  <a:pt x="385" y="84"/>
                  <a:pt x="385" y="84"/>
                </a:cubicBezTo>
                <a:cubicBezTo>
                  <a:pt x="390" y="84"/>
                  <a:pt x="393" y="81"/>
                  <a:pt x="394" y="76"/>
                </a:cubicBezTo>
                <a:close/>
                <a:moveTo>
                  <a:pt x="594" y="97"/>
                </a:moveTo>
                <a:cubicBezTo>
                  <a:pt x="595" y="97"/>
                  <a:pt x="597" y="97"/>
                  <a:pt x="598" y="96"/>
                </a:cubicBezTo>
                <a:cubicBezTo>
                  <a:pt x="664" y="211"/>
                  <a:pt x="664" y="211"/>
                  <a:pt x="664" y="211"/>
                </a:cubicBezTo>
                <a:cubicBezTo>
                  <a:pt x="661" y="212"/>
                  <a:pt x="660" y="214"/>
                  <a:pt x="659" y="217"/>
                </a:cubicBezTo>
                <a:cubicBezTo>
                  <a:pt x="609" y="215"/>
                  <a:pt x="609" y="215"/>
                  <a:pt x="609" y="215"/>
                </a:cubicBezTo>
                <a:cubicBezTo>
                  <a:pt x="558" y="212"/>
                  <a:pt x="558" y="212"/>
                  <a:pt x="558" y="212"/>
                </a:cubicBezTo>
                <a:cubicBezTo>
                  <a:pt x="558" y="205"/>
                  <a:pt x="552" y="200"/>
                  <a:pt x="545" y="200"/>
                </a:cubicBezTo>
                <a:cubicBezTo>
                  <a:pt x="544" y="200"/>
                  <a:pt x="543" y="200"/>
                  <a:pt x="542" y="200"/>
                </a:cubicBezTo>
                <a:cubicBezTo>
                  <a:pt x="501" y="86"/>
                  <a:pt x="501" y="86"/>
                  <a:pt x="501" y="86"/>
                </a:cubicBezTo>
                <a:cubicBezTo>
                  <a:pt x="504" y="85"/>
                  <a:pt x="506" y="83"/>
                  <a:pt x="507" y="80"/>
                </a:cubicBezTo>
                <a:cubicBezTo>
                  <a:pt x="575" y="87"/>
                  <a:pt x="575" y="87"/>
                  <a:pt x="575" y="87"/>
                </a:cubicBezTo>
                <a:cubicBezTo>
                  <a:pt x="585" y="88"/>
                  <a:pt x="585" y="88"/>
                  <a:pt x="585" y="88"/>
                </a:cubicBezTo>
                <a:cubicBezTo>
                  <a:pt x="585" y="88"/>
                  <a:pt x="585" y="88"/>
                  <a:pt x="585" y="89"/>
                </a:cubicBezTo>
                <a:cubicBezTo>
                  <a:pt x="585" y="93"/>
                  <a:pt x="589" y="97"/>
                  <a:pt x="594" y="97"/>
                </a:cubicBezTo>
                <a:close/>
                <a:moveTo>
                  <a:pt x="686" y="383"/>
                </a:moveTo>
                <a:cubicBezTo>
                  <a:pt x="575" y="383"/>
                  <a:pt x="575" y="383"/>
                  <a:pt x="575" y="383"/>
                </a:cubicBezTo>
                <a:cubicBezTo>
                  <a:pt x="574" y="377"/>
                  <a:pt x="569" y="371"/>
                  <a:pt x="562" y="371"/>
                </a:cubicBezTo>
                <a:cubicBezTo>
                  <a:pt x="562" y="371"/>
                  <a:pt x="562" y="372"/>
                  <a:pt x="561" y="372"/>
                </a:cubicBezTo>
                <a:cubicBezTo>
                  <a:pt x="547" y="225"/>
                  <a:pt x="547" y="225"/>
                  <a:pt x="547" y="225"/>
                </a:cubicBezTo>
                <a:cubicBezTo>
                  <a:pt x="553" y="224"/>
                  <a:pt x="558" y="219"/>
                  <a:pt x="558" y="213"/>
                </a:cubicBezTo>
                <a:cubicBezTo>
                  <a:pt x="659" y="218"/>
                  <a:pt x="659" y="218"/>
                  <a:pt x="659" y="218"/>
                </a:cubicBezTo>
                <a:cubicBezTo>
                  <a:pt x="659" y="218"/>
                  <a:pt x="659" y="218"/>
                  <a:pt x="659" y="218"/>
                </a:cubicBezTo>
                <a:cubicBezTo>
                  <a:pt x="659" y="223"/>
                  <a:pt x="663" y="227"/>
                  <a:pt x="668" y="227"/>
                </a:cubicBezTo>
                <a:cubicBezTo>
                  <a:pt x="668" y="227"/>
                  <a:pt x="669" y="227"/>
                  <a:pt x="669" y="227"/>
                </a:cubicBezTo>
                <a:cubicBezTo>
                  <a:pt x="693" y="376"/>
                  <a:pt x="693" y="376"/>
                  <a:pt x="693" y="376"/>
                </a:cubicBezTo>
                <a:cubicBezTo>
                  <a:pt x="690" y="376"/>
                  <a:pt x="687" y="379"/>
                  <a:pt x="686" y="383"/>
                </a:cubicBezTo>
                <a:close/>
                <a:moveTo>
                  <a:pt x="546" y="542"/>
                </a:moveTo>
                <a:cubicBezTo>
                  <a:pt x="539" y="542"/>
                  <a:pt x="534" y="548"/>
                  <a:pt x="534" y="555"/>
                </a:cubicBezTo>
                <a:cubicBezTo>
                  <a:pt x="534" y="555"/>
                  <a:pt x="534" y="555"/>
                  <a:pt x="534" y="555"/>
                </a:cubicBezTo>
                <a:cubicBezTo>
                  <a:pt x="436" y="558"/>
                  <a:pt x="436" y="558"/>
                  <a:pt x="436" y="558"/>
                </a:cubicBezTo>
                <a:cubicBezTo>
                  <a:pt x="397" y="559"/>
                  <a:pt x="397" y="559"/>
                  <a:pt x="397" y="559"/>
                </a:cubicBezTo>
                <a:cubicBezTo>
                  <a:pt x="396" y="553"/>
                  <a:pt x="391" y="548"/>
                  <a:pt x="385" y="547"/>
                </a:cubicBezTo>
                <a:cubicBezTo>
                  <a:pt x="385" y="401"/>
                  <a:pt x="385" y="401"/>
                  <a:pt x="385" y="401"/>
                </a:cubicBezTo>
                <a:cubicBezTo>
                  <a:pt x="395" y="401"/>
                  <a:pt x="402" y="394"/>
                  <a:pt x="402" y="384"/>
                </a:cubicBezTo>
                <a:cubicBezTo>
                  <a:pt x="550" y="384"/>
                  <a:pt x="550" y="384"/>
                  <a:pt x="550" y="384"/>
                </a:cubicBezTo>
                <a:cubicBezTo>
                  <a:pt x="550" y="390"/>
                  <a:pt x="554" y="395"/>
                  <a:pt x="560" y="396"/>
                </a:cubicBezTo>
                <a:cubicBezTo>
                  <a:pt x="547" y="542"/>
                  <a:pt x="547" y="542"/>
                  <a:pt x="547" y="542"/>
                </a:cubicBezTo>
                <a:cubicBezTo>
                  <a:pt x="546" y="542"/>
                  <a:pt x="546" y="542"/>
                  <a:pt x="546" y="542"/>
                </a:cubicBezTo>
                <a:close/>
                <a:moveTo>
                  <a:pt x="372" y="559"/>
                </a:moveTo>
                <a:cubicBezTo>
                  <a:pt x="240" y="555"/>
                  <a:pt x="240" y="555"/>
                  <a:pt x="240" y="555"/>
                </a:cubicBezTo>
                <a:cubicBezTo>
                  <a:pt x="236" y="555"/>
                  <a:pt x="236" y="555"/>
                  <a:pt x="236" y="555"/>
                </a:cubicBezTo>
                <a:cubicBezTo>
                  <a:pt x="236" y="555"/>
                  <a:pt x="236" y="555"/>
                  <a:pt x="236" y="555"/>
                </a:cubicBezTo>
                <a:cubicBezTo>
                  <a:pt x="236" y="548"/>
                  <a:pt x="231" y="542"/>
                  <a:pt x="224" y="542"/>
                </a:cubicBezTo>
                <a:cubicBezTo>
                  <a:pt x="223" y="542"/>
                  <a:pt x="223" y="542"/>
                  <a:pt x="223" y="542"/>
                </a:cubicBezTo>
                <a:cubicBezTo>
                  <a:pt x="209" y="396"/>
                  <a:pt x="209" y="396"/>
                  <a:pt x="209" y="396"/>
                </a:cubicBezTo>
                <a:cubicBezTo>
                  <a:pt x="215" y="395"/>
                  <a:pt x="219" y="390"/>
                  <a:pt x="219" y="384"/>
                </a:cubicBezTo>
                <a:cubicBezTo>
                  <a:pt x="368" y="384"/>
                  <a:pt x="368" y="384"/>
                  <a:pt x="368" y="384"/>
                </a:cubicBezTo>
                <a:cubicBezTo>
                  <a:pt x="368" y="393"/>
                  <a:pt x="375" y="401"/>
                  <a:pt x="384" y="401"/>
                </a:cubicBezTo>
                <a:cubicBezTo>
                  <a:pt x="384" y="547"/>
                  <a:pt x="384" y="547"/>
                  <a:pt x="384" y="547"/>
                </a:cubicBezTo>
                <a:cubicBezTo>
                  <a:pt x="378" y="547"/>
                  <a:pt x="372" y="552"/>
                  <a:pt x="372" y="559"/>
                </a:cubicBezTo>
                <a:close/>
                <a:moveTo>
                  <a:pt x="223" y="225"/>
                </a:moveTo>
                <a:cubicBezTo>
                  <a:pt x="230" y="225"/>
                  <a:pt x="235" y="219"/>
                  <a:pt x="235" y="212"/>
                </a:cubicBezTo>
                <a:cubicBezTo>
                  <a:pt x="235" y="212"/>
                  <a:pt x="235" y="212"/>
                  <a:pt x="235" y="212"/>
                </a:cubicBezTo>
                <a:cubicBezTo>
                  <a:pt x="333" y="210"/>
                  <a:pt x="333" y="210"/>
                  <a:pt x="333" y="210"/>
                </a:cubicBezTo>
                <a:cubicBezTo>
                  <a:pt x="372" y="209"/>
                  <a:pt x="372" y="209"/>
                  <a:pt x="372" y="209"/>
                </a:cubicBezTo>
                <a:cubicBezTo>
                  <a:pt x="372" y="215"/>
                  <a:pt x="377" y="221"/>
                  <a:pt x="384" y="221"/>
                </a:cubicBezTo>
                <a:cubicBezTo>
                  <a:pt x="384" y="367"/>
                  <a:pt x="384" y="367"/>
                  <a:pt x="384" y="367"/>
                </a:cubicBezTo>
                <a:cubicBezTo>
                  <a:pt x="375" y="367"/>
                  <a:pt x="368" y="374"/>
                  <a:pt x="368" y="383"/>
                </a:cubicBezTo>
                <a:cubicBezTo>
                  <a:pt x="219" y="383"/>
                  <a:pt x="219" y="383"/>
                  <a:pt x="219" y="383"/>
                </a:cubicBezTo>
                <a:cubicBezTo>
                  <a:pt x="219" y="377"/>
                  <a:pt x="215" y="372"/>
                  <a:pt x="209" y="371"/>
                </a:cubicBezTo>
                <a:cubicBezTo>
                  <a:pt x="223" y="225"/>
                  <a:pt x="223" y="225"/>
                  <a:pt x="223" y="225"/>
                </a:cubicBezTo>
                <a:cubicBezTo>
                  <a:pt x="223" y="225"/>
                  <a:pt x="223" y="225"/>
                  <a:pt x="223" y="225"/>
                </a:cubicBezTo>
                <a:close/>
                <a:moveTo>
                  <a:pt x="397" y="208"/>
                </a:moveTo>
                <a:cubicBezTo>
                  <a:pt x="529" y="212"/>
                  <a:pt x="529" y="212"/>
                  <a:pt x="529" y="212"/>
                </a:cubicBezTo>
                <a:cubicBezTo>
                  <a:pt x="533" y="212"/>
                  <a:pt x="533" y="212"/>
                  <a:pt x="533" y="212"/>
                </a:cubicBezTo>
                <a:cubicBezTo>
                  <a:pt x="533" y="212"/>
                  <a:pt x="533" y="212"/>
                  <a:pt x="533" y="212"/>
                </a:cubicBezTo>
                <a:cubicBezTo>
                  <a:pt x="533" y="219"/>
                  <a:pt x="538" y="225"/>
                  <a:pt x="545" y="225"/>
                </a:cubicBezTo>
                <a:cubicBezTo>
                  <a:pt x="546" y="225"/>
                  <a:pt x="546" y="225"/>
                  <a:pt x="547" y="225"/>
                </a:cubicBezTo>
                <a:cubicBezTo>
                  <a:pt x="560" y="372"/>
                  <a:pt x="560" y="372"/>
                  <a:pt x="560" y="372"/>
                </a:cubicBezTo>
                <a:cubicBezTo>
                  <a:pt x="555" y="373"/>
                  <a:pt x="550" y="377"/>
                  <a:pt x="550" y="383"/>
                </a:cubicBezTo>
                <a:cubicBezTo>
                  <a:pt x="402" y="383"/>
                  <a:pt x="402" y="383"/>
                  <a:pt x="402" y="383"/>
                </a:cubicBezTo>
                <a:cubicBezTo>
                  <a:pt x="402" y="374"/>
                  <a:pt x="394" y="367"/>
                  <a:pt x="385" y="367"/>
                </a:cubicBezTo>
                <a:cubicBezTo>
                  <a:pt x="385" y="221"/>
                  <a:pt x="385" y="221"/>
                  <a:pt x="385" y="221"/>
                </a:cubicBezTo>
                <a:cubicBezTo>
                  <a:pt x="391" y="220"/>
                  <a:pt x="397" y="215"/>
                  <a:pt x="397" y="208"/>
                </a:cubicBezTo>
                <a:close/>
                <a:moveTo>
                  <a:pt x="102" y="226"/>
                </a:moveTo>
                <a:cubicBezTo>
                  <a:pt x="106" y="226"/>
                  <a:pt x="110" y="222"/>
                  <a:pt x="110" y="218"/>
                </a:cubicBezTo>
                <a:cubicBezTo>
                  <a:pt x="194" y="214"/>
                  <a:pt x="194" y="214"/>
                  <a:pt x="194" y="214"/>
                </a:cubicBezTo>
                <a:cubicBezTo>
                  <a:pt x="210" y="213"/>
                  <a:pt x="210" y="213"/>
                  <a:pt x="210" y="213"/>
                </a:cubicBezTo>
                <a:cubicBezTo>
                  <a:pt x="211" y="219"/>
                  <a:pt x="216" y="224"/>
                  <a:pt x="222" y="225"/>
                </a:cubicBezTo>
                <a:cubicBezTo>
                  <a:pt x="218" y="267"/>
                  <a:pt x="218" y="267"/>
                  <a:pt x="218" y="267"/>
                </a:cubicBezTo>
                <a:cubicBezTo>
                  <a:pt x="208" y="371"/>
                  <a:pt x="208" y="371"/>
                  <a:pt x="208" y="371"/>
                </a:cubicBezTo>
                <a:cubicBezTo>
                  <a:pt x="208" y="371"/>
                  <a:pt x="207" y="371"/>
                  <a:pt x="207" y="371"/>
                </a:cubicBezTo>
                <a:cubicBezTo>
                  <a:pt x="200" y="371"/>
                  <a:pt x="194" y="376"/>
                  <a:pt x="194" y="383"/>
                </a:cubicBezTo>
                <a:cubicBezTo>
                  <a:pt x="83" y="383"/>
                  <a:pt x="83" y="383"/>
                  <a:pt x="83" y="383"/>
                </a:cubicBezTo>
                <a:cubicBezTo>
                  <a:pt x="83" y="379"/>
                  <a:pt x="80" y="375"/>
                  <a:pt x="76" y="375"/>
                </a:cubicBezTo>
                <a:cubicBezTo>
                  <a:pt x="100" y="226"/>
                  <a:pt x="100" y="226"/>
                  <a:pt x="100" y="226"/>
                </a:cubicBezTo>
                <a:cubicBezTo>
                  <a:pt x="101" y="226"/>
                  <a:pt x="101" y="226"/>
                  <a:pt x="102" y="226"/>
                </a:cubicBezTo>
                <a:close/>
                <a:moveTo>
                  <a:pt x="83" y="384"/>
                </a:moveTo>
                <a:cubicBezTo>
                  <a:pt x="194" y="384"/>
                  <a:pt x="194" y="384"/>
                  <a:pt x="194" y="384"/>
                </a:cubicBezTo>
                <a:cubicBezTo>
                  <a:pt x="195" y="391"/>
                  <a:pt x="200" y="396"/>
                  <a:pt x="207" y="396"/>
                </a:cubicBezTo>
                <a:cubicBezTo>
                  <a:pt x="207" y="396"/>
                  <a:pt x="208" y="396"/>
                  <a:pt x="208" y="396"/>
                </a:cubicBezTo>
                <a:cubicBezTo>
                  <a:pt x="222" y="542"/>
                  <a:pt x="222" y="542"/>
                  <a:pt x="222" y="542"/>
                </a:cubicBezTo>
                <a:cubicBezTo>
                  <a:pt x="216" y="543"/>
                  <a:pt x="212" y="548"/>
                  <a:pt x="211" y="554"/>
                </a:cubicBezTo>
                <a:cubicBezTo>
                  <a:pt x="110" y="549"/>
                  <a:pt x="110" y="549"/>
                  <a:pt x="110" y="549"/>
                </a:cubicBezTo>
                <a:cubicBezTo>
                  <a:pt x="110" y="549"/>
                  <a:pt x="110" y="549"/>
                  <a:pt x="110" y="549"/>
                </a:cubicBezTo>
                <a:cubicBezTo>
                  <a:pt x="110" y="544"/>
                  <a:pt x="106" y="540"/>
                  <a:pt x="102" y="540"/>
                </a:cubicBezTo>
                <a:cubicBezTo>
                  <a:pt x="101" y="540"/>
                  <a:pt x="101" y="540"/>
                  <a:pt x="100" y="541"/>
                </a:cubicBezTo>
                <a:cubicBezTo>
                  <a:pt x="76" y="392"/>
                  <a:pt x="76" y="392"/>
                  <a:pt x="76" y="392"/>
                </a:cubicBezTo>
                <a:cubicBezTo>
                  <a:pt x="80" y="391"/>
                  <a:pt x="83" y="388"/>
                  <a:pt x="83" y="384"/>
                </a:cubicBezTo>
                <a:close/>
                <a:moveTo>
                  <a:pt x="594" y="671"/>
                </a:moveTo>
                <a:cubicBezTo>
                  <a:pt x="589" y="671"/>
                  <a:pt x="586" y="675"/>
                  <a:pt x="586" y="679"/>
                </a:cubicBezTo>
                <a:cubicBezTo>
                  <a:pt x="586" y="679"/>
                  <a:pt x="586" y="679"/>
                  <a:pt x="586" y="679"/>
                </a:cubicBezTo>
                <a:cubicBezTo>
                  <a:pt x="507" y="687"/>
                  <a:pt x="507" y="687"/>
                  <a:pt x="507" y="687"/>
                </a:cubicBezTo>
                <a:cubicBezTo>
                  <a:pt x="507" y="684"/>
                  <a:pt x="505" y="681"/>
                  <a:pt x="502" y="680"/>
                </a:cubicBezTo>
                <a:cubicBezTo>
                  <a:pt x="540" y="574"/>
                  <a:pt x="540" y="574"/>
                  <a:pt x="540" y="574"/>
                </a:cubicBezTo>
                <a:cubicBezTo>
                  <a:pt x="542" y="567"/>
                  <a:pt x="542" y="567"/>
                  <a:pt x="542" y="567"/>
                </a:cubicBezTo>
                <a:cubicBezTo>
                  <a:pt x="543" y="567"/>
                  <a:pt x="545" y="567"/>
                  <a:pt x="546" y="567"/>
                </a:cubicBezTo>
                <a:cubicBezTo>
                  <a:pt x="553" y="567"/>
                  <a:pt x="559" y="562"/>
                  <a:pt x="559" y="555"/>
                </a:cubicBezTo>
                <a:cubicBezTo>
                  <a:pt x="609" y="553"/>
                  <a:pt x="609" y="553"/>
                  <a:pt x="609" y="553"/>
                </a:cubicBezTo>
                <a:cubicBezTo>
                  <a:pt x="659" y="550"/>
                  <a:pt x="659" y="550"/>
                  <a:pt x="659" y="550"/>
                </a:cubicBezTo>
                <a:cubicBezTo>
                  <a:pt x="660" y="553"/>
                  <a:pt x="661" y="555"/>
                  <a:pt x="664" y="556"/>
                </a:cubicBezTo>
                <a:cubicBezTo>
                  <a:pt x="598" y="671"/>
                  <a:pt x="598" y="671"/>
                  <a:pt x="598" y="671"/>
                </a:cubicBezTo>
                <a:cubicBezTo>
                  <a:pt x="597" y="671"/>
                  <a:pt x="595" y="671"/>
                  <a:pt x="594" y="671"/>
                </a:cubicBezTo>
                <a:close/>
                <a:moveTo>
                  <a:pt x="668" y="540"/>
                </a:moveTo>
                <a:cubicBezTo>
                  <a:pt x="663" y="540"/>
                  <a:pt x="659" y="544"/>
                  <a:pt x="659" y="549"/>
                </a:cubicBezTo>
                <a:cubicBezTo>
                  <a:pt x="659" y="549"/>
                  <a:pt x="659" y="549"/>
                  <a:pt x="659" y="549"/>
                </a:cubicBezTo>
                <a:cubicBezTo>
                  <a:pt x="575" y="553"/>
                  <a:pt x="575" y="553"/>
                  <a:pt x="575" y="553"/>
                </a:cubicBezTo>
                <a:cubicBezTo>
                  <a:pt x="559" y="554"/>
                  <a:pt x="559" y="554"/>
                  <a:pt x="559" y="554"/>
                </a:cubicBezTo>
                <a:cubicBezTo>
                  <a:pt x="558" y="548"/>
                  <a:pt x="554" y="543"/>
                  <a:pt x="547" y="542"/>
                </a:cubicBezTo>
                <a:cubicBezTo>
                  <a:pt x="551" y="500"/>
                  <a:pt x="551" y="500"/>
                  <a:pt x="551" y="500"/>
                </a:cubicBezTo>
                <a:cubicBezTo>
                  <a:pt x="561" y="396"/>
                  <a:pt x="561" y="396"/>
                  <a:pt x="561" y="396"/>
                </a:cubicBezTo>
                <a:cubicBezTo>
                  <a:pt x="562" y="396"/>
                  <a:pt x="562" y="397"/>
                  <a:pt x="562" y="397"/>
                </a:cubicBezTo>
                <a:cubicBezTo>
                  <a:pt x="569" y="397"/>
                  <a:pt x="575" y="391"/>
                  <a:pt x="575" y="384"/>
                </a:cubicBezTo>
                <a:cubicBezTo>
                  <a:pt x="686" y="384"/>
                  <a:pt x="686" y="384"/>
                  <a:pt x="686" y="384"/>
                </a:cubicBezTo>
                <a:cubicBezTo>
                  <a:pt x="686" y="388"/>
                  <a:pt x="689" y="392"/>
                  <a:pt x="693" y="392"/>
                </a:cubicBezTo>
                <a:cubicBezTo>
                  <a:pt x="669" y="541"/>
                  <a:pt x="669" y="541"/>
                  <a:pt x="669" y="541"/>
                </a:cubicBezTo>
                <a:cubicBezTo>
                  <a:pt x="669" y="540"/>
                  <a:pt x="668" y="540"/>
                  <a:pt x="668" y="540"/>
                </a:cubicBezTo>
                <a:close/>
                <a:moveTo>
                  <a:pt x="727" y="224"/>
                </a:moveTo>
                <a:cubicBezTo>
                  <a:pt x="726" y="225"/>
                  <a:pt x="725" y="226"/>
                  <a:pt x="725" y="227"/>
                </a:cubicBezTo>
                <a:cubicBezTo>
                  <a:pt x="690" y="221"/>
                  <a:pt x="690" y="221"/>
                  <a:pt x="690" y="221"/>
                </a:cubicBezTo>
                <a:cubicBezTo>
                  <a:pt x="676" y="219"/>
                  <a:pt x="676" y="219"/>
                  <a:pt x="676" y="219"/>
                </a:cubicBezTo>
                <a:cubicBezTo>
                  <a:pt x="676" y="219"/>
                  <a:pt x="676" y="218"/>
                  <a:pt x="676" y="218"/>
                </a:cubicBezTo>
                <a:cubicBezTo>
                  <a:pt x="676" y="213"/>
                  <a:pt x="672" y="210"/>
                  <a:pt x="668" y="210"/>
                </a:cubicBezTo>
                <a:cubicBezTo>
                  <a:pt x="666" y="210"/>
                  <a:pt x="665" y="210"/>
                  <a:pt x="664" y="210"/>
                </a:cubicBezTo>
                <a:cubicBezTo>
                  <a:pt x="633" y="155"/>
                  <a:pt x="633" y="155"/>
                  <a:pt x="633" y="155"/>
                </a:cubicBezTo>
                <a:cubicBezTo>
                  <a:pt x="599" y="96"/>
                  <a:pt x="599" y="96"/>
                  <a:pt x="599" y="96"/>
                </a:cubicBezTo>
                <a:cubicBezTo>
                  <a:pt x="600" y="95"/>
                  <a:pt x="601" y="93"/>
                  <a:pt x="602" y="91"/>
                </a:cubicBezTo>
                <a:cubicBezTo>
                  <a:pt x="637" y="101"/>
                  <a:pt x="637" y="101"/>
                  <a:pt x="637" y="101"/>
                </a:cubicBezTo>
                <a:cubicBezTo>
                  <a:pt x="637" y="101"/>
                  <a:pt x="637" y="101"/>
                  <a:pt x="637" y="101"/>
                </a:cubicBezTo>
                <a:cubicBezTo>
                  <a:pt x="637" y="105"/>
                  <a:pt x="640" y="107"/>
                  <a:pt x="643" y="107"/>
                </a:cubicBezTo>
                <a:cubicBezTo>
                  <a:pt x="644" y="107"/>
                  <a:pt x="645" y="107"/>
                  <a:pt x="645" y="107"/>
                </a:cubicBezTo>
                <a:lnTo>
                  <a:pt x="727" y="224"/>
                </a:lnTo>
                <a:close/>
                <a:moveTo>
                  <a:pt x="517" y="24"/>
                </a:moveTo>
                <a:cubicBezTo>
                  <a:pt x="517" y="24"/>
                  <a:pt x="517" y="25"/>
                  <a:pt x="517" y="25"/>
                </a:cubicBezTo>
                <a:cubicBezTo>
                  <a:pt x="517" y="28"/>
                  <a:pt x="520" y="31"/>
                  <a:pt x="523" y="31"/>
                </a:cubicBezTo>
                <a:cubicBezTo>
                  <a:pt x="525" y="31"/>
                  <a:pt x="526" y="30"/>
                  <a:pt x="527" y="29"/>
                </a:cubicBezTo>
                <a:cubicBezTo>
                  <a:pt x="638" y="99"/>
                  <a:pt x="638" y="99"/>
                  <a:pt x="638" y="99"/>
                </a:cubicBezTo>
                <a:cubicBezTo>
                  <a:pt x="637" y="99"/>
                  <a:pt x="637" y="100"/>
                  <a:pt x="637" y="100"/>
                </a:cubicBezTo>
                <a:cubicBezTo>
                  <a:pt x="602" y="90"/>
                  <a:pt x="602" y="90"/>
                  <a:pt x="602" y="90"/>
                </a:cubicBezTo>
                <a:cubicBezTo>
                  <a:pt x="602" y="90"/>
                  <a:pt x="602" y="89"/>
                  <a:pt x="602" y="89"/>
                </a:cubicBezTo>
                <a:cubicBezTo>
                  <a:pt x="602" y="84"/>
                  <a:pt x="598" y="80"/>
                  <a:pt x="594" y="80"/>
                </a:cubicBezTo>
                <a:cubicBezTo>
                  <a:pt x="591" y="80"/>
                  <a:pt x="589" y="81"/>
                  <a:pt x="587" y="83"/>
                </a:cubicBezTo>
                <a:cubicBezTo>
                  <a:pt x="496" y="18"/>
                  <a:pt x="496" y="18"/>
                  <a:pt x="496" y="18"/>
                </a:cubicBezTo>
                <a:cubicBezTo>
                  <a:pt x="497" y="18"/>
                  <a:pt x="497" y="18"/>
                  <a:pt x="497" y="17"/>
                </a:cubicBezTo>
                <a:lnTo>
                  <a:pt x="517" y="24"/>
                </a:lnTo>
                <a:close/>
                <a:moveTo>
                  <a:pt x="486" y="15"/>
                </a:moveTo>
                <a:cubicBezTo>
                  <a:pt x="486" y="18"/>
                  <a:pt x="488" y="21"/>
                  <a:pt x="492" y="21"/>
                </a:cubicBezTo>
                <a:cubicBezTo>
                  <a:pt x="493" y="21"/>
                  <a:pt x="495" y="20"/>
                  <a:pt x="496" y="19"/>
                </a:cubicBezTo>
                <a:cubicBezTo>
                  <a:pt x="536" y="47"/>
                  <a:pt x="536" y="47"/>
                  <a:pt x="536" y="47"/>
                </a:cubicBezTo>
                <a:cubicBezTo>
                  <a:pt x="587" y="84"/>
                  <a:pt x="587" y="84"/>
                  <a:pt x="587" y="84"/>
                </a:cubicBezTo>
                <a:cubicBezTo>
                  <a:pt x="586" y="85"/>
                  <a:pt x="586" y="86"/>
                  <a:pt x="585" y="87"/>
                </a:cubicBezTo>
                <a:cubicBezTo>
                  <a:pt x="576" y="86"/>
                  <a:pt x="576" y="86"/>
                  <a:pt x="576" y="86"/>
                </a:cubicBezTo>
                <a:cubicBezTo>
                  <a:pt x="507" y="79"/>
                  <a:pt x="507" y="79"/>
                  <a:pt x="507" y="79"/>
                </a:cubicBezTo>
                <a:cubicBezTo>
                  <a:pt x="507" y="79"/>
                  <a:pt x="507" y="79"/>
                  <a:pt x="507" y="78"/>
                </a:cubicBezTo>
                <a:cubicBezTo>
                  <a:pt x="507" y="74"/>
                  <a:pt x="503" y="70"/>
                  <a:pt x="499" y="70"/>
                </a:cubicBezTo>
                <a:cubicBezTo>
                  <a:pt x="496" y="70"/>
                  <a:pt x="495" y="71"/>
                  <a:pt x="493" y="72"/>
                </a:cubicBezTo>
                <a:cubicBezTo>
                  <a:pt x="444" y="13"/>
                  <a:pt x="444" y="13"/>
                  <a:pt x="444" y="13"/>
                </a:cubicBezTo>
                <a:cubicBezTo>
                  <a:pt x="445" y="13"/>
                  <a:pt x="445" y="12"/>
                  <a:pt x="446" y="10"/>
                </a:cubicBezTo>
                <a:lnTo>
                  <a:pt x="486" y="15"/>
                </a:lnTo>
                <a:close/>
                <a:moveTo>
                  <a:pt x="434" y="9"/>
                </a:moveTo>
                <a:cubicBezTo>
                  <a:pt x="434" y="12"/>
                  <a:pt x="437" y="15"/>
                  <a:pt x="440" y="15"/>
                </a:cubicBezTo>
                <a:cubicBezTo>
                  <a:pt x="441" y="15"/>
                  <a:pt x="442" y="14"/>
                  <a:pt x="443" y="14"/>
                </a:cubicBezTo>
                <a:cubicBezTo>
                  <a:pt x="472" y="48"/>
                  <a:pt x="472" y="48"/>
                  <a:pt x="472" y="48"/>
                </a:cubicBezTo>
                <a:cubicBezTo>
                  <a:pt x="492" y="73"/>
                  <a:pt x="492" y="73"/>
                  <a:pt x="492" y="73"/>
                </a:cubicBezTo>
                <a:cubicBezTo>
                  <a:pt x="491" y="74"/>
                  <a:pt x="490" y="76"/>
                  <a:pt x="490" y="78"/>
                </a:cubicBezTo>
                <a:cubicBezTo>
                  <a:pt x="393" y="75"/>
                  <a:pt x="393" y="75"/>
                  <a:pt x="393" y="75"/>
                </a:cubicBezTo>
                <a:cubicBezTo>
                  <a:pt x="393" y="71"/>
                  <a:pt x="390" y="67"/>
                  <a:pt x="385" y="67"/>
                </a:cubicBezTo>
                <a:cubicBezTo>
                  <a:pt x="385" y="11"/>
                  <a:pt x="385" y="11"/>
                  <a:pt x="385" y="11"/>
                </a:cubicBezTo>
                <a:cubicBezTo>
                  <a:pt x="387" y="11"/>
                  <a:pt x="389" y="9"/>
                  <a:pt x="390" y="7"/>
                </a:cubicBezTo>
                <a:lnTo>
                  <a:pt x="434" y="9"/>
                </a:lnTo>
                <a:close/>
                <a:moveTo>
                  <a:pt x="384" y="11"/>
                </a:moveTo>
                <a:cubicBezTo>
                  <a:pt x="384" y="67"/>
                  <a:pt x="384" y="67"/>
                  <a:pt x="384" y="67"/>
                </a:cubicBezTo>
                <a:cubicBezTo>
                  <a:pt x="380" y="68"/>
                  <a:pt x="377" y="71"/>
                  <a:pt x="377" y="75"/>
                </a:cubicBezTo>
                <a:cubicBezTo>
                  <a:pt x="279" y="78"/>
                  <a:pt x="279" y="78"/>
                  <a:pt x="279" y="78"/>
                </a:cubicBezTo>
                <a:cubicBezTo>
                  <a:pt x="278" y="76"/>
                  <a:pt x="278" y="74"/>
                  <a:pt x="276" y="73"/>
                </a:cubicBezTo>
                <a:cubicBezTo>
                  <a:pt x="326" y="14"/>
                  <a:pt x="326" y="14"/>
                  <a:pt x="326" y="14"/>
                </a:cubicBezTo>
                <a:cubicBezTo>
                  <a:pt x="327" y="15"/>
                  <a:pt x="328" y="15"/>
                  <a:pt x="329" y="15"/>
                </a:cubicBezTo>
                <a:cubicBezTo>
                  <a:pt x="332" y="15"/>
                  <a:pt x="334" y="12"/>
                  <a:pt x="335" y="9"/>
                </a:cubicBezTo>
                <a:cubicBezTo>
                  <a:pt x="378" y="7"/>
                  <a:pt x="378" y="7"/>
                  <a:pt x="378" y="7"/>
                </a:cubicBezTo>
                <a:cubicBezTo>
                  <a:pt x="379" y="9"/>
                  <a:pt x="381" y="11"/>
                  <a:pt x="384" y="11"/>
                </a:cubicBezTo>
                <a:close/>
                <a:moveTo>
                  <a:pt x="325" y="14"/>
                </a:moveTo>
                <a:cubicBezTo>
                  <a:pt x="276" y="73"/>
                  <a:pt x="276" y="73"/>
                  <a:pt x="276" y="73"/>
                </a:cubicBezTo>
                <a:cubicBezTo>
                  <a:pt x="274" y="71"/>
                  <a:pt x="272" y="71"/>
                  <a:pt x="270" y="71"/>
                </a:cubicBezTo>
                <a:cubicBezTo>
                  <a:pt x="266" y="71"/>
                  <a:pt x="262" y="75"/>
                  <a:pt x="262" y="79"/>
                </a:cubicBezTo>
                <a:cubicBezTo>
                  <a:pt x="262" y="79"/>
                  <a:pt x="262" y="79"/>
                  <a:pt x="262" y="79"/>
                </a:cubicBezTo>
                <a:cubicBezTo>
                  <a:pt x="186" y="87"/>
                  <a:pt x="186" y="87"/>
                  <a:pt x="186" y="87"/>
                </a:cubicBezTo>
                <a:cubicBezTo>
                  <a:pt x="184" y="87"/>
                  <a:pt x="184" y="87"/>
                  <a:pt x="184" y="87"/>
                </a:cubicBezTo>
                <a:cubicBezTo>
                  <a:pt x="184" y="86"/>
                  <a:pt x="183" y="85"/>
                  <a:pt x="182" y="84"/>
                </a:cubicBezTo>
                <a:cubicBezTo>
                  <a:pt x="273" y="19"/>
                  <a:pt x="273" y="19"/>
                  <a:pt x="273" y="19"/>
                </a:cubicBezTo>
                <a:cubicBezTo>
                  <a:pt x="274" y="20"/>
                  <a:pt x="276" y="21"/>
                  <a:pt x="278" y="21"/>
                </a:cubicBezTo>
                <a:cubicBezTo>
                  <a:pt x="281" y="21"/>
                  <a:pt x="283" y="18"/>
                  <a:pt x="283" y="15"/>
                </a:cubicBezTo>
                <a:cubicBezTo>
                  <a:pt x="323" y="10"/>
                  <a:pt x="323" y="10"/>
                  <a:pt x="323" y="10"/>
                </a:cubicBezTo>
                <a:cubicBezTo>
                  <a:pt x="323" y="12"/>
                  <a:pt x="324" y="13"/>
                  <a:pt x="325" y="14"/>
                </a:cubicBezTo>
                <a:close/>
                <a:moveTo>
                  <a:pt x="242" y="29"/>
                </a:moveTo>
                <a:cubicBezTo>
                  <a:pt x="243" y="30"/>
                  <a:pt x="245" y="31"/>
                  <a:pt x="246" y="31"/>
                </a:cubicBezTo>
                <a:cubicBezTo>
                  <a:pt x="250" y="31"/>
                  <a:pt x="252" y="28"/>
                  <a:pt x="252" y="25"/>
                </a:cubicBezTo>
                <a:cubicBezTo>
                  <a:pt x="252" y="24"/>
                  <a:pt x="252" y="24"/>
                  <a:pt x="252" y="24"/>
                </a:cubicBezTo>
                <a:cubicBezTo>
                  <a:pt x="272" y="17"/>
                  <a:pt x="272" y="17"/>
                  <a:pt x="272" y="17"/>
                </a:cubicBezTo>
                <a:cubicBezTo>
                  <a:pt x="272" y="18"/>
                  <a:pt x="273" y="18"/>
                  <a:pt x="273" y="18"/>
                </a:cubicBezTo>
                <a:cubicBezTo>
                  <a:pt x="182" y="83"/>
                  <a:pt x="182" y="83"/>
                  <a:pt x="182" y="83"/>
                </a:cubicBezTo>
                <a:cubicBezTo>
                  <a:pt x="180" y="81"/>
                  <a:pt x="178" y="80"/>
                  <a:pt x="176" y="80"/>
                </a:cubicBezTo>
                <a:cubicBezTo>
                  <a:pt x="171" y="80"/>
                  <a:pt x="167" y="84"/>
                  <a:pt x="167" y="89"/>
                </a:cubicBezTo>
                <a:cubicBezTo>
                  <a:pt x="167" y="89"/>
                  <a:pt x="167" y="90"/>
                  <a:pt x="167" y="90"/>
                </a:cubicBezTo>
                <a:cubicBezTo>
                  <a:pt x="132" y="100"/>
                  <a:pt x="132" y="100"/>
                  <a:pt x="132" y="100"/>
                </a:cubicBezTo>
                <a:cubicBezTo>
                  <a:pt x="132" y="100"/>
                  <a:pt x="132" y="99"/>
                  <a:pt x="132" y="99"/>
                </a:cubicBezTo>
                <a:lnTo>
                  <a:pt x="242" y="29"/>
                </a:lnTo>
                <a:close/>
                <a:moveTo>
                  <a:pt x="124" y="107"/>
                </a:moveTo>
                <a:cubicBezTo>
                  <a:pt x="124" y="107"/>
                  <a:pt x="125" y="107"/>
                  <a:pt x="126" y="107"/>
                </a:cubicBezTo>
                <a:cubicBezTo>
                  <a:pt x="130" y="107"/>
                  <a:pt x="132" y="105"/>
                  <a:pt x="132" y="101"/>
                </a:cubicBezTo>
                <a:cubicBezTo>
                  <a:pt x="132" y="101"/>
                  <a:pt x="132" y="101"/>
                  <a:pt x="132" y="101"/>
                </a:cubicBezTo>
                <a:cubicBezTo>
                  <a:pt x="167" y="91"/>
                  <a:pt x="167" y="91"/>
                  <a:pt x="167" y="91"/>
                </a:cubicBezTo>
                <a:cubicBezTo>
                  <a:pt x="168" y="93"/>
                  <a:pt x="169" y="95"/>
                  <a:pt x="171" y="96"/>
                </a:cubicBezTo>
                <a:cubicBezTo>
                  <a:pt x="154" y="125"/>
                  <a:pt x="154" y="125"/>
                  <a:pt x="154" y="125"/>
                </a:cubicBezTo>
                <a:cubicBezTo>
                  <a:pt x="105" y="210"/>
                  <a:pt x="105" y="210"/>
                  <a:pt x="105" y="210"/>
                </a:cubicBezTo>
                <a:cubicBezTo>
                  <a:pt x="104" y="209"/>
                  <a:pt x="103" y="209"/>
                  <a:pt x="102" y="209"/>
                </a:cubicBezTo>
                <a:cubicBezTo>
                  <a:pt x="97" y="209"/>
                  <a:pt x="93" y="213"/>
                  <a:pt x="93" y="217"/>
                </a:cubicBezTo>
                <a:cubicBezTo>
                  <a:pt x="93" y="218"/>
                  <a:pt x="93" y="218"/>
                  <a:pt x="93" y="219"/>
                </a:cubicBezTo>
                <a:cubicBezTo>
                  <a:pt x="45" y="227"/>
                  <a:pt x="45" y="227"/>
                  <a:pt x="45" y="227"/>
                </a:cubicBezTo>
                <a:cubicBezTo>
                  <a:pt x="45" y="225"/>
                  <a:pt x="44" y="224"/>
                  <a:pt x="43" y="223"/>
                </a:cubicBezTo>
                <a:lnTo>
                  <a:pt x="124" y="107"/>
                </a:lnTo>
                <a:close/>
                <a:moveTo>
                  <a:pt x="39" y="234"/>
                </a:moveTo>
                <a:cubicBezTo>
                  <a:pt x="39" y="234"/>
                  <a:pt x="39" y="234"/>
                  <a:pt x="39" y="234"/>
                </a:cubicBezTo>
                <a:cubicBezTo>
                  <a:pt x="42" y="234"/>
                  <a:pt x="45" y="231"/>
                  <a:pt x="45" y="228"/>
                </a:cubicBezTo>
                <a:cubicBezTo>
                  <a:pt x="45" y="228"/>
                  <a:pt x="45" y="227"/>
                  <a:pt x="45" y="227"/>
                </a:cubicBezTo>
                <a:cubicBezTo>
                  <a:pt x="94" y="219"/>
                  <a:pt x="94" y="219"/>
                  <a:pt x="94" y="219"/>
                </a:cubicBezTo>
                <a:cubicBezTo>
                  <a:pt x="94" y="222"/>
                  <a:pt x="97" y="225"/>
                  <a:pt x="99" y="226"/>
                </a:cubicBezTo>
                <a:cubicBezTo>
                  <a:pt x="88" y="295"/>
                  <a:pt x="88" y="295"/>
                  <a:pt x="88" y="295"/>
                </a:cubicBezTo>
                <a:cubicBezTo>
                  <a:pt x="75" y="375"/>
                  <a:pt x="75" y="375"/>
                  <a:pt x="75" y="375"/>
                </a:cubicBezTo>
                <a:cubicBezTo>
                  <a:pt x="75" y="375"/>
                  <a:pt x="75" y="375"/>
                  <a:pt x="74" y="375"/>
                </a:cubicBezTo>
                <a:cubicBezTo>
                  <a:pt x="70" y="375"/>
                  <a:pt x="66" y="378"/>
                  <a:pt x="66" y="383"/>
                </a:cubicBezTo>
                <a:cubicBezTo>
                  <a:pt x="12" y="383"/>
                  <a:pt x="12" y="383"/>
                  <a:pt x="12" y="383"/>
                </a:cubicBezTo>
                <a:cubicBezTo>
                  <a:pt x="12" y="381"/>
                  <a:pt x="10" y="379"/>
                  <a:pt x="8" y="378"/>
                </a:cubicBezTo>
                <a:lnTo>
                  <a:pt x="39" y="234"/>
                </a:lnTo>
                <a:close/>
                <a:moveTo>
                  <a:pt x="8" y="390"/>
                </a:moveTo>
                <a:cubicBezTo>
                  <a:pt x="11" y="389"/>
                  <a:pt x="12" y="387"/>
                  <a:pt x="12" y="384"/>
                </a:cubicBezTo>
                <a:cubicBezTo>
                  <a:pt x="66" y="384"/>
                  <a:pt x="66" y="384"/>
                  <a:pt x="66" y="384"/>
                </a:cubicBezTo>
                <a:cubicBezTo>
                  <a:pt x="66" y="388"/>
                  <a:pt x="70" y="392"/>
                  <a:pt x="74" y="392"/>
                </a:cubicBezTo>
                <a:cubicBezTo>
                  <a:pt x="75" y="392"/>
                  <a:pt x="75" y="392"/>
                  <a:pt x="75" y="392"/>
                </a:cubicBezTo>
                <a:cubicBezTo>
                  <a:pt x="79" y="419"/>
                  <a:pt x="79" y="419"/>
                  <a:pt x="79" y="419"/>
                </a:cubicBezTo>
                <a:cubicBezTo>
                  <a:pt x="99" y="541"/>
                  <a:pt x="99" y="541"/>
                  <a:pt x="99" y="541"/>
                </a:cubicBezTo>
                <a:cubicBezTo>
                  <a:pt x="96" y="542"/>
                  <a:pt x="94" y="544"/>
                  <a:pt x="93" y="548"/>
                </a:cubicBezTo>
                <a:cubicBezTo>
                  <a:pt x="90" y="547"/>
                  <a:pt x="90" y="547"/>
                  <a:pt x="90" y="547"/>
                </a:cubicBezTo>
                <a:cubicBezTo>
                  <a:pt x="45" y="540"/>
                  <a:pt x="45" y="540"/>
                  <a:pt x="45" y="540"/>
                </a:cubicBezTo>
                <a:cubicBezTo>
                  <a:pt x="45" y="540"/>
                  <a:pt x="45" y="540"/>
                  <a:pt x="45" y="539"/>
                </a:cubicBezTo>
                <a:cubicBezTo>
                  <a:pt x="45" y="536"/>
                  <a:pt x="42" y="534"/>
                  <a:pt x="39" y="534"/>
                </a:cubicBezTo>
                <a:cubicBezTo>
                  <a:pt x="39" y="534"/>
                  <a:pt x="39" y="534"/>
                  <a:pt x="39" y="534"/>
                </a:cubicBezTo>
                <a:lnTo>
                  <a:pt x="8" y="390"/>
                </a:lnTo>
                <a:close/>
                <a:moveTo>
                  <a:pt x="43" y="544"/>
                </a:moveTo>
                <a:cubicBezTo>
                  <a:pt x="44" y="543"/>
                  <a:pt x="45" y="542"/>
                  <a:pt x="45" y="541"/>
                </a:cubicBezTo>
                <a:cubicBezTo>
                  <a:pt x="79" y="546"/>
                  <a:pt x="79" y="546"/>
                  <a:pt x="79" y="546"/>
                </a:cubicBezTo>
                <a:cubicBezTo>
                  <a:pt x="93" y="548"/>
                  <a:pt x="93" y="548"/>
                  <a:pt x="93" y="548"/>
                </a:cubicBezTo>
                <a:cubicBezTo>
                  <a:pt x="93" y="549"/>
                  <a:pt x="93" y="549"/>
                  <a:pt x="93" y="549"/>
                </a:cubicBezTo>
                <a:cubicBezTo>
                  <a:pt x="93" y="554"/>
                  <a:pt x="97" y="558"/>
                  <a:pt x="102" y="558"/>
                </a:cubicBezTo>
                <a:cubicBezTo>
                  <a:pt x="103" y="558"/>
                  <a:pt x="104" y="557"/>
                  <a:pt x="105" y="557"/>
                </a:cubicBezTo>
                <a:cubicBezTo>
                  <a:pt x="137" y="612"/>
                  <a:pt x="137" y="612"/>
                  <a:pt x="137" y="612"/>
                </a:cubicBezTo>
                <a:cubicBezTo>
                  <a:pt x="171" y="672"/>
                  <a:pt x="171" y="672"/>
                  <a:pt x="171" y="672"/>
                </a:cubicBezTo>
                <a:cubicBezTo>
                  <a:pt x="169" y="673"/>
                  <a:pt x="168" y="674"/>
                  <a:pt x="167" y="676"/>
                </a:cubicBezTo>
                <a:cubicBezTo>
                  <a:pt x="132" y="667"/>
                  <a:pt x="132" y="667"/>
                  <a:pt x="132" y="667"/>
                </a:cubicBezTo>
                <a:cubicBezTo>
                  <a:pt x="132" y="666"/>
                  <a:pt x="132" y="666"/>
                  <a:pt x="132" y="666"/>
                </a:cubicBezTo>
                <a:cubicBezTo>
                  <a:pt x="132" y="663"/>
                  <a:pt x="130" y="660"/>
                  <a:pt x="126" y="660"/>
                </a:cubicBezTo>
                <a:cubicBezTo>
                  <a:pt x="125" y="660"/>
                  <a:pt x="125" y="660"/>
                  <a:pt x="124" y="661"/>
                </a:cubicBezTo>
                <a:lnTo>
                  <a:pt x="43" y="544"/>
                </a:lnTo>
                <a:close/>
                <a:moveTo>
                  <a:pt x="252" y="743"/>
                </a:moveTo>
                <a:cubicBezTo>
                  <a:pt x="252" y="743"/>
                  <a:pt x="252" y="743"/>
                  <a:pt x="252" y="742"/>
                </a:cubicBezTo>
                <a:cubicBezTo>
                  <a:pt x="252" y="739"/>
                  <a:pt x="250" y="736"/>
                  <a:pt x="246" y="736"/>
                </a:cubicBezTo>
                <a:cubicBezTo>
                  <a:pt x="245" y="736"/>
                  <a:pt x="243" y="737"/>
                  <a:pt x="242" y="738"/>
                </a:cubicBezTo>
                <a:cubicBezTo>
                  <a:pt x="132" y="668"/>
                  <a:pt x="132" y="668"/>
                  <a:pt x="132" y="668"/>
                </a:cubicBezTo>
                <a:cubicBezTo>
                  <a:pt x="132" y="668"/>
                  <a:pt x="132" y="668"/>
                  <a:pt x="132" y="667"/>
                </a:cubicBezTo>
                <a:cubicBezTo>
                  <a:pt x="148" y="672"/>
                  <a:pt x="148" y="672"/>
                  <a:pt x="148" y="672"/>
                </a:cubicBezTo>
                <a:cubicBezTo>
                  <a:pt x="167" y="677"/>
                  <a:pt x="167" y="677"/>
                  <a:pt x="167" y="677"/>
                </a:cubicBezTo>
                <a:cubicBezTo>
                  <a:pt x="167" y="678"/>
                  <a:pt x="167" y="678"/>
                  <a:pt x="167" y="679"/>
                </a:cubicBezTo>
                <a:cubicBezTo>
                  <a:pt x="167" y="684"/>
                  <a:pt x="170" y="688"/>
                  <a:pt x="175" y="688"/>
                </a:cubicBezTo>
                <a:cubicBezTo>
                  <a:pt x="178" y="688"/>
                  <a:pt x="180" y="686"/>
                  <a:pt x="182" y="684"/>
                </a:cubicBezTo>
                <a:cubicBezTo>
                  <a:pt x="273" y="749"/>
                  <a:pt x="273" y="749"/>
                  <a:pt x="273" y="749"/>
                </a:cubicBezTo>
                <a:cubicBezTo>
                  <a:pt x="272" y="749"/>
                  <a:pt x="272" y="750"/>
                  <a:pt x="272" y="750"/>
                </a:cubicBezTo>
                <a:lnTo>
                  <a:pt x="252" y="743"/>
                </a:lnTo>
                <a:close/>
                <a:moveTo>
                  <a:pt x="284" y="752"/>
                </a:moveTo>
                <a:cubicBezTo>
                  <a:pt x="284" y="752"/>
                  <a:pt x="284" y="752"/>
                  <a:pt x="284" y="752"/>
                </a:cubicBezTo>
                <a:cubicBezTo>
                  <a:pt x="284" y="748"/>
                  <a:pt x="281" y="746"/>
                  <a:pt x="278" y="746"/>
                </a:cubicBezTo>
                <a:cubicBezTo>
                  <a:pt x="276" y="746"/>
                  <a:pt x="274" y="747"/>
                  <a:pt x="273" y="748"/>
                </a:cubicBezTo>
                <a:cubicBezTo>
                  <a:pt x="233" y="719"/>
                  <a:pt x="233" y="719"/>
                  <a:pt x="233" y="719"/>
                </a:cubicBezTo>
                <a:cubicBezTo>
                  <a:pt x="182" y="684"/>
                  <a:pt x="182" y="684"/>
                  <a:pt x="182" y="684"/>
                </a:cubicBezTo>
                <a:cubicBezTo>
                  <a:pt x="183" y="683"/>
                  <a:pt x="183" y="681"/>
                  <a:pt x="184" y="680"/>
                </a:cubicBezTo>
                <a:cubicBezTo>
                  <a:pt x="192" y="681"/>
                  <a:pt x="192" y="681"/>
                  <a:pt x="192" y="681"/>
                </a:cubicBezTo>
                <a:cubicBezTo>
                  <a:pt x="262" y="688"/>
                  <a:pt x="262" y="688"/>
                  <a:pt x="262" y="688"/>
                </a:cubicBezTo>
                <a:cubicBezTo>
                  <a:pt x="262" y="688"/>
                  <a:pt x="262" y="688"/>
                  <a:pt x="262" y="689"/>
                </a:cubicBezTo>
                <a:cubicBezTo>
                  <a:pt x="262" y="694"/>
                  <a:pt x="266" y="697"/>
                  <a:pt x="271" y="697"/>
                </a:cubicBezTo>
                <a:cubicBezTo>
                  <a:pt x="273" y="697"/>
                  <a:pt x="275" y="697"/>
                  <a:pt x="276" y="695"/>
                </a:cubicBezTo>
                <a:cubicBezTo>
                  <a:pt x="325" y="754"/>
                  <a:pt x="325" y="754"/>
                  <a:pt x="325" y="754"/>
                </a:cubicBezTo>
                <a:cubicBezTo>
                  <a:pt x="325" y="755"/>
                  <a:pt x="324" y="756"/>
                  <a:pt x="324" y="757"/>
                </a:cubicBezTo>
                <a:lnTo>
                  <a:pt x="284" y="752"/>
                </a:lnTo>
                <a:close/>
                <a:moveTo>
                  <a:pt x="335" y="758"/>
                </a:moveTo>
                <a:cubicBezTo>
                  <a:pt x="335" y="755"/>
                  <a:pt x="332" y="752"/>
                  <a:pt x="329" y="752"/>
                </a:cubicBezTo>
                <a:cubicBezTo>
                  <a:pt x="328" y="752"/>
                  <a:pt x="327" y="753"/>
                  <a:pt x="326" y="753"/>
                </a:cubicBezTo>
                <a:cubicBezTo>
                  <a:pt x="297" y="719"/>
                  <a:pt x="297" y="719"/>
                  <a:pt x="297" y="719"/>
                </a:cubicBezTo>
                <a:cubicBezTo>
                  <a:pt x="277" y="695"/>
                  <a:pt x="277" y="695"/>
                  <a:pt x="277" y="695"/>
                </a:cubicBezTo>
                <a:cubicBezTo>
                  <a:pt x="278" y="693"/>
                  <a:pt x="279" y="691"/>
                  <a:pt x="279" y="689"/>
                </a:cubicBezTo>
                <a:cubicBezTo>
                  <a:pt x="376" y="692"/>
                  <a:pt x="376" y="692"/>
                  <a:pt x="376" y="692"/>
                </a:cubicBezTo>
                <a:cubicBezTo>
                  <a:pt x="376" y="696"/>
                  <a:pt x="380" y="700"/>
                  <a:pt x="384" y="700"/>
                </a:cubicBezTo>
                <a:cubicBezTo>
                  <a:pt x="384" y="756"/>
                  <a:pt x="384" y="756"/>
                  <a:pt x="384" y="756"/>
                </a:cubicBezTo>
                <a:cubicBezTo>
                  <a:pt x="382" y="756"/>
                  <a:pt x="379" y="758"/>
                  <a:pt x="379" y="760"/>
                </a:cubicBezTo>
                <a:lnTo>
                  <a:pt x="335" y="758"/>
                </a:lnTo>
                <a:close/>
                <a:moveTo>
                  <a:pt x="390" y="760"/>
                </a:moveTo>
                <a:cubicBezTo>
                  <a:pt x="390" y="758"/>
                  <a:pt x="388" y="756"/>
                  <a:pt x="385" y="756"/>
                </a:cubicBezTo>
                <a:cubicBezTo>
                  <a:pt x="385" y="700"/>
                  <a:pt x="385" y="700"/>
                  <a:pt x="385" y="700"/>
                </a:cubicBezTo>
                <a:cubicBezTo>
                  <a:pt x="389" y="699"/>
                  <a:pt x="392" y="696"/>
                  <a:pt x="393" y="692"/>
                </a:cubicBezTo>
                <a:cubicBezTo>
                  <a:pt x="490" y="689"/>
                  <a:pt x="490" y="689"/>
                  <a:pt x="490" y="689"/>
                </a:cubicBezTo>
                <a:cubicBezTo>
                  <a:pt x="491" y="691"/>
                  <a:pt x="492" y="693"/>
                  <a:pt x="493" y="694"/>
                </a:cubicBezTo>
                <a:cubicBezTo>
                  <a:pt x="444" y="752"/>
                  <a:pt x="444" y="752"/>
                  <a:pt x="444" y="752"/>
                </a:cubicBezTo>
                <a:cubicBezTo>
                  <a:pt x="443" y="752"/>
                  <a:pt x="442" y="751"/>
                  <a:pt x="441" y="751"/>
                </a:cubicBezTo>
                <a:cubicBezTo>
                  <a:pt x="437" y="751"/>
                  <a:pt x="435" y="754"/>
                  <a:pt x="435" y="757"/>
                </a:cubicBezTo>
                <a:cubicBezTo>
                  <a:pt x="435" y="757"/>
                  <a:pt x="435" y="758"/>
                  <a:pt x="435" y="758"/>
                </a:cubicBezTo>
                <a:lnTo>
                  <a:pt x="390" y="760"/>
                </a:lnTo>
                <a:close/>
                <a:moveTo>
                  <a:pt x="527" y="739"/>
                </a:moveTo>
                <a:cubicBezTo>
                  <a:pt x="526" y="737"/>
                  <a:pt x="525" y="736"/>
                  <a:pt x="523" y="736"/>
                </a:cubicBezTo>
                <a:cubicBezTo>
                  <a:pt x="520" y="736"/>
                  <a:pt x="517" y="739"/>
                  <a:pt x="517" y="742"/>
                </a:cubicBezTo>
                <a:cubicBezTo>
                  <a:pt x="517" y="743"/>
                  <a:pt x="517" y="743"/>
                  <a:pt x="517" y="743"/>
                </a:cubicBezTo>
                <a:cubicBezTo>
                  <a:pt x="497" y="750"/>
                  <a:pt x="497" y="750"/>
                  <a:pt x="497" y="750"/>
                </a:cubicBezTo>
                <a:cubicBezTo>
                  <a:pt x="497" y="750"/>
                  <a:pt x="497" y="749"/>
                  <a:pt x="496" y="749"/>
                </a:cubicBezTo>
                <a:cubicBezTo>
                  <a:pt x="587" y="684"/>
                  <a:pt x="587" y="684"/>
                  <a:pt x="587" y="684"/>
                </a:cubicBezTo>
                <a:cubicBezTo>
                  <a:pt x="589" y="686"/>
                  <a:pt x="591" y="688"/>
                  <a:pt x="594" y="688"/>
                </a:cubicBezTo>
                <a:cubicBezTo>
                  <a:pt x="599" y="688"/>
                  <a:pt x="603" y="684"/>
                  <a:pt x="603" y="679"/>
                </a:cubicBezTo>
                <a:cubicBezTo>
                  <a:pt x="603" y="678"/>
                  <a:pt x="603" y="678"/>
                  <a:pt x="602" y="677"/>
                </a:cubicBezTo>
                <a:cubicBezTo>
                  <a:pt x="637" y="667"/>
                  <a:pt x="637" y="667"/>
                  <a:pt x="637" y="667"/>
                </a:cubicBezTo>
                <a:cubicBezTo>
                  <a:pt x="637" y="668"/>
                  <a:pt x="637" y="668"/>
                  <a:pt x="637" y="668"/>
                </a:cubicBezTo>
                <a:lnTo>
                  <a:pt x="527" y="739"/>
                </a:lnTo>
                <a:close/>
                <a:moveTo>
                  <a:pt x="645" y="661"/>
                </a:moveTo>
                <a:cubicBezTo>
                  <a:pt x="645" y="660"/>
                  <a:pt x="644" y="660"/>
                  <a:pt x="643" y="660"/>
                </a:cubicBezTo>
                <a:cubicBezTo>
                  <a:pt x="639" y="660"/>
                  <a:pt x="637" y="663"/>
                  <a:pt x="637" y="666"/>
                </a:cubicBezTo>
                <a:cubicBezTo>
                  <a:pt x="637" y="666"/>
                  <a:pt x="637" y="666"/>
                  <a:pt x="637" y="667"/>
                </a:cubicBezTo>
                <a:cubicBezTo>
                  <a:pt x="626" y="670"/>
                  <a:pt x="626" y="670"/>
                  <a:pt x="626" y="670"/>
                </a:cubicBezTo>
                <a:cubicBezTo>
                  <a:pt x="602" y="676"/>
                  <a:pt x="602" y="676"/>
                  <a:pt x="602" y="676"/>
                </a:cubicBezTo>
                <a:cubicBezTo>
                  <a:pt x="601" y="674"/>
                  <a:pt x="600" y="673"/>
                  <a:pt x="598" y="672"/>
                </a:cubicBezTo>
                <a:cubicBezTo>
                  <a:pt x="615" y="642"/>
                  <a:pt x="615" y="642"/>
                  <a:pt x="615" y="642"/>
                </a:cubicBezTo>
                <a:cubicBezTo>
                  <a:pt x="664" y="557"/>
                  <a:pt x="664" y="557"/>
                  <a:pt x="664" y="557"/>
                </a:cubicBezTo>
                <a:cubicBezTo>
                  <a:pt x="665" y="557"/>
                  <a:pt x="666" y="558"/>
                  <a:pt x="668" y="558"/>
                </a:cubicBezTo>
                <a:cubicBezTo>
                  <a:pt x="672" y="558"/>
                  <a:pt x="676" y="554"/>
                  <a:pt x="676" y="549"/>
                </a:cubicBezTo>
                <a:cubicBezTo>
                  <a:pt x="676" y="549"/>
                  <a:pt x="676" y="549"/>
                  <a:pt x="676" y="548"/>
                </a:cubicBezTo>
                <a:cubicBezTo>
                  <a:pt x="723" y="541"/>
                  <a:pt x="723" y="541"/>
                  <a:pt x="723" y="541"/>
                </a:cubicBezTo>
                <a:cubicBezTo>
                  <a:pt x="723" y="542"/>
                  <a:pt x="724" y="544"/>
                  <a:pt x="726" y="545"/>
                </a:cubicBezTo>
                <a:lnTo>
                  <a:pt x="645" y="661"/>
                </a:lnTo>
                <a:close/>
                <a:moveTo>
                  <a:pt x="730" y="534"/>
                </a:moveTo>
                <a:cubicBezTo>
                  <a:pt x="730" y="534"/>
                  <a:pt x="729" y="534"/>
                  <a:pt x="729" y="534"/>
                </a:cubicBezTo>
                <a:cubicBezTo>
                  <a:pt x="726" y="534"/>
                  <a:pt x="723" y="537"/>
                  <a:pt x="723" y="540"/>
                </a:cubicBezTo>
                <a:cubicBezTo>
                  <a:pt x="723" y="540"/>
                  <a:pt x="723" y="540"/>
                  <a:pt x="723" y="540"/>
                </a:cubicBezTo>
                <a:cubicBezTo>
                  <a:pt x="676" y="548"/>
                  <a:pt x="676" y="548"/>
                  <a:pt x="676" y="548"/>
                </a:cubicBezTo>
                <a:cubicBezTo>
                  <a:pt x="676" y="544"/>
                  <a:pt x="673" y="542"/>
                  <a:pt x="670" y="541"/>
                </a:cubicBezTo>
                <a:cubicBezTo>
                  <a:pt x="681" y="472"/>
                  <a:pt x="681" y="472"/>
                  <a:pt x="681" y="472"/>
                </a:cubicBezTo>
                <a:cubicBezTo>
                  <a:pt x="694" y="393"/>
                  <a:pt x="694" y="393"/>
                  <a:pt x="694" y="393"/>
                </a:cubicBezTo>
                <a:cubicBezTo>
                  <a:pt x="694" y="393"/>
                  <a:pt x="694" y="393"/>
                  <a:pt x="695" y="393"/>
                </a:cubicBezTo>
                <a:cubicBezTo>
                  <a:pt x="699" y="393"/>
                  <a:pt x="703" y="389"/>
                  <a:pt x="703" y="384"/>
                </a:cubicBezTo>
                <a:cubicBezTo>
                  <a:pt x="757" y="384"/>
                  <a:pt x="757" y="384"/>
                  <a:pt x="757" y="384"/>
                </a:cubicBezTo>
                <a:cubicBezTo>
                  <a:pt x="757" y="387"/>
                  <a:pt x="759" y="389"/>
                  <a:pt x="761" y="390"/>
                </a:cubicBezTo>
                <a:lnTo>
                  <a:pt x="730" y="534"/>
                </a:lnTo>
                <a:close/>
              </a:path>
            </a:pathLst>
          </a:custGeom>
          <a:gradFill>
            <a:gsLst>
              <a:gs pos="100000">
                <a:srgbClr val="153B6A"/>
              </a:gs>
              <a:gs pos="0">
                <a:srgbClr val="17D5F7"/>
              </a:gs>
            </a:gsLst>
            <a:path path="shape">
              <a:fillToRect l="50000" t="50000" r="50000" b="50000"/>
            </a:path>
          </a:gradFill>
          <a:ln>
            <a:noFill/>
          </a:ln>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11877" name="Freeform 24"/>
          <p:cNvSpPr>
            <a:spLocks/>
          </p:cNvSpPr>
          <p:nvPr/>
        </p:nvSpPr>
        <p:spPr bwMode="auto">
          <a:xfrm>
            <a:off x="5583238" y="3443288"/>
            <a:ext cx="87313" cy="123825"/>
          </a:xfrm>
          <a:custGeom>
            <a:avLst/>
            <a:gdLst>
              <a:gd name="T0" fmla="*/ 23 w 23"/>
              <a:gd name="T1" fmla="*/ 0 h 33"/>
              <a:gd name="T2" fmla="*/ 0 w 23"/>
              <a:gd name="T3" fmla="*/ 33 h 33"/>
              <a:gd name="T4" fmla="*/ 23 w 23"/>
              <a:gd name="T5" fmla="*/ 0 h 33"/>
            </a:gdLst>
            <a:ahLst/>
            <a:cxnLst>
              <a:cxn ang="0">
                <a:pos x="T0" y="T1"/>
              </a:cxn>
              <a:cxn ang="0">
                <a:pos x="T2" y="T3"/>
              </a:cxn>
              <a:cxn ang="0">
                <a:pos x="T4" y="T5"/>
              </a:cxn>
            </a:cxnLst>
            <a:rect l="0" t="0" r="r" b="b"/>
            <a:pathLst>
              <a:path w="23" h="33">
                <a:moveTo>
                  <a:pt x="23" y="0"/>
                </a:moveTo>
                <a:cubicBezTo>
                  <a:pt x="14" y="11"/>
                  <a:pt x="7" y="21"/>
                  <a:pt x="0" y="33"/>
                </a:cubicBezTo>
                <a:lnTo>
                  <a:pt x="23" y="0"/>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11878" name="Freeform 25"/>
          <p:cNvSpPr>
            <a:spLocks/>
          </p:cNvSpPr>
          <p:nvPr/>
        </p:nvSpPr>
        <p:spPr bwMode="auto">
          <a:xfrm>
            <a:off x="3468688" y="3443288"/>
            <a:ext cx="87313" cy="123825"/>
          </a:xfrm>
          <a:custGeom>
            <a:avLst/>
            <a:gdLst>
              <a:gd name="T0" fmla="*/ 23 w 23"/>
              <a:gd name="T1" fmla="*/ 33 h 33"/>
              <a:gd name="T2" fmla="*/ 0 w 23"/>
              <a:gd name="T3" fmla="*/ 0 h 33"/>
              <a:gd name="T4" fmla="*/ 23 w 23"/>
              <a:gd name="T5" fmla="*/ 33 h 33"/>
            </a:gdLst>
            <a:ahLst/>
            <a:cxnLst>
              <a:cxn ang="0">
                <a:pos x="T0" y="T1"/>
              </a:cxn>
              <a:cxn ang="0">
                <a:pos x="T2" y="T3"/>
              </a:cxn>
              <a:cxn ang="0">
                <a:pos x="T4" y="T5"/>
              </a:cxn>
            </a:cxnLst>
            <a:rect l="0" t="0" r="r" b="b"/>
            <a:pathLst>
              <a:path w="23" h="33">
                <a:moveTo>
                  <a:pt x="23" y="33"/>
                </a:moveTo>
                <a:cubicBezTo>
                  <a:pt x="16" y="21"/>
                  <a:pt x="9" y="11"/>
                  <a:pt x="0" y="0"/>
                </a:cubicBezTo>
                <a:lnTo>
                  <a:pt x="23" y="33"/>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1" name="文本框 20"/>
          <p:cNvSpPr txBox="1"/>
          <p:nvPr/>
        </p:nvSpPr>
        <p:spPr bwMode="auto">
          <a:xfrm>
            <a:off x="251520" y="964998"/>
            <a:ext cx="8618578" cy="707886"/>
          </a:xfrm>
          <a:prstGeom prst="rect">
            <a:avLst/>
          </a:prstGeom>
          <a:noFill/>
        </p:spPr>
        <p:txBody>
          <a:bodyPr wrap="none">
            <a:spAutoFit/>
          </a:bodyPr>
          <a:lstStyle/>
          <a:p>
            <a:pPr eaLnBrk="0" fontAlgn="base" hangingPunct="0">
              <a:spcBef>
                <a:spcPct val="0"/>
              </a:spcBef>
              <a:spcAft>
                <a:spcPct val="0"/>
              </a:spcAft>
            </a:pPr>
            <a:r>
              <a:rPr lang="en-US" altLang="zh-CN" sz="4000" b="1" dirty="0">
                <a:solidFill>
                  <a:prstClr val="white"/>
                </a:solidFill>
              </a:rPr>
              <a:t>Seizure Onset as a Dynamical Transition</a:t>
            </a:r>
            <a:endParaRPr lang="zh-CN" altLang="zh-CN" sz="4000" dirty="0">
              <a:solidFill>
                <a:prstClr val="white"/>
              </a:solidFill>
            </a:endParaRPr>
          </a:p>
        </p:txBody>
      </p:sp>
      <p:grpSp>
        <p:nvGrpSpPr>
          <p:cNvPr id="3" name="组合 2"/>
          <p:cNvGrpSpPr/>
          <p:nvPr/>
        </p:nvGrpSpPr>
        <p:grpSpPr>
          <a:xfrm>
            <a:off x="2066438" y="3272308"/>
            <a:ext cx="4809818" cy="943494"/>
            <a:chOff x="3078163" y="3596641"/>
            <a:chExt cx="2865437" cy="308396"/>
          </a:xfrm>
        </p:grpSpPr>
        <p:sp>
          <p:nvSpPr>
            <p:cNvPr id="5498" name="圆角矩形 5497"/>
            <p:cNvSpPr/>
            <p:nvPr/>
          </p:nvSpPr>
          <p:spPr bwMode="auto">
            <a:xfrm>
              <a:off x="3078163" y="3596641"/>
              <a:ext cx="2865437" cy="308396"/>
            </a:xfrm>
            <a:prstGeom prst="roundRect">
              <a:avLst>
                <a:gd name="adj" fmla="val 0"/>
              </a:avLst>
            </a:prstGeom>
            <a:solidFill>
              <a:srgbClr val="012436"/>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6" name="文本框 5"/>
            <p:cNvSpPr txBox="1"/>
            <p:nvPr/>
          </p:nvSpPr>
          <p:spPr>
            <a:xfrm>
              <a:off x="3132757" y="3609402"/>
              <a:ext cx="130447" cy="282535"/>
            </a:xfrm>
            <a:prstGeom prst="rect">
              <a:avLst/>
            </a:prstGeom>
            <a:noFill/>
          </p:spPr>
          <p:txBody>
            <a:bodyPr wrap="none">
              <a:spAutoFit/>
            </a:bodyPr>
            <a:lstStyle/>
            <a:p>
              <a:pPr eaLnBrk="0" fontAlgn="base" hangingPunct="0">
                <a:spcBef>
                  <a:spcPct val="0"/>
                </a:spcBef>
                <a:spcAft>
                  <a:spcPct val="0"/>
                </a:spcAft>
                <a:defRPr/>
              </a:pPr>
              <a:endParaRPr lang="zh-CN" altLang="en-US" sz="2000" b="1" dirty="0">
                <a:ln w="38100">
                  <a:noFill/>
                </a:ln>
                <a:solidFill>
                  <a:srgbClr val="91ECFB"/>
                </a:solidFill>
                <a:latin typeface="Arial" panose="020B0604020202020204" pitchFamily="34" charset="0"/>
                <a:cs typeface="Arial" panose="020B0604020202020204" pitchFamily="34" charset="0"/>
              </a:endParaRPr>
            </a:p>
          </p:txBody>
        </p:sp>
      </p:grpSp>
      <p:sp>
        <p:nvSpPr>
          <p:cNvPr id="27" name="文本框 66"/>
          <p:cNvSpPr txBox="1">
            <a:spLocks noChangeArrowheads="1"/>
          </p:cNvSpPr>
          <p:nvPr/>
        </p:nvSpPr>
        <p:spPr bwMode="auto">
          <a:xfrm>
            <a:off x="35496" y="1851670"/>
            <a:ext cx="892899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685783" eaLnBrk="0" fontAlgn="base" hangingPunct="0">
              <a:spcBef>
                <a:spcPct val="0"/>
              </a:spcBef>
              <a:spcAft>
                <a:spcPct val="0"/>
              </a:spcAft>
            </a:pPr>
            <a:r>
              <a:rPr lang="en-US" altLang="zh-CN" sz="2000" b="1" dirty="0">
                <a:solidFill>
                  <a:prstClr val="white"/>
                </a:solidFill>
              </a:rPr>
              <a:t>Wilson–Cowan stability analysis with CHB-MIT </a:t>
            </a:r>
            <a:r>
              <a:rPr lang="en-US" altLang="zh-CN" sz="2000" b="1" dirty="0" err="1">
                <a:solidFill>
                  <a:prstClr val="white"/>
                </a:solidFill>
              </a:rPr>
              <a:t>ictal</a:t>
            </a:r>
            <a:r>
              <a:rPr lang="en-US" altLang="zh-CN" sz="2000" b="1" dirty="0">
                <a:solidFill>
                  <a:prstClr val="white"/>
                </a:solidFill>
              </a:rPr>
              <a:t> detection </a:t>
            </a:r>
          </a:p>
          <a:p>
            <a:pPr algn="ctr" defTabSz="685783" eaLnBrk="0" fontAlgn="base" hangingPunct="0">
              <a:spcBef>
                <a:spcPct val="0"/>
              </a:spcBef>
              <a:spcAft>
                <a:spcPct val="0"/>
              </a:spcAft>
            </a:pPr>
            <a:r>
              <a:rPr lang="en-US" altLang="zh-CN" sz="2000" b="1" dirty="0">
                <a:solidFill>
                  <a:prstClr val="white"/>
                </a:solidFill>
              </a:rPr>
              <a:t>and explanation reliability checks</a:t>
            </a:r>
          </a:p>
        </p:txBody>
      </p:sp>
      <p:sp>
        <p:nvSpPr>
          <p:cNvPr id="2" name="矩形 1"/>
          <p:cNvSpPr/>
          <p:nvPr/>
        </p:nvSpPr>
        <p:spPr>
          <a:xfrm>
            <a:off x="2266129" y="3291830"/>
            <a:ext cx="4351384" cy="877163"/>
          </a:xfrm>
          <a:prstGeom prst="rect">
            <a:avLst/>
          </a:prstGeom>
        </p:spPr>
        <p:txBody>
          <a:bodyPr wrap="none">
            <a:spAutoFit/>
          </a:bodyPr>
          <a:lstStyle/>
          <a:p>
            <a:pPr eaLnBrk="0" fontAlgn="base" hangingPunct="0">
              <a:lnSpc>
                <a:spcPct val="150000"/>
              </a:lnSpc>
              <a:spcBef>
                <a:spcPct val="0"/>
              </a:spcBef>
              <a:spcAft>
                <a:spcPct val="0"/>
              </a:spcAft>
              <a:defRPr/>
            </a:pPr>
            <a:r>
              <a:rPr lang="en-US" altLang="zh-CN" b="1" dirty="0">
                <a:ln w="38100">
                  <a:noFill/>
                </a:ln>
                <a:solidFill>
                  <a:srgbClr val="91ECFB"/>
                </a:solidFill>
                <a:latin typeface="Arial" panose="020B0604020202020204" pitchFamily="34" charset="0"/>
                <a:cs typeface="Arial" panose="020B0604020202020204" pitchFamily="34" charset="0"/>
              </a:rPr>
              <a:t>AMATH 383 Final Project  •  June 2026</a:t>
            </a:r>
          </a:p>
          <a:p>
            <a:pPr algn="ctr" eaLnBrk="0" fontAlgn="base" hangingPunct="0">
              <a:lnSpc>
                <a:spcPct val="150000"/>
              </a:lnSpc>
              <a:spcBef>
                <a:spcPct val="0"/>
              </a:spcBef>
              <a:spcAft>
                <a:spcPct val="0"/>
              </a:spcAft>
              <a:defRPr/>
            </a:pPr>
            <a:r>
              <a:rPr lang="en-US" altLang="zh-CN" sz="1600" b="1" dirty="0" err="1">
                <a:ln w="38100">
                  <a:noFill/>
                </a:ln>
                <a:solidFill>
                  <a:srgbClr val="91ECFB"/>
                </a:solidFill>
                <a:latin typeface="Arial" panose="020B0604020202020204" pitchFamily="34" charset="0"/>
                <a:cs typeface="Arial" panose="020B0604020202020204" pitchFamily="34" charset="0"/>
              </a:rPr>
              <a:t>Yuming</a:t>
            </a:r>
            <a:r>
              <a:rPr lang="en-US" altLang="zh-CN" sz="1600" b="1" dirty="0">
                <a:ln w="38100">
                  <a:noFill/>
                </a:ln>
                <a:solidFill>
                  <a:srgbClr val="91ECFB"/>
                </a:solidFill>
                <a:latin typeface="Arial" panose="020B0604020202020204" pitchFamily="34" charset="0"/>
                <a:cs typeface="Arial" panose="020B0604020202020204" pitchFamily="34" charset="0"/>
              </a:rPr>
              <a:t> Chen, </a:t>
            </a:r>
            <a:r>
              <a:rPr lang="en-US" altLang="zh-CN" sz="1600" b="1" dirty="0" err="1">
                <a:ln w="38100">
                  <a:noFill/>
                </a:ln>
                <a:solidFill>
                  <a:srgbClr val="91ECFB"/>
                </a:solidFill>
                <a:latin typeface="Arial" panose="020B0604020202020204" pitchFamily="34" charset="0"/>
                <a:cs typeface="Arial" panose="020B0604020202020204" pitchFamily="34" charset="0"/>
              </a:rPr>
              <a:t>Linfeng</a:t>
            </a:r>
            <a:r>
              <a:rPr lang="en-US" altLang="zh-CN" sz="1600" b="1" dirty="0">
                <a:ln w="38100">
                  <a:noFill/>
                </a:ln>
                <a:solidFill>
                  <a:srgbClr val="91ECFB"/>
                </a:solidFill>
                <a:latin typeface="Arial" panose="020B0604020202020204" pitchFamily="34" charset="0"/>
                <a:cs typeface="Arial" panose="020B0604020202020204" pitchFamily="34" charset="0"/>
              </a:rPr>
              <a:t> </a:t>
            </a:r>
            <a:r>
              <a:rPr lang="en-US" altLang="zh-CN" sz="1600" b="1" dirty="0" err="1">
                <a:ln w="38100">
                  <a:noFill/>
                </a:ln>
                <a:solidFill>
                  <a:srgbClr val="91ECFB"/>
                </a:solidFill>
                <a:latin typeface="Arial" panose="020B0604020202020204" pitchFamily="34" charset="0"/>
                <a:cs typeface="Arial" panose="020B0604020202020204" pitchFamily="34" charset="0"/>
              </a:rPr>
              <a:t>Nie</a:t>
            </a:r>
            <a:r>
              <a:rPr lang="en-US" altLang="zh-CN" sz="1600" b="1" dirty="0">
                <a:ln w="38100">
                  <a:noFill/>
                </a:ln>
                <a:solidFill>
                  <a:srgbClr val="91ECFB"/>
                </a:solidFill>
                <a:latin typeface="Arial" panose="020B0604020202020204" pitchFamily="34" charset="0"/>
                <a:cs typeface="Arial" panose="020B0604020202020204" pitchFamily="34" charset="0"/>
              </a:rPr>
              <a:t>, Maria Felix </a:t>
            </a:r>
          </a:p>
        </p:txBody>
      </p:sp>
    </p:spTree>
    <p:extLst>
      <p:ext uri="{BB962C8B-B14F-4D97-AF65-F5344CB8AC3E}">
        <p14:creationId xmlns:p14="http://schemas.microsoft.com/office/powerpoint/2010/main" val="223421198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 fill="hold" grpId="0" nodeType="withEffect">
                                  <p:stCondLst>
                                    <p:cond delay="0"/>
                                  </p:stCondLst>
                                  <p:iterate type="lt">
                                    <p:tmPct val="24444"/>
                                  </p:iterate>
                                  <p:childTnLst>
                                    <p:set>
                                      <p:cBhvr>
                                        <p:cTn id="6" dur="1" fill="hold">
                                          <p:stCondLst>
                                            <p:cond delay="0"/>
                                          </p:stCondLst>
                                        </p:cTn>
                                        <p:tgtEl>
                                          <p:spTgt spid="21"/>
                                        </p:tgtEl>
                                        <p:attrNameLst>
                                          <p:attrName>style.visibility</p:attrName>
                                        </p:attrNameLst>
                                      </p:cBhvr>
                                      <p:to>
                                        <p:strVal val="visible"/>
                                      </p:to>
                                    </p:set>
                                    <p:anim calcmode="lin" valueType="num">
                                      <p:cBhvr>
                                        <p:cTn id="7" dur="200" fill="hold"/>
                                        <p:tgtEl>
                                          <p:spTgt spid="21"/>
                                        </p:tgtEl>
                                        <p:attrNameLst>
                                          <p:attrName>ppt_x</p:attrName>
                                        </p:attrNameLst>
                                      </p:cBhvr>
                                      <p:tavLst>
                                        <p:tav tm="0">
                                          <p:val>
                                            <p:strVal val="#ppt_x"/>
                                          </p:val>
                                        </p:tav>
                                        <p:tav tm="100000">
                                          <p:val>
                                            <p:strVal val="#ppt_x"/>
                                          </p:val>
                                        </p:tav>
                                      </p:tavLst>
                                    </p:anim>
                                    <p:anim calcmode="lin" valueType="num">
                                      <p:cBhvr>
                                        <p:cTn id="8" dur="200" fill="hold"/>
                                        <p:tgtEl>
                                          <p:spTgt spid="21"/>
                                        </p:tgtEl>
                                        <p:attrNameLst>
                                          <p:attrName>ppt_y</p:attrName>
                                        </p:attrNameLst>
                                      </p:cBhvr>
                                      <p:tavLst>
                                        <p:tav tm="0">
                                          <p:val>
                                            <p:strVal val="#ppt_y-#ppt_h/2"/>
                                          </p:val>
                                        </p:tav>
                                        <p:tav tm="100000">
                                          <p:val>
                                            <p:strVal val="#ppt_y"/>
                                          </p:val>
                                        </p:tav>
                                      </p:tavLst>
                                    </p:anim>
                                    <p:anim calcmode="lin" valueType="num">
                                      <p:cBhvr>
                                        <p:cTn id="9" dur="200" fill="hold"/>
                                        <p:tgtEl>
                                          <p:spTgt spid="21"/>
                                        </p:tgtEl>
                                        <p:attrNameLst>
                                          <p:attrName>ppt_w</p:attrName>
                                        </p:attrNameLst>
                                      </p:cBhvr>
                                      <p:tavLst>
                                        <p:tav tm="0">
                                          <p:val>
                                            <p:strVal val="#ppt_w"/>
                                          </p:val>
                                        </p:tav>
                                        <p:tav tm="100000">
                                          <p:val>
                                            <p:strVal val="#ppt_w"/>
                                          </p:val>
                                        </p:tav>
                                      </p:tavLst>
                                    </p:anim>
                                    <p:anim calcmode="lin" valueType="num">
                                      <p:cBhvr>
                                        <p:cTn id="10" dur="200" fill="hold"/>
                                        <p:tgtEl>
                                          <p:spTgt spid="21"/>
                                        </p:tgtEl>
                                        <p:attrNameLst>
                                          <p:attrName>ppt_h</p:attrName>
                                        </p:attrNameLst>
                                      </p:cBhvr>
                                      <p:tavLst>
                                        <p:tav tm="0">
                                          <p:val>
                                            <p:fltVal val="0"/>
                                          </p:val>
                                        </p:tav>
                                        <p:tav tm="100000">
                                          <p:val>
                                            <p:strVal val="#ppt_h"/>
                                          </p:val>
                                        </p:tav>
                                      </p:tavLst>
                                    </p:anim>
                                  </p:childTnLst>
                                </p:cTn>
                              </p:par>
                              <p:par>
                                <p:cTn id="11" presetID="17" presetClass="entr" presetSubtype="10" fill="hold" nodeType="withEffect">
                                  <p:stCondLst>
                                    <p:cond delay="2000"/>
                                  </p:stCondLst>
                                  <p:childTnLst>
                                    <p:set>
                                      <p:cBhvr>
                                        <p:cTn id="12" dur="1" fill="hold">
                                          <p:stCondLst>
                                            <p:cond delay="0"/>
                                          </p:stCondLst>
                                        </p:cTn>
                                        <p:tgtEl>
                                          <p:spTgt spid="3"/>
                                        </p:tgtEl>
                                        <p:attrNameLst>
                                          <p:attrName>style.visibility</p:attrName>
                                        </p:attrNameLst>
                                      </p:cBhvr>
                                      <p:to>
                                        <p:strVal val="visible"/>
                                      </p:to>
                                    </p:set>
                                    <p:anim calcmode="lin" valueType="num">
                                      <p:cBhvr>
                                        <p:cTn id="13" dur="1500" fill="hold"/>
                                        <p:tgtEl>
                                          <p:spTgt spid="3"/>
                                        </p:tgtEl>
                                        <p:attrNameLst>
                                          <p:attrName>ppt_w</p:attrName>
                                        </p:attrNameLst>
                                      </p:cBhvr>
                                      <p:tavLst>
                                        <p:tav tm="0">
                                          <p:val>
                                            <p:fltVal val="0"/>
                                          </p:val>
                                        </p:tav>
                                        <p:tav tm="100000">
                                          <p:val>
                                            <p:strVal val="#ppt_w"/>
                                          </p:val>
                                        </p:tav>
                                      </p:tavLst>
                                    </p:anim>
                                    <p:anim calcmode="lin" valueType="num">
                                      <p:cBhvr>
                                        <p:cTn id="14" dur="1500" fill="hold"/>
                                        <p:tgtEl>
                                          <p:spTgt spid="3"/>
                                        </p:tgtEl>
                                        <p:attrNameLst>
                                          <p:attrName>ppt_h</p:attrName>
                                        </p:attrNameLst>
                                      </p:cBhvr>
                                      <p:tavLst>
                                        <p:tav tm="0">
                                          <p:val>
                                            <p:strVal val="#ppt_h"/>
                                          </p:val>
                                        </p:tav>
                                        <p:tav tm="100000">
                                          <p:val>
                                            <p:strVal val="#ppt_h"/>
                                          </p:val>
                                        </p:tav>
                                      </p:tavLst>
                                    </p:anim>
                                  </p:childTnLst>
                                </p:cTn>
                              </p:par>
                              <p:par>
                                <p:cTn id="15" presetID="55" presetClass="entr" presetSubtype="0" fill="hold" grpId="0" nodeType="withEffect">
                                  <p:stCondLst>
                                    <p:cond delay="1250"/>
                                  </p:stCondLst>
                                  <p:childTnLst>
                                    <p:set>
                                      <p:cBhvr>
                                        <p:cTn id="16" dur="1" fill="hold">
                                          <p:stCondLst>
                                            <p:cond delay="0"/>
                                          </p:stCondLst>
                                        </p:cTn>
                                        <p:tgtEl>
                                          <p:spTgt spid="27"/>
                                        </p:tgtEl>
                                        <p:attrNameLst>
                                          <p:attrName>style.visibility</p:attrName>
                                        </p:attrNameLst>
                                      </p:cBhvr>
                                      <p:to>
                                        <p:strVal val="visible"/>
                                      </p:to>
                                    </p:set>
                                    <p:anim calcmode="lin" valueType="num">
                                      <p:cBhvr>
                                        <p:cTn id="17" dur="1000" fill="hold"/>
                                        <p:tgtEl>
                                          <p:spTgt spid="27"/>
                                        </p:tgtEl>
                                        <p:attrNameLst>
                                          <p:attrName>ppt_w</p:attrName>
                                        </p:attrNameLst>
                                      </p:cBhvr>
                                      <p:tavLst>
                                        <p:tav tm="0">
                                          <p:val>
                                            <p:strVal val="#ppt_w*0.70"/>
                                          </p:val>
                                        </p:tav>
                                        <p:tav tm="100000">
                                          <p:val>
                                            <p:strVal val="#ppt_w"/>
                                          </p:val>
                                        </p:tav>
                                      </p:tavLst>
                                    </p:anim>
                                    <p:anim calcmode="lin" valueType="num">
                                      <p:cBhvr>
                                        <p:cTn id="18" dur="1000" fill="hold"/>
                                        <p:tgtEl>
                                          <p:spTgt spid="27"/>
                                        </p:tgtEl>
                                        <p:attrNameLst>
                                          <p:attrName>ppt_h</p:attrName>
                                        </p:attrNameLst>
                                      </p:cBhvr>
                                      <p:tavLst>
                                        <p:tav tm="0">
                                          <p:val>
                                            <p:strVal val="#ppt_h"/>
                                          </p:val>
                                        </p:tav>
                                        <p:tav tm="100000">
                                          <p:val>
                                            <p:strVal val="#ppt_h"/>
                                          </p:val>
                                        </p:tav>
                                      </p:tavLst>
                                    </p:anim>
                                    <p:animEffect transition="in" filter="fade">
                                      <p:cBhvr>
                                        <p:cTn id="19" dur="1000"/>
                                        <p:tgtEl>
                                          <p:spTgt spid="27"/>
                                        </p:tgtEl>
                                      </p:cBhvr>
                                    </p:animEffect>
                                  </p:childTnLst>
                                </p:cTn>
                              </p:par>
                              <p:par>
                                <p:cTn id="20" presetID="0" presetClass="path" presetSubtype="0" repeatCount="indefinite" fill="hold" nodeType="withEffect">
                                  <p:stCondLst>
                                    <p:cond delay="0"/>
                                  </p:stCondLst>
                                  <p:childTnLst>
                                    <p:animMotion origin="layout" path="M 1.66667E-6 -0.00031 L 1.66667E-6 0.00031 C 0.00017 -0.09876 1.66667E-6 -0.19753 0.00069 -0.29568 C 0.00087 -0.31234 0.00347 -0.32469 0.00573 -0.34012 C 0.00694 -0.34876 0.00903 -0.36574 0.01076 -0.375 C 0.01354 -0.39105 0.01597 -0.40309 0.01979 -0.41697 C 0.02205 -0.42469 0.02378 -0.43302 0.02656 -0.4392 C 0.02795 -0.44228 0.02934 -0.44475 0.03073 -0.44846 C 0.03194 -0.45092 0.03264 -0.45494 0.03403 -0.45741 C 0.03663 -0.46296 0.03923 -0.46852 0.04236 -0.47191 C 0.0434 -0.47315 0.04462 -0.47407 0.04566 -0.47592 C 0.04774 -0.47963 0.0493 -0.48457 0.05139 -0.48858 C 0.05312 -0.49167 0.05486 -0.49444 0.05642 -0.49753 C 0.06042 -0.50648 0.05625 -0.5 0.05903 -0.50864 C 0.05955 -0.51111 0.06059 -0.51265 0.06146 -0.51451 C 0.0651 -0.53765 0.06441 -0.52901 0.06232 -0.57068 C 0.06215 -0.57315 0.06111 -0.57469 0.06059 -0.57654 C 0.06042 -0.5787 0.06042 -0.58148 0.05972 -0.58364 C 0.05885 -0.58704 0.05764 -0.58981 0.05642 -0.5929 C 0.05434 -0.59815 0.0526 -0.60185 0.04982 -0.60586 C 0.04757 -0.60895 0.04531 -0.61173 0.04323 -0.61512 C 0.04201 -0.61667 0.04097 -0.61883 0.03976 -0.62037 C 0.03854 -0.62191 0.03698 -0.62284 0.03559 -0.62376 C 0.02847 -0.63148 0.03472 -0.62778 0.02743 -0.63117 C 0.02482 -0.63488 0.02448 -0.6358 0.02153 -0.63827 C 0.02066 -0.6392 0.01979 -0.63951 0.0191 -0.64043 C 0.01875 -0.64228 0.01771 -0.64413 0.01823 -0.64568 C 0.01892 -0.64784 0.02048 -0.64784 0.02153 -0.64938 C 0.02274 -0.65092 0.02378 -0.65309 0.02482 -0.65494 L 0.02812 -0.66265 " pathEditMode="relative" rAng="0" ptsTypes="AAAAAAAAAAAAAAAAAAAAAAAAAAAAAA">
                                      <p:cBhvr>
                                        <p:cTn id="21" dur="2500" fill="hold"/>
                                        <p:tgtEl>
                                          <p:spTgt spid="11901"/>
                                        </p:tgtEl>
                                        <p:attrNameLst>
                                          <p:attrName>ppt_x</p:attrName>
                                          <p:attrName>ppt_y</p:attrName>
                                        </p:attrNameLst>
                                      </p:cBhvr>
                                      <p:rCtr x="3194" y="-33086"/>
                                    </p:animMotion>
                                  </p:childTnLst>
                                </p:cTn>
                              </p:par>
                              <p:par>
                                <p:cTn id="22" presetID="0" presetClass="path" presetSubtype="0" repeatCount="indefinite" fill="hold" grpId="0" nodeType="withEffect">
                                  <p:stCondLst>
                                    <p:cond delay="200"/>
                                  </p:stCondLst>
                                  <p:childTnLst>
                                    <p:animMotion origin="layout" path="M 4.44444E-6 -0.00031 L 4.44444E-6 0.00031 C 4.44444E-6 -0.09876 0.02916 -0.06296 0.02986 -0.16142 C 0.03072 -0.21605 0.00138 -0.28703 -0.00139 -0.30216 C -0.00434 -0.31728 0.00486 -0.33271 0.00572 -0.34012 C 0.00694 -0.34876 0.00902 -0.36574 0.01076 -0.375 C 0.01354 -0.39105 0.01597 -0.40339 0.01979 -0.41697 C 0.02204 -0.425 0.02378 -0.43302 0.02656 -0.43919 C 0.02795 -0.4429 0.02934 -0.44475 0.03072 -0.44845 C 0.03194 -0.45092 0.03263 -0.45555 0.03402 -0.4574 C 0.03663 -0.46358 0.03923 -0.46882 0.04236 -0.47253 C 0.0434 -0.47345 0.04461 -0.47407 0.04566 -0.47592 C 0.04774 -0.47993 0.0493 -0.48487 0.05138 -0.48858 L 0.05642 -0.49753 C 0.06041 -0.50648 0.05625 -0.50031 0.05902 -0.50926 C 0.05954 -0.51111 0.06059 -0.51265 0.06145 -0.51481 C 0.0651 -0.53796 0.06441 -0.52901 0.06232 -0.57068 C 0.06215 -0.57314 0.06111 -0.57438 0.06059 -0.57592 C 0.06041 -0.5787 0.06041 -0.58148 0.05972 -0.58333 C 0.05885 -0.58672 0.05763 -0.5895 0.05642 -0.5929 C 0.05434 -0.59753 0.0526 -0.60185 0.04982 -0.60555 L 0.04322 -0.6145 C 0.04201 -0.61635 0.04097 -0.61882 0.03975 -0.62006 C 0.03854 -0.6216 0.03697 -0.62253 0.03559 -0.62345 C 0.02847 -0.63148 0.03472 -0.62777 0.02743 -0.63055 C 0.02482 -0.63426 0.02447 -0.6358 0.02152 -0.63796 C 0.02066 -0.63889 0.01979 -0.6395 0.01909 -0.64043 C 0.01875 -0.64228 0.0177 -0.64413 0.01822 -0.64568 C 0.01892 -0.64784 0.02048 -0.64784 0.02152 -0.64938 C 0.02274 -0.65031 0.02378 -0.65308 0.02482 -0.65493 L 0.02812 -0.66265 " pathEditMode="relative" rAng="0" ptsTypes="AAAAAAAAAAAAAAAAAAAAAAAAAAAAAAA">
                                      <p:cBhvr>
                                        <p:cTn id="23" dur="2500" fill="hold"/>
                                        <p:tgtEl>
                                          <p:spTgt spid="5506"/>
                                        </p:tgtEl>
                                        <p:attrNameLst>
                                          <p:attrName>ppt_x</p:attrName>
                                          <p:attrName>ppt_y</p:attrName>
                                        </p:attrNameLst>
                                      </p:cBhvr>
                                      <p:rCtr x="3090" y="-33086"/>
                                    </p:animMotion>
                                  </p:childTnLst>
                                </p:cTn>
                              </p:par>
                              <p:par>
                                <p:cTn id="24" presetID="0" presetClass="path" presetSubtype="0" repeatCount="indefinite" fill="hold" nodeType="withEffect">
                                  <p:stCondLst>
                                    <p:cond delay="1600"/>
                                  </p:stCondLst>
                                  <p:childTnLst>
                                    <p:animMotion origin="layout" path="M 1.11111E-6 -0.00031 L 1.11111E-6 0.00031 C 1.11111E-6 -0.09877 1.11111E-6 -0.19753 0.00052 -0.29599 C 0.00069 -0.31235 0.00347 -0.32469 0.00573 -0.34012 C 0.00694 -0.34877 -0.01806 -0.36389 -0.01632 -0.37315 C -0.01354 -0.3892 0.01267 -0.40617 0.01979 -0.41698 C 0.02691 -0.42809 0.02378 -0.43303 0.02656 -0.4392 C 0.02795 -0.4429 0.02934 -0.44475 0.03073 -0.44846 C 0.03194 -0.45093 0.03264 -0.45556 0.03403 -0.45741 C 0.03663 -0.46358 0.03924 -0.46883 0.04236 -0.47253 C 0.0434 -0.47346 0.04462 -0.47407 0.04566 -0.47593 C 0.04774 -0.47963 0.0493 -0.48488 0.05139 -0.48858 C 0.05295 -0.49198 0.03489 -0.49136 0.03663 -0.49383 C 0.04062 -0.50278 0.05625 -0.50031 0.05903 -0.50926 C 0.05955 -0.51111 0.03455 -0.53704 0.03542 -0.53858 C 0.03906 -0.56204 0.06441 -0.52901 0.06233 -0.57099 C 0.06215 -0.57377 0.06111 -0.57531 0.06059 -0.57716 C 0.06042 -0.57901 0.06042 -0.58179 0.05972 -0.58457 C 0.05885 -0.58735 0.05764 -0.59074 0.05642 -0.59352 C 0.05434 -0.59877 0.0526 -0.60247 0.04983 -0.60617 L 0.04323 -0.61451 C 0.04201 -0.61636 0.04097 -0.61883 0.03976 -0.62006 C 0.03854 -0.62161 0.03698 -0.62253 0.03559 -0.62346 C 0.02847 -0.63148 0.03472 -0.62778 0.02743 -0.63056 C 0.02483 -0.63426 0.02448 -0.6358 0.02153 -0.63796 C 0.02066 -0.63889 0.01979 -0.63951 0.0191 -0.64043 C 0.01875 -0.64228 0.01771 -0.64414 0.01823 -0.64568 C 0.01892 -0.64784 0.02049 -0.64784 0.02153 -0.64938 C 0.02274 -0.65031 0.02378 -0.65309 0.02483 -0.65494 L 0.02812 -0.66266 " pathEditMode="relative" rAng="0" ptsTypes="AAAAAAAAAAAAAAAAAAAAAAAAAAAAAA">
                                      <p:cBhvr>
                                        <p:cTn id="25" dur="2500" fill="hold"/>
                                        <p:tgtEl>
                                          <p:spTgt spid="5507"/>
                                        </p:tgtEl>
                                        <p:attrNameLst>
                                          <p:attrName>ppt_x</p:attrName>
                                          <p:attrName>ppt_y</p:attrName>
                                        </p:attrNameLst>
                                      </p:cBhvr>
                                      <p:rCtr x="2309" y="-33086"/>
                                    </p:animMotion>
                                  </p:childTnLst>
                                </p:cTn>
                              </p:par>
                              <p:par>
                                <p:cTn id="26" presetID="0" presetClass="path" presetSubtype="0" repeatCount="indefinite" fill="hold" grpId="0" nodeType="withEffect">
                                  <p:stCondLst>
                                    <p:cond delay="0"/>
                                  </p:stCondLst>
                                  <p:childTnLst>
                                    <p:animMotion origin="layout" path="M -2.77778E-7 -0.00031 L -2.77778E-7 0.0003 C -0.00017 -0.09877 -2.77778E-7 -0.19784 -0.00069 -0.29568 C -0.00087 -0.31235 -0.00295 -0.3247 -0.00469 -0.34013 C -0.00573 -0.34877 -0.00746 -0.36575 -0.00885 -0.375 C -0.01111 -0.39105 -0.01302 -0.40309 -0.01615 -0.41698 C -0.01806 -0.4247 -0.01944 -0.43303 -0.0217 -0.4392 C -0.02292 -0.44229 -0.02396 -0.44476 -0.02517 -0.44846 C -0.02604 -0.45093 -0.02674 -0.45494 -0.02778 -0.45741 C -0.03003 -0.46297 -0.03212 -0.46852 -0.03455 -0.47192 C -0.03542 -0.47315 -0.03646 -0.47408 -0.03733 -0.47593 C -0.03906 -0.47994 -0.04028 -0.48457 -0.04201 -0.48858 C -0.0434 -0.49167 -0.04479 -0.49445 -0.04601 -0.49754 C -0.04931 -0.50649 -0.04601 -0.5 -0.04826 -0.50865 C -0.04861 -0.51112 -0.04948 -0.51266 -0.05017 -0.51482 C -0.05312 -0.53766 -0.0526 -0.52902 -0.05087 -0.57099 C -0.05069 -0.57346 -0.04983 -0.575 -0.04948 -0.57686 C -0.04931 -0.57902 -0.04931 -0.58179 -0.04878 -0.58396 C -0.04809 -0.58735 -0.04705 -0.59013 -0.04601 -0.59321 C -0.04444 -0.59846 -0.04306 -0.60217 -0.04062 -0.60618 C -0.03889 -0.60926 -0.03698 -0.61204 -0.03524 -0.61544 C -0.03437 -0.61698 -0.03351 -0.61914 -0.03246 -0.62068 C -0.03142 -0.62223 -0.03021 -0.62315 -0.02917 -0.62408 C -0.02326 -0.63149 -0.02847 -0.62778 -0.0224 -0.63118 C -0.02031 -0.63488 -0.01996 -0.63581 -0.01771 -0.63828 C -0.01701 -0.6392 -0.01615 -0.63951 -0.01562 -0.64044 C -0.01545 -0.64229 -0.01458 -0.64414 -0.01493 -0.64568 C -0.01545 -0.64784 -0.01684 -0.64784 -0.01771 -0.64939 C -0.01858 -0.65093 -0.01944 -0.65309 -0.02031 -0.65494 L -0.02309 -0.66266 " pathEditMode="relative" rAng="0" ptsTypes="AAAAAAAAAAAAAAAAAAAAAAAAAAAAAA">
                                      <p:cBhvr>
                                        <p:cTn id="27" dur="2500" fill="hold"/>
                                        <p:tgtEl>
                                          <p:spTgt spid="5508"/>
                                        </p:tgtEl>
                                        <p:attrNameLst>
                                          <p:attrName>ppt_x</p:attrName>
                                          <p:attrName>ppt_y</p:attrName>
                                        </p:attrNameLst>
                                      </p:cBhvr>
                                      <p:rCtr x="-2622" y="-33086"/>
                                    </p:animMotion>
                                  </p:childTnLst>
                                </p:cTn>
                              </p:par>
                              <p:par>
                                <p:cTn id="28" presetID="0" presetClass="path" presetSubtype="0" repeatCount="indefinite" fill="hold" nodeType="withEffect">
                                  <p:stCondLst>
                                    <p:cond delay="300"/>
                                  </p:stCondLst>
                                  <p:childTnLst>
                                    <p:animMotion origin="layout" path="M 5E-6 -0.00031 L 5E-6 0.00031 C 0.00018 -0.09877 5E-6 -0.19753 0.0007 -0.29568 C 0.00087 -0.31235 0.00348 -0.32469 0.00573 -0.34013 C 0.00695 -0.34877 0.00903 -0.36574 0.01077 -0.375 C 0.01355 -0.39105 0.01598 -0.40309 0.0198 -0.41698 C 0.02205 -0.42469 0.02379 -0.43303 0.02657 -0.4392 C 0.02796 -0.44229 0.02935 -0.44476 0.03073 -0.44846 C 0.03195 -0.45093 0.03264 -0.45494 0.03403 -0.45741 C 0.03664 -0.46297 0.03924 -0.46852 0.04237 -0.47192 C 0.04341 -0.47315 0.04462 -0.47408 0.04566 -0.47593 C 0.04775 -0.47963 0.04931 -0.48457 0.05139 -0.48858 C 0.05313 -0.49167 0.05487 -0.49445 0.05643 -0.49753 C 0.06042 -0.50648 0.05626 -0.5 0.05903 -0.50864 C 0.05955 -0.51111 0.0606 -0.51266 0.06146 -0.51451 C 0.06511 -0.53766 0.06441 -0.52901 0.06233 -0.57099 C 0.06216 -0.57346 0.06112 -0.575 0.0606 -0.57685 C 0.06042 -0.57901 0.06042 -0.58179 0.05973 -0.58395 C 0.05886 -0.58735 0.05764 -0.59013 0.05643 -0.59321 C 0.05435 -0.59846 0.0526 -0.60216 0.04983 -0.60618 C 0.04757 -0.60926 0.04532 -0.61204 0.04323 -0.61543 C 0.04202 -0.61698 0.04098 -0.61914 0.03976 -0.62068 C 0.03855 -0.62222 0.03698 -0.62315 0.0356 -0.62408 C 0.02848 -0.63179 0.03473 -0.62809 0.02744 -0.63148 C 0.02483 -0.63519 0.02448 -0.63611 0.02153 -0.63858 C 0.02066 -0.63951 0.0198 -0.63982 0.0191 -0.64074 C 0.01876 -0.6426 0.01771 -0.64445 0.01823 -0.64599 C 0.01893 -0.64815 0.02049 -0.64815 0.02153 -0.64969 C 0.02275 -0.65124 0.02379 -0.6534 0.02483 -0.65525 L 0.02813 -0.66266 " pathEditMode="relative" rAng="0" ptsTypes="AAAAAAAAAAAAAAAAAAAAAAAAAAAAAA">
                                      <p:cBhvr>
                                        <p:cTn id="29" dur="2500" fill="hold"/>
                                        <p:tgtEl>
                                          <p:spTgt spid="5509"/>
                                        </p:tgtEl>
                                        <p:attrNameLst>
                                          <p:attrName>ppt_x</p:attrName>
                                          <p:attrName>ppt_y</p:attrName>
                                        </p:attrNameLst>
                                      </p:cBhvr>
                                      <p:rCtr x="3194" y="-33086"/>
                                    </p:animMotion>
                                  </p:childTnLst>
                                </p:cTn>
                              </p:par>
                              <p:par>
                                <p:cTn id="30" presetID="0" presetClass="path" presetSubtype="0" repeatCount="indefinite" fill="hold" grpId="0" nodeType="withEffect">
                                  <p:stCondLst>
                                    <p:cond delay="1000"/>
                                  </p:stCondLst>
                                  <p:childTnLst>
                                    <p:animMotion origin="layout" path="M -2.22222E-6 -0.00031 L -2.22222E-6 0.00031 C 0.00018 -0.09876 -2.22222E-6 -0.19784 0.0007 -0.29568 C 0.00087 -0.31235 0.00347 -0.32469 0.00573 -0.34012 C 0.00695 -0.34876 0.00903 -0.36574 0.01077 -0.375 C 0.01354 -0.39105 0.01597 -0.40309 0.01979 -0.41697 C 0.02205 -0.42469 0.02379 -0.43302 0.02656 -0.4392 C 0.02795 -0.44228 0.02934 -0.44475 0.03073 -0.44846 C 0.03195 -0.45093 0.03264 -0.45494 0.03403 -0.45741 C 0.03663 -0.46296 0.03924 -0.46852 0.04236 -0.47191 C 0.04341 -0.47315 0.04462 -0.47407 0.04566 -0.47593 C 0.04775 -0.47994 0.04931 -0.48457 0.05139 -0.48858 C 0.05313 -0.49167 0.05486 -0.49444 0.05643 -0.49753 C 0.06042 -0.50648 0.05625 -0.5 0.05903 -0.50864 C 0.05955 -0.51111 0.06059 -0.51265 0.06146 -0.51451 C 0.06511 -0.53765 0.06441 -0.52901 0.06233 -0.57099 C 0.06216 -0.57346 0.06111 -0.575 0.06059 -0.57685 C 0.06042 -0.57901 0.06042 -0.58179 0.05972 -0.58395 C 0.05886 -0.58735 0.05764 -0.59012 0.05643 -0.59321 C 0.05434 -0.59846 0.05261 -0.60216 0.04983 -0.60617 C 0.04757 -0.60926 0.04531 -0.61204 0.04323 -0.61543 C 0.04202 -0.61697 0.04097 -0.61914 0.03976 -0.62068 C 0.03854 -0.62222 0.03698 -0.62315 0.03559 -0.62407 C 0.02847 -0.63179 0.03472 -0.62809 0.02743 -0.63148 C 0.02483 -0.63518 0.02448 -0.63611 0.02153 -0.63889 C 0.02066 -0.63951 0.01979 -0.63981 0.0191 -0.64074 C 0.01875 -0.64259 0.01771 -0.64444 0.01823 -0.64599 C 0.01893 -0.64815 0.02049 -0.64815 0.02153 -0.64969 C 0.02275 -0.65123 0.02379 -0.65339 0.02483 -0.65525 L 0.02813 -0.66265 " pathEditMode="relative" rAng="0" ptsTypes="AAAAAAAAAAAAAAAAAAAAAAAAAAAAAA">
                                      <p:cBhvr>
                                        <p:cTn id="31" dur="2500" fill="hold"/>
                                        <p:tgtEl>
                                          <p:spTgt spid="5510"/>
                                        </p:tgtEl>
                                        <p:attrNameLst>
                                          <p:attrName>ppt_x</p:attrName>
                                          <p:attrName>ppt_y</p:attrName>
                                        </p:attrNameLst>
                                      </p:cBhvr>
                                      <p:rCtr x="3194" y="-33086"/>
                                    </p:animMotion>
                                  </p:childTnLst>
                                </p:cTn>
                              </p:par>
                              <p:par>
                                <p:cTn id="32" presetID="0" presetClass="path" presetSubtype="0" repeatCount="indefinite" fill="hold" nodeType="withEffect">
                                  <p:stCondLst>
                                    <p:cond delay="0"/>
                                  </p:stCondLst>
                                  <p:childTnLst>
                                    <p:animMotion origin="layout" path="M 1.38889E-6 -0.00031 L 1.38889E-6 0.00031 C 1.38889E-6 -0.09877 0.01458 -0.13642 0.01528 -0.23488 C 0.01545 -0.25124 0.0033 -0.32469 0.00573 -0.34012 C 0.00694 -0.34877 0.00903 -0.36574 0.01076 -0.375 C 0.01354 -0.39105 0.01597 -0.4034 0.01979 -0.41698 C 0.02205 -0.425 0.02378 -0.43303 0.02656 -0.4392 C 0.02795 -0.44259 0.02934 -0.44475 0.03073 -0.44846 C 0.03194 -0.45093 0.03264 -0.45525 0.03403 -0.45741 C 0.03663 -0.46327 0.03923 -0.46883 0.04236 -0.47222 C 0.0434 -0.47346 0.04462 -0.47408 0.04566 -0.47593 C 0.04774 -0.47963 0.0493 -0.48488 0.05139 -0.48858 L 0.05642 -0.49753 C 0.06042 -0.50648 0.05625 -0.50031 0.05903 -0.50895 C 0.05955 -0.51111 0.06059 -0.51266 0.06146 -0.51451 C 0.0651 -0.53796 0.06441 -0.52901 0.06233 -0.57068 C 0.06215 -0.57315 0.06111 -0.57438 0.06059 -0.57624 C 0.06042 -0.5787 0.06042 -0.58148 0.05972 -0.58333 C 0.05885 -0.58673 0.05764 -0.58951 0.05642 -0.5929 C 0.05434 -0.59784 0.0526 -0.60185 0.04983 -0.60556 L 0.04323 -0.61482 C 0.04201 -0.61636 0.04097 -0.61883 0.03976 -0.62006 C 0.03854 -0.62161 0.03698 -0.62253 0.03559 -0.62346 C 0.02847 -0.63148 0.03472 -0.62778 0.02743 -0.63087 C 0.02483 -0.63457 0.02448 -0.6358 0.02153 -0.63796 C 0.02066 -0.63889 0.01979 -0.63951 0.0191 -0.64043 C 0.01875 -0.64229 0.01771 -0.64414 0.01823 -0.64568 C 0.01892 -0.64784 0.02048 -0.64784 0.02153 -0.64938 C 0.02274 -0.65062 0.02378 -0.65309 0.02483 -0.65494 L 0.02812 -0.66266 " pathEditMode="relative" rAng="0" ptsTypes="AAAAAAAAAAAAAAAAAAAAAAAAAAAAAA">
                                      <p:cBhvr>
                                        <p:cTn id="33" dur="2500" fill="hold"/>
                                        <p:tgtEl>
                                          <p:spTgt spid="5511"/>
                                        </p:tgtEl>
                                        <p:attrNameLst>
                                          <p:attrName>ppt_x</p:attrName>
                                          <p:attrName>ppt_y</p:attrName>
                                        </p:attrNameLst>
                                      </p:cBhvr>
                                      <p:rCtr x="3194" y="-33086"/>
                                    </p:animMotion>
                                  </p:childTnLst>
                                </p:cTn>
                              </p:par>
                              <p:par>
                                <p:cTn id="34" presetID="0" presetClass="path" presetSubtype="0" repeatCount="indefinite" fill="hold" grpId="0" nodeType="withEffect">
                                  <p:stCondLst>
                                    <p:cond delay="1300"/>
                                  </p:stCondLst>
                                  <p:childTnLst>
                                    <p:animMotion origin="layout" path="M 1.38778E-17 -0.0003 L 1.38778E-17 0.00031 C 0.00017 -0.09876 1.38778E-17 -0.19753 0.00069 -0.29568 C 0.00087 -0.31234 0.00347 -0.32469 0.00573 -0.34012 C 0.00694 -0.34876 0.00903 -0.36574 0.01076 -0.375 C 0.01354 -0.39105 0.01597 -0.40308 0.01979 -0.41697 C 0.02205 -0.42469 0.02378 -0.43302 0.02656 -0.43919 C 0.02795 -0.44228 0.02934 -0.44475 0.03073 -0.44845 C 0.03194 -0.45092 0.03264 -0.45493 0.03403 -0.4574 C 0.03663 -0.46296 0.03924 -0.46851 0.04236 -0.47191 C 0.0434 -0.47314 0.04462 -0.47407 0.04566 -0.47592 C 0.04774 -0.47963 0.04931 -0.48456 0.05139 -0.48858 C 0.05313 -0.49166 0.05486 -0.49444 0.05642 -0.49753 C 0.06042 -0.50648 0.05625 -0.5 0.05903 -0.50864 C 0.05955 -0.51111 0.06059 -0.51265 0.06146 -0.5145 C 0.0651 -0.53765 0.06441 -0.52901 0.06233 -0.57098 C 0.06215 -0.57345 0.06111 -0.575 0.06059 -0.57685 C 0.06042 -0.5787 0.06042 -0.58148 0.05972 -0.58364 C 0.05885 -0.58703 0.05764 -0.58981 0.05642 -0.5929 C 0.05434 -0.59814 0.0526 -0.60185 0.04983 -0.60586 C 0.04757 -0.60895 0.04531 -0.61172 0.04323 -0.61512 C 0.04201 -0.61666 0.04097 -0.61882 0.03976 -0.62037 C 0.03854 -0.62191 0.03698 -0.62284 0.03559 -0.62376 C 0.02847 -0.63148 0.03472 -0.62777 0.02743 -0.63117 C 0.02483 -0.63487 0.02448 -0.6358 0.02153 -0.63827 C 0.02066 -0.63919 0.01979 -0.6395 0.0191 -0.64043 C 0.01875 -0.64228 0.01771 -0.64413 0.01823 -0.64568 C 0.01892 -0.64784 0.02049 -0.64784 0.02153 -0.64938 C 0.02274 -0.65092 0.02378 -0.65308 0.02483 -0.65493 L 0.02813 -0.66265 " pathEditMode="relative" rAng="0" ptsTypes="AAAAAAAAAAAAAAAAAAAAAAAAAAAAAA">
                                      <p:cBhvr>
                                        <p:cTn id="35" dur="2500" fill="hold"/>
                                        <p:tgtEl>
                                          <p:spTgt spid="5512"/>
                                        </p:tgtEl>
                                        <p:attrNameLst>
                                          <p:attrName>ppt_x</p:attrName>
                                          <p:attrName>ppt_y</p:attrName>
                                        </p:attrNameLst>
                                      </p:cBhvr>
                                      <p:rCtr x="3194" y="-33086"/>
                                    </p:animMotion>
                                  </p:childTnLst>
                                </p:cTn>
                              </p:par>
                              <p:par>
                                <p:cTn id="36" presetID="0" presetClass="path" presetSubtype="0" repeatCount="indefinite" fill="hold" nodeType="withEffect">
                                  <p:stCondLst>
                                    <p:cond delay="100"/>
                                  </p:stCondLst>
                                  <p:childTnLst>
                                    <p:animMotion origin="layout" path="M -3.33333E-6 -0.00031 L -3.33333E-6 0.0003 C 0.00018 -0.09877 -3.33333E-6 -0.19753 0.0007 -0.29568 C 0.00087 -0.31235 0.00348 -0.3247 0.00573 -0.34013 C 0.00695 -0.34877 0.00903 -0.36574 0.01077 -0.375 C 0.01355 -0.39105 0.01598 -0.40309 0.0198 -0.41698 C 0.02205 -0.4247 0.02379 -0.43303 0.02657 -0.4392 C 0.02795 -0.44229 0.02934 -0.44476 0.03073 -0.44846 C 0.03195 -0.45093 0.03264 -0.45494 0.03403 -0.45741 C 0.03664 -0.46297 0.03924 -0.46852 0.04236 -0.47192 C 0.04341 -0.47315 0.04462 -0.47408 0.04566 -0.47593 C 0.04775 -0.47963 0.04931 -0.48457 0.05139 -0.48858 C 0.05313 -0.49167 0.05486 -0.49445 0.05643 -0.49753 C 0.06042 -0.50649 0.05625 -0.5 0.05903 -0.50865 C 0.05955 -0.51112 0.06059 -0.51266 0.06146 -0.51451 C 0.06511 -0.53766 0.06441 -0.52902 0.06233 -0.57099 C 0.06216 -0.57346 0.06111 -0.575 0.06059 -0.57686 C 0.06042 -0.57902 0.06042 -0.58179 0.05973 -0.58395 C 0.05886 -0.58735 0.05764 -0.59013 0.05643 -0.59321 C 0.05434 -0.59846 0.05261 -0.60216 0.04983 -0.60618 C 0.04757 -0.60926 0.04532 -0.61204 0.04323 -0.61544 C 0.04202 -0.61698 0.04098 -0.61914 0.03976 -0.62068 C 0.03855 -0.62223 0.03698 -0.62315 0.03559 -0.62408 C 0.02848 -0.63179 0.03473 -0.62809 0.02743 -0.63149 C 0.02483 -0.63519 0.02448 -0.63612 0.02153 -0.63858 C 0.02066 -0.63951 0.0198 -0.63982 0.0191 -0.64074 C 0.01875 -0.6426 0.01771 -0.64445 0.01823 -0.64599 C 0.01893 -0.64815 0.02049 -0.64815 0.02153 -0.6497 C 0.02275 -0.65124 0.02379 -0.6534 0.02483 -0.65525 L 0.02813 -0.66266 " pathEditMode="relative" rAng="0" ptsTypes="AAAAAAAAAAAAAAAAAAAAAAAAAAAAAA">
                                      <p:cBhvr>
                                        <p:cTn id="37" dur="2500" fill="hold"/>
                                        <p:tgtEl>
                                          <p:spTgt spid="5513"/>
                                        </p:tgtEl>
                                        <p:attrNameLst>
                                          <p:attrName>ppt_x</p:attrName>
                                          <p:attrName>ppt_y</p:attrName>
                                        </p:attrNameLst>
                                      </p:cBhvr>
                                      <p:rCtr x="3194" y="-33086"/>
                                    </p:animMotion>
                                  </p:childTnLst>
                                </p:cTn>
                              </p:par>
                              <p:par>
                                <p:cTn id="38" presetID="0" presetClass="path" presetSubtype="0" repeatCount="indefinite" fill="hold" grpId="0" nodeType="withEffect">
                                  <p:stCondLst>
                                    <p:cond delay="1000"/>
                                  </p:stCondLst>
                                  <p:childTnLst>
                                    <p:animMotion origin="layout" path="M 5E-6 -0.0003 L 5E-6 0.00031 C 0.00017 -0.09876 5E-6 -0.19753 0.0007 -0.29567 C 0.00087 -0.31234 0.00348 -0.32469 0.00572 -0.34012 C 0.00694 -0.34876 0.00902 -0.36574 0.01077 -0.375 C 0.01355 -0.39105 0.01598 -0.40308 0.0198 -0.41697 C 0.02205 -0.42469 0.02378 -0.43302 0.02657 -0.43919 C 0.02795 -0.44228 0.02934 -0.44475 0.03073 -0.44845 C 0.03195 -0.45092 0.03264 -0.45493 0.03403 -0.4574 C 0.03664 -0.46296 0.03923 -0.46851 0.04237 -0.47191 C 0.0434 -0.47314 0.04462 -0.47407 0.04566 -0.47592 C 0.04775 -0.47963 0.0493 -0.48456 0.05138 -0.48858 C 0.05313 -0.49166 0.05487 -0.49444 0.05642 -0.49753 C 0.06042 -0.50648 0.05625 -0.5 0.05903 -0.50864 C 0.05955 -0.51111 0.0606 -0.51265 0.06145 -0.5145 C 0.06511 -0.53765 0.0644 -0.52901 0.06233 -0.57098 C 0.06215 -0.57345 0.06112 -0.575 0.0606 -0.57685 C 0.06042 -0.57901 0.06042 -0.58179 0.05973 -0.58395 C 0.05886 -0.58734 0.05764 -0.59012 0.05642 -0.59321 C 0.05435 -0.59845 0.05261 -0.60216 0.04983 -0.60617 C 0.04757 -0.60926 0.04532 -0.61203 0.04322 -0.61543 C 0.04202 -0.61697 0.04098 -0.61913 0.03976 -0.62067 C 0.03855 -0.62222 0.03698 -0.62314 0.0356 -0.62407 C 0.02848 -0.63179 0.03473 -0.62808 0.02743 -0.63148 C 0.02483 -0.63518 0.02448 -0.63611 0.02153 -0.63858 C 0.02066 -0.6395 0.0198 -0.63981 0.0191 -0.64074 C 0.01876 -0.64259 0.01771 -0.64444 0.01822 -0.64598 C 0.01893 -0.64814 0.02049 -0.64814 0.02153 -0.64969 C 0.02275 -0.65123 0.02378 -0.65339 0.02483 -0.65524 L 0.02812 -0.66265 " pathEditMode="relative" rAng="0" ptsTypes="AAAAAAAAAAAAAAAAAAAAAAAAAAAAAA">
                                      <p:cBhvr>
                                        <p:cTn id="39" dur="2500" fill="hold"/>
                                        <p:tgtEl>
                                          <p:spTgt spid="5514"/>
                                        </p:tgtEl>
                                        <p:attrNameLst>
                                          <p:attrName>ppt_x</p:attrName>
                                          <p:attrName>ppt_y</p:attrName>
                                        </p:attrNameLst>
                                      </p:cBhvr>
                                      <p:rCtr x="3194" y="-33086"/>
                                    </p:animMotion>
                                  </p:childTnLst>
                                </p:cTn>
                              </p:par>
                              <p:par>
                                <p:cTn id="40" presetID="0" presetClass="path" presetSubtype="0" repeatCount="indefinite" fill="hold" nodeType="withEffect">
                                  <p:stCondLst>
                                    <p:cond delay="100"/>
                                  </p:stCondLst>
                                  <p:childTnLst>
                                    <p:animMotion origin="layout" path="M -3.61111E-6 -0.00031 L -3.61111E-6 0.00031 C 0.00018 -0.09876 -0.00729 -0.06481 -0.00659 -0.16265 C -0.00642 -0.17932 0.02223 -0.26018 0.02448 -0.27562 C 0.0257 -0.28426 -0.03264 -0.34722 -0.0309 -0.35679 C -0.02812 -0.37284 0.01025 -0.40339 0.0198 -0.41697 C 0.02934 -0.43117 0.02379 -0.43302 0.02657 -0.4392 C 0.02796 -0.4429 0.02934 -0.44475 0.03073 -0.44846 C 0.03195 -0.45092 0.03264 -0.45555 0.03403 -0.45741 C 0.03664 -0.46358 0.03924 -0.46883 0.04236 -0.47253 C 0.04341 -0.47346 0.04462 -0.47407 0.04566 -0.47592 C 0.04775 -0.47963 0.04931 -0.48488 0.05139 -0.48858 L 0.05643 -0.49753 C 0.06042 -0.50648 0.05625 -0.50031 0.05903 -0.50926 C 0.05955 -0.51111 0.06059 -0.51265 0.06146 -0.5145 C 0.06511 -0.53796 0.06441 -0.52901 0.06233 -0.57068 C 0.06216 -0.57315 0.06111 -0.57438 0.06059 -0.57592 C 0.06042 -0.5787 0.06042 -0.58148 0.05973 -0.58333 C 0.05886 -0.58673 0.05764 -0.5895 0.05643 -0.5929 C 0.05434 -0.59753 0.05261 -0.60185 0.04983 -0.60555 L 0.04323 -0.6145 C 0.04202 -0.61636 0.04098 -0.61883 0.03976 -0.62006 C 0.03855 -0.6216 0.03698 -0.62253 0.03559 -0.62346 C 0.02848 -0.63148 0.03473 -0.62778 0.02743 -0.63055 C 0.02483 -0.63426 0.02448 -0.6358 0.02153 -0.63796 C 0.02066 -0.63889 0.0198 -0.6395 0.0191 -0.64043 C 0.01875 -0.64228 0.01771 -0.64413 0.01823 -0.64568 C 0.01893 -0.64784 0.02049 -0.64784 0.02153 -0.64938 C 0.02275 -0.65031 0.02379 -0.65308 0.02483 -0.65494 L 0.02813 -0.66265 " pathEditMode="relative" rAng="0" ptsTypes="AAAAAAAAAAAAAAAAAAAAAAAAAAAAAA">
                                      <p:cBhvr>
                                        <p:cTn id="41" dur="2500" fill="hold"/>
                                        <p:tgtEl>
                                          <p:spTgt spid="5515"/>
                                        </p:tgtEl>
                                        <p:attrNameLst>
                                          <p:attrName>ppt_x</p:attrName>
                                          <p:attrName>ppt_y</p:attrName>
                                        </p:attrNameLst>
                                      </p:cBhvr>
                                      <p:rCtr x="1649" y="-33086"/>
                                    </p:animMotion>
                                  </p:childTnLst>
                                </p:cTn>
                              </p:par>
                              <p:par>
                                <p:cTn id="42" presetID="8" presetClass="emph" presetSubtype="0" repeatCount="indefinite" fill="hold" grpId="0" nodeType="withEffect">
                                  <p:stCondLst>
                                    <p:cond delay="0"/>
                                  </p:stCondLst>
                                  <p:childTnLst>
                                    <p:animRot by="-21600000">
                                      <p:cBhvr>
                                        <p:cTn id="43" dur="30000" fill="hold"/>
                                        <p:tgtEl>
                                          <p:spTgt spid="28"/>
                                        </p:tgtEl>
                                        <p:attrNameLst>
                                          <p:attrName>r</p:attrName>
                                        </p:attrNameLst>
                                      </p:cBhvr>
                                    </p:animRot>
                                  </p:childTnLst>
                                </p:cTn>
                              </p:par>
                              <p:par>
                                <p:cTn id="44" presetID="8" presetClass="emph" presetSubtype="0" repeatCount="indefinite" fill="hold" grpId="0" nodeType="withEffect">
                                  <p:stCondLst>
                                    <p:cond delay="0"/>
                                  </p:stCondLst>
                                  <p:childTnLst>
                                    <p:animRot by="21600000">
                                      <p:cBhvr>
                                        <p:cTn id="45" dur="30000" fill="hold"/>
                                        <p:tgtEl>
                                          <p:spTgt spid="11876"/>
                                        </p:tgtEl>
                                        <p:attrNameLst>
                                          <p:attrName>r</p:attrName>
                                        </p:attrNameLst>
                                      </p:cBhvr>
                                    </p:animRot>
                                  </p:childTnLst>
                                </p:cTn>
                              </p:par>
                              <p:par>
                                <p:cTn id="46" presetID="55" presetClass="entr" presetSubtype="0" fill="hold" grpId="0" nodeType="withEffect">
                                  <p:stCondLst>
                                    <p:cond delay="2000"/>
                                  </p:stCondLst>
                                  <p:childTnLst>
                                    <p:set>
                                      <p:cBhvr>
                                        <p:cTn id="47" dur="1" fill="hold">
                                          <p:stCondLst>
                                            <p:cond delay="0"/>
                                          </p:stCondLst>
                                        </p:cTn>
                                        <p:tgtEl>
                                          <p:spTgt spid="2"/>
                                        </p:tgtEl>
                                        <p:attrNameLst>
                                          <p:attrName>style.visibility</p:attrName>
                                        </p:attrNameLst>
                                      </p:cBhvr>
                                      <p:to>
                                        <p:strVal val="visible"/>
                                      </p:to>
                                    </p:set>
                                    <p:anim calcmode="lin" valueType="num">
                                      <p:cBhvr>
                                        <p:cTn id="48" dur="1000" fill="hold"/>
                                        <p:tgtEl>
                                          <p:spTgt spid="2"/>
                                        </p:tgtEl>
                                        <p:attrNameLst>
                                          <p:attrName>ppt_w</p:attrName>
                                        </p:attrNameLst>
                                      </p:cBhvr>
                                      <p:tavLst>
                                        <p:tav tm="0">
                                          <p:val>
                                            <p:strVal val="#ppt_w*0.70"/>
                                          </p:val>
                                        </p:tav>
                                        <p:tav tm="100000">
                                          <p:val>
                                            <p:strVal val="#ppt_w"/>
                                          </p:val>
                                        </p:tav>
                                      </p:tavLst>
                                    </p:anim>
                                    <p:anim calcmode="lin" valueType="num">
                                      <p:cBhvr>
                                        <p:cTn id="49" dur="1000" fill="hold"/>
                                        <p:tgtEl>
                                          <p:spTgt spid="2"/>
                                        </p:tgtEl>
                                        <p:attrNameLst>
                                          <p:attrName>ppt_h</p:attrName>
                                        </p:attrNameLst>
                                      </p:cBhvr>
                                      <p:tavLst>
                                        <p:tav tm="0">
                                          <p:val>
                                            <p:strVal val="#ppt_h"/>
                                          </p:val>
                                        </p:tav>
                                        <p:tav tm="100000">
                                          <p:val>
                                            <p:strVal val="#ppt_h"/>
                                          </p:val>
                                        </p:tav>
                                      </p:tavLst>
                                    </p:anim>
                                    <p:animEffect transition="in" filter="fade">
                                      <p:cBhvr>
                                        <p:cTn id="5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6" grpId="0" animBg="1"/>
      <p:bldP spid="5506" grpId="0" animBg="1"/>
      <p:bldP spid="5510" grpId="0" animBg="1"/>
      <p:bldP spid="5512" grpId="0" animBg="1"/>
      <p:bldP spid="5514" grpId="0" animBg="1"/>
      <p:bldP spid="5508" grpId="0" animBg="1"/>
      <p:bldP spid="28" grpId="0" animBg="1"/>
      <p:bldP spid="21" grpId="0"/>
      <p:bldP spid="27"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Main Question</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Problem</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02</a:t>
            </a:r>
            <a:endParaRPr lang="en-US" sz="1200" dirty="0">
              <a:solidFill>
                <a:prstClr val="black"/>
              </a:solidFill>
            </a:endParaRPr>
          </a:p>
        </p:txBody>
      </p:sp>
      <p:sp>
        <p:nvSpPr>
          <p:cNvPr id="8" name="Text 6"/>
          <p:cNvSpPr/>
          <p:nvPr/>
        </p:nvSpPr>
        <p:spPr>
          <a:xfrm>
            <a:off x="514350" y="925830"/>
            <a:ext cx="8092440" cy="514350"/>
          </a:xfrm>
          <a:prstGeom prst="rect">
            <a:avLst/>
          </a:prstGeom>
          <a:noFill/>
          <a:ln/>
        </p:spPr>
        <p:txBody>
          <a:bodyPr wrap="square" lIns="0" tIns="0" rIns="0" bIns="0" rtlCol="0" anchor="ctr">
            <a:normAutofit fontScale="85000" lnSpcReduction="10000"/>
          </a:bodyPr>
          <a:lstStyle/>
          <a:p>
            <a:pPr algn="ctr" defTabSz="685783"/>
            <a:r>
              <a:rPr lang="en-US" sz="2600" b="1" dirty="0">
                <a:solidFill>
                  <a:srgbClr val="0B2A4A"/>
                </a:solidFill>
              </a:rPr>
              <a:t>Can seizure onset be understood as a dynamical transition?</a:t>
            </a:r>
            <a:endParaRPr lang="en-US" sz="2600" dirty="0">
              <a:solidFill>
                <a:prstClr val="black"/>
              </a:solidFill>
            </a:endParaRPr>
          </a:p>
        </p:txBody>
      </p:sp>
      <p:sp>
        <p:nvSpPr>
          <p:cNvPr id="9" name="Shape 7"/>
          <p:cNvSpPr/>
          <p:nvPr/>
        </p:nvSpPr>
        <p:spPr>
          <a:xfrm>
            <a:off x="2331720" y="2434590"/>
            <a:ext cx="1371600" cy="0"/>
          </a:xfrm>
          <a:prstGeom prst="line">
            <a:avLst/>
          </a:prstGeom>
          <a:noFill/>
          <a:ln w="25400">
            <a:solidFill>
              <a:srgbClr val="1F77B4"/>
            </a:solidFill>
            <a:prstDash val="solid"/>
            <a:headEnd type="none"/>
            <a:tailEnd type="triangle"/>
          </a:ln>
        </p:spPr>
        <p:txBody>
          <a:bodyPr/>
          <a:lstStyle/>
          <a:p>
            <a:endParaRPr lang="en-US"/>
          </a:p>
        </p:txBody>
      </p:sp>
      <p:sp>
        <p:nvSpPr>
          <p:cNvPr id="10" name="Shape 8"/>
          <p:cNvSpPr/>
          <p:nvPr/>
        </p:nvSpPr>
        <p:spPr>
          <a:xfrm>
            <a:off x="5452110" y="2434590"/>
            <a:ext cx="1097280" cy="0"/>
          </a:xfrm>
          <a:prstGeom prst="line">
            <a:avLst/>
          </a:prstGeom>
          <a:noFill/>
          <a:ln w="25400">
            <a:solidFill>
              <a:srgbClr val="1F77B4"/>
            </a:solidFill>
            <a:prstDash val="solid"/>
            <a:headEnd type="none"/>
            <a:tailEnd type="triangle"/>
          </a:ln>
        </p:spPr>
        <p:txBody>
          <a:bodyPr/>
          <a:lstStyle/>
          <a:p>
            <a:endParaRPr lang="en-US"/>
          </a:p>
        </p:txBody>
      </p:sp>
      <p:sp>
        <p:nvSpPr>
          <p:cNvPr id="11" name="Shape 9"/>
          <p:cNvSpPr/>
          <p:nvPr/>
        </p:nvSpPr>
        <p:spPr>
          <a:xfrm>
            <a:off x="582930" y="1885950"/>
            <a:ext cx="1988820" cy="1097280"/>
          </a:xfrm>
          <a:prstGeom prst="roundRect">
            <a:avLst>
              <a:gd name="adj" fmla="val 5000"/>
            </a:avLst>
          </a:prstGeom>
          <a:solidFill>
            <a:srgbClr val="FFFFFF"/>
          </a:solidFill>
          <a:ln w="15240">
            <a:solidFill>
              <a:srgbClr val="1F77B4"/>
            </a:solidFill>
            <a:prstDash val="solid"/>
          </a:ln>
        </p:spPr>
        <p:txBody>
          <a:bodyPr/>
          <a:lstStyle/>
          <a:p>
            <a:endParaRPr lang="en-US"/>
          </a:p>
        </p:txBody>
      </p:sp>
      <p:sp>
        <p:nvSpPr>
          <p:cNvPr id="12" name="Text 10"/>
          <p:cNvSpPr/>
          <p:nvPr/>
        </p:nvSpPr>
        <p:spPr>
          <a:xfrm>
            <a:off x="706374" y="1968246"/>
            <a:ext cx="1741932" cy="946404"/>
          </a:xfrm>
          <a:prstGeom prst="rect">
            <a:avLst/>
          </a:prstGeom>
          <a:noFill/>
          <a:ln/>
        </p:spPr>
        <p:txBody>
          <a:bodyPr wrap="square" lIns="191" tIns="191" rIns="191" bIns="191" rtlCol="0" anchor="ctr">
            <a:normAutofit/>
          </a:bodyPr>
          <a:lstStyle/>
          <a:p>
            <a:pPr defTabSz="685783"/>
            <a:r>
              <a:rPr lang="en-US" sz="1400" b="1" dirty="0">
                <a:solidFill>
                  <a:srgbClr val="1C2633"/>
                </a:solidFill>
              </a:rPr>
              <a:t>Normal regime</a:t>
            </a:r>
            <a:endParaRPr lang="en-US" sz="1400" dirty="0">
              <a:solidFill>
                <a:prstClr val="black"/>
              </a:solidFill>
            </a:endParaRPr>
          </a:p>
          <a:p>
            <a:pPr defTabSz="685783"/>
            <a:r>
              <a:rPr lang="en-US" sz="1400" b="1" dirty="0">
                <a:solidFill>
                  <a:srgbClr val="1C2633"/>
                </a:solidFill>
              </a:rPr>
              <a:t>locally stable equilibrium</a:t>
            </a:r>
            <a:endParaRPr lang="en-US" sz="1400" dirty="0">
              <a:solidFill>
                <a:prstClr val="black"/>
              </a:solidFill>
            </a:endParaRPr>
          </a:p>
        </p:txBody>
      </p:sp>
      <p:sp>
        <p:nvSpPr>
          <p:cNvPr id="13" name="Shape 11"/>
          <p:cNvSpPr/>
          <p:nvPr/>
        </p:nvSpPr>
        <p:spPr>
          <a:xfrm>
            <a:off x="3566160" y="1885950"/>
            <a:ext cx="1988820" cy="1097280"/>
          </a:xfrm>
          <a:prstGeom prst="roundRect">
            <a:avLst>
              <a:gd name="adj" fmla="val 5000"/>
            </a:avLst>
          </a:prstGeom>
          <a:solidFill>
            <a:srgbClr val="EAF4FF"/>
          </a:solidFill>
          <a:ln w="15240">
            <a:solidFill>
              <a:srgbClr val="1F77B4"/>
            </a:solidFill>
            <a:prstDash val="solid"/>
          </a:ln>
        </p:spPr>
        <p:txBody>
          <a:bodyPr/>
          <a:lstStyle/>
          <a:p>
            <a:endParaRPr lang="en-US"/>
          </a:p>
        </p:txBody>
      </p:sp>
      <p:sp>
        <p:nvSpPr>
          <p:cNvPr id="14" name="Text 12"/>
          <p:cNvSpPr/>
          <p:nvPr/>
        </p:nvSpPr>
        <p:spPr>
          <a:xfrm>
            <a:off x="3689604" y="1968246"/>
            <a:ext cx="1741932" cy="946404"/>
          </a:xfrm>
          <a:prstGeom prst="rect">
            <a:avLst/>
          </a:prstGeom>
          <a:noFill/>
          <a:ln/>
        </p:spPr>
        <p:txBody>
          <a:bodyPr wrap="square" lIns="191" tIns="191" rIns="191" bIns="191" rtlCol="0" anchor="ctr">
            <a:normAutofit/>
          </a:bodyPr>
          <a:lstStyle/>
          <a:p>
            <a:pPr defTabSz="685783"/>
            <a:r>
              <a:rPr lang="en-US" sz="1400" b="1" dirty="0">
                <a:solidFill>
                  <a:srgbClr val="1C2633"/>
                </a:solidFill>
              </a:rPr>
              <a:t>Parameter change</a:t>
            </a:r>
            <a:endParaRPr lang="en-US" sz="1400" dirty="0">
              <a:solidFill>
                <a:prstClr val="black"/>
              </a:solidFill>
            </a:endParaRPr>
          </a:p>
          <a:p>
            <a:pPr defTabSz="685783"/>
            <a:r>
              <a:rPr lang="en-US" sz="1400" b="1" dirty="0">
                <a:solidFill>
                  <a:srgbClr val="1C2633"/>
                </a:solidFill>
              </a:rPr>
              <a:t>excitatory drive P</a:t>
            </a:r>
            <a:endParaRPr lang="en-US" sz="1400" dirty="0">
              <a:solidFill>
                <a:prstClr val="black"/>
              </a:solidFill>
            </a:endParaRPr>
          </a:p>
        </p:txBody>
      </p:sp>
      <p:sp>
        <p:nvSpPr>
          <p:cNvPr id="15" name="Shape 13"/>
          <p:cNvSpPr/>
          <p:nvPr/>
        </p:nvSpPr>
        <p:spPr>
          <a:xfrm>
            <a:off x="6549390" y="1885950"/>
            <a:ext cx="1988820" cy="1097280"/>
          </a:xfrm>
          <a:prstGeom prst="roundRect">
            <a:avLst>
              <a:gd name="adj" fmla="val 5000"/>
            </a:avLst>
          </a:prstGeom>
          <a:solidFill>
            <a:srgbClr val="FFFFFF"/>
          </a:solidFill>
          <a:ln w="15240">
            <a:solidFill>
              <a:srgbClr val="1F77B4"/>
            </a:solidFill>
            <a:prstDash val="solid"/>
          </a:ln>
        </p:spPr>
        <p:txBody>
          <a:bodyPr/>
          <a:lstStyle/>
          <a:p>
            <a:endParaRPr lang="en-US"/>
          </a:p>
        </p:txBody>
      </p:sp>
      <p:sp>
        <p:nvSpPr>
          <p:cNvPr id="16" name="Text 14"/>
          <p:cNvSpPr/>
          <p:nvPr/>
        </p:nvSpPr>
        <p:spPr>
          <a:xfrm>
            <a:off x="6672834" y="1968246"/>
            <a:ext cx="1741932" cy="946404"/>
          </a:xfrm>
          <a:prstGeom prst="rect">
            <a:avLst/>
          </a:prstGeom>
          <a:noFill/>
          <a:ln/>
        </p:spPr>
        <p:txBody>
          <a:bodyPr wrap="square" lIns="191" tIns="191" rIns="191" bIns="191" rtlCol="0" anchor="ctr">
            <a:normAutofit/>
          </a:bodyPr>
          <a:lstStyle/>
          <a:p>
            <a:pPr defTabSz="685783"/>
            <a:r>
              <a:rPr lang="en-US" sz="1400" b="1" dirty="0">
                <a:solidFill>
                  <a:srgbClr val="1C2633"/>
                </a:solidFill>
              </a:rPr>
              <a:t>Ictal regime</a:t>
            </a:r>
            <a:endParaRPr lang="en-US" sz="1400" dirty="0">
              <a:solidFill>
                <a:prstClr val="black"/>
              </a:solidFill>
            </a:endParaRPr>
          </a:p>
          <a:p>
            <a:pPr defTabSz="685783"/>
            <a:r>
              <a:rPr lang="en-US" sz="1400" b="1" dirty="0">
                <a:solidFill>
                  <a:srgbClr val="1C2633"/>
                </a:solidFill>
              </a:rPr>
              <a:t>seizure-like oscillations</a:t>
            </a:r>
            <a:endParaRPr lang="en-US" sz="1400" dirty="0">
              <a:solidFill>
                <a:prstClr val="black"/>
              </a:solidFill>
            </a:endParaRPr>
          </a:p>
        </p:txBody>
      </p:sp>
      <p:sp>
        <p:nvSpPr>
          <p:cNvPr id="17" name="Text 15"/>
          <p:cNvSpPr/>
          <p:nvPr/>
        </p:nvSpPr>
        <p:spPr>
          <a:xfrm>
            <a:off x="720090" y="3669030"/>
            <a:ext cx="7680960" cy="514350"/>
          </a:xfrm>
          <a:prstGeom prst="rect">
            <a:avLst/>
          </a:prstGeom>
          <a:noFill/>
          <a:ln/>
        </p:spPr>
        <p:txBody>
          <a:bodyPr wrap="square" lIns="0" tIns="0" rIns="0" bIns="0" rtlCol="0" anchor="ctr">
            <a:normAutofit/>
          </a:bodyPr>
          <a:lstStyle/>
          <a:p>
            <a:pPr algn="ctr" defTabSz="685783"/>
            <a:r>
              <a:rPr lang="en-US" sz="1500" b="1" dirty="0">
                <a:solidFill>
                  <a:srgbClr val="1C2633"/>
                </a:solidFill>
              </a:rPr>
              <a:t>Key idea: </a:t>
            </a:r>
            <a:r>
              <a:rPr lang="en-US" sz="1500" dirty="0">
                <a:solidFill>
                  <a:srgbClr val="1C2633"/>
                </a:solidFill>
              </a:rPr>
              <a:t>a brain system may remain near a background state until a change in excitation/inhibition pushes the equilibrium through a stability boundary.</a:t>
            </a:r>
            <a:endParaRPr lang="en-US" sz="1500" dirty="0">
              <a:solidFill>
                <a:prstClr val="black"/>
              </a:solidFill>
            </a:endParaRPr>
          </a:p>
        </p:txBody>
      </p:sp>
    </p:spTree>
    <p:extLst>
      <p:ext uri="{BB962C8B-B14F-4D97-AF65-F5344CB8AC3E}">
        <p14:creationId xmlns:p14="http://schemas.microsoft.com/office/powerpoint/2010/main" val="1793792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67DA320-7ED7-9C74-D10C-29E99ADDDDF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81FF131-2464-A161-4F57-EB0484EC0FAD}"/>
              </a:ext>
            </a:extLst>
          </p:cNvPr>
          <p:cNvSpPr/>
          <p:nvPr/>
        </p:nvSpPr>
        <p:spPr>
          <a:xfrm>
            <a:off x="2" y="0"/>
            <a:ext cx="9143771" cy="75438"/>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Aptos"/>
              <a:ea typeface="+mn-ea"/>
              <a:cs typeface="+mn-cs"/>
            </a:endParaRPr>
          </a:p>
        </p:txBody>
      </p:sp>
      <p:sp>
        <p:nvSpPr>
          <p:cNvPr id="3" name="TextBox 2">
            <a:extLst>
              <a:ext uri="{FF2B5EF4-FFF2-40B4-BE49-F238E27FC236}">
                <a16:creationId xmlns:a16="http://schemas.microsoft.com/office/drawing/2014/main" id="{1EC591E9-3C84-63EB-22F5-9C046E7958BF}"/>
              </a:ext>
            </a:extLst>
          </p:cNvPr>
          <p:cNvSpPr txBox="1"/>
          <p:nvPr/>
        </p:nvSpPr>
        <p:spPr>
          <a:xfrm>
            <a:off x="377190" y="240031"/>
            <a:ext cx="6549390" cy="407804"/>
          </a:xfrm>
          <a:prstGeom prst="rect">
            <a:avLst/>
          </a:prstGeom>
          <a:noFill/>
        </p:spPr>
        <p:txBody>
          <a:bodyPr wrap="square" lIns="34289" tIns="34289" rIns="34289" bIns="34289" anchor="t">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B2A4A"/>
                </a:solidFill>
                <a:effectLst/>
                <a:uLnTx/>
                <a:uFillTx/>
                <a:latin typeface="Aptos Display"/>
                <a:ea typeface="+mn-ea"/>
                <a:cs typeface="+mn-cs"/>
              </a:rPr>
              <a:t>C</a:t>
            </a:r>
            <a:r>
              <a:rPr kumimoji="0" lang="en-US" altLang="zh-CN" sz="2200" b="1" i="0" u="none" strike="noStrike" kern="1200" cap="none" spc="0" normalizeH="0" baseline="0" noProof="0" dirty="0">
                <a:ln>
                  <a:noFill/>
                </a:ln>
                <a:solidFill>
                  <a:srgbClr val="0B2A4A"/>
                </a:solidFill>
                <a:effectLst/>
                <a:uLnTx/>
                <a:uFillTx/>
                <a:latin typeface="Aptos Display"/>
                <a:ea typeface="等线" panose="02010600030101010101" pitchFamily="2" charset="-122"/>
                <a:cs typeface="+mn-cs"/>
              </a:rPr>
              <a:t>oncepts: Epilepsy and Seizures</a:t>
            </a:r>
            <a:endParaRPr kumimoji="0" sz="2200" b="1" i="0" u="none" strike="noStrike" kern="1200" cap="none" spc="0" normalizeH="0" baseline="0" noProof="0" dirty="0">
              <a:ln>
                <a:noFill/>
              </a:ln>
              <a:solidFill>
                <a:srgbClr val="0B2A4A"/>
              </a:solidFill>
              <a:effectLst/>
              <a:uLnTx/>
              <a:uFillTx/>
              <a:latin typeface="Aptos Display"/>
              <a:ea typeface="+mn-ea"/>
              <a:cs typeface="+mn-cs"/>
            </a:endParaRPr>
          </a:p>
        </p:txBody>
      </p:sp>
      <p:sp>
        <p:nvSpPr>
          <p:cNvPr id="4" name="TextBox 3">
            <a:extLst>
              <a:ext uri="{FF2B5EF4-FFF2-40B4-BE49-F238E27FC236}">
                <a16:creationId xmlns:a16="http://schemas.microsoft.com/office/drawing/2014/main" id="{AB28CE6C-6D15-DF83-E291-CAD0B35D2BE0}"/>
              </a:ext>
            </a:extLst>
          </p:cNvPr>
          <p:cNvSpPr txBox="1"/>
          <p:nvPr/>
        </p:nvSpPr>
        <p:spPr>
          <a:xfrm>
            <a:off x="7166610" y="294894"/>
            <a:ext cx="1611630" cy="253916"/>
          </a:xfrm>
          <a:prstGeom prst="rect">
            <a:avLst/>
          </a:prstGeom>
          <a:noFill/>
        </p:spPr>
        <p:txBody>
          <a:bodyPr wrap="square" lIns="34289" tIns="34289" rIns="34289" bIns="34289" anchor="t">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77B4"/>
                </a:solidFill>
                <a:effectLst/>
                <a:uLnTx/>
                <a:uFillTx/>
                <a:latin typeface="Aptos"/>
                <a:ea typeface="+mn-ea"/>
                <a:cs typeface="+mn-cs"/>
              </a:rPr>
              <a:t>Background</a:t>
            </a:r>
            <a:endParaRPr kumimoji="0" sz="1200" b="0" i="0" u="none" strike="noStrike" kern="1200" cap="none" spc="0" normalizeH="0" baseline="0" noProof="0" dirty="0">
              <a:ln>
                <a:noFill/>
              </a:ln>
              <a:solidFill>
                <a:srgbClr val="1F77B4"/>
              </a:solidFill>
              <a:effectLst/>
              <a:uLnTx/>
              <a:uFillTx/>
              <a:latin typeface="Aptos"/>
              <a:ea typeface="+mn-ea"/>
              <a:cs typeface="+mn-cs"/>
            </a:endParaRPr>
          </a:p>
        </p:txBody>
      </p:sp>
      <p:sp>
        <p:nvSpPr>
          <p:cNvPr id="5" name="Rectangle 4">
            <a:extLst>
              <a:ext uri="{FF2B5EF4-FFF2-40B4-BE49-F238E27FC236}">
                <a16:creationId xmlns:a16="http://schemas.microsoft.com/office/drawing/2014/main" id="{87137D01-AE39-8E19-6457-EF8DEF8EE6A2}"/>
              </a:ext>
            </a:extLst>
          </p:cNvPr>
          <p:cNvSpPr/>
          <p:nvPr/>
        </p:nvSpPr>
        <p:spPr>
          <a:xfrm>
            <a:off x="346358" y="4078332"/>
            <a:ext cx="8366760" cy="6858"/>
          </a:xfrm>
          <a:prstGeom prst="rect">
            <a:avLst/>
          </a:prstGeom>
          <a:solidFill>
            <a:srgbClr val="D6E6F5"/>
          </a:solidFill>
          <a:ln>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Aptos"/>
              <a:ea typeface="+mn-ea"/>
              <a:cs typeface="+mn-cs"/>
            </a:endParaRPr>
          </a:p>
        </p:txBody>
      </p:sp>
      <p:sp>
        <p:nvSpPr>
          <p:cNvPr id="6" name="TextBox 5">
            <a:extLst>
              <a:ext uri="{FF2B5EF4-FFF2-40B4-BE49-F238E27FC236}">
                <a16:creationId xmlns:a16="http://schemas.microsoft.com/office/drawing/2014/main" id="{CE849ADB-EAE1-96BE-D209-7343395593AB}"/>
              </a:ext>
            </a:extLst>
          </p:cNvPr>
          <p:cNvSpPr txBox="1"/>
          <p:nvPr/>
        </p:nvSpPr>
        <p:spPr>
          <a:xfrm>
            <a:off x="377190" y="4903471"/>
            <a:ext cx="2400300" cy="253916"/>
          </a:xfrm>
          <a:prstGeom prst="rect">
            <a:avLst/>
          </a:prstGeom>
          <a:noFill/>
        </p:spPr>
        <p:txBody>
          <a:bodyPr wrap="square" lIns="34289" tIns="34289" rIns="34289" bIns="34289" anchor="t">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5B677A"/>
                </a:solidFill>
                <a:effectLst/>
                <a:uLnTx/>
                <a:uFillTx/>
                <a:latin typeface="Aptos"/>
                <a:ea typeface="+mn-ea"/>
                <a:cs typeface="+mn-cs"/>
              </a:rPr>
              <a:t>AMATH 383 Final Project</a:t>
            </a:r>
          </a:p>
        </p:txBody>
      </p:sp>
      <p:sp>
        <p:nvSpPr>
          <p:cNvPr id="7" name="TextBox 6">
            <a:extLst>
              <a:ext uri="{FF2B5EF4-FFF2-40B4-BE49-F238E27FC236}">
                <a16:creationId xmlns:a16="http://schemas.microsoft.com/office/drawing/2014/main" id="{0D494B22-332D-9E8A-9D89-1D06524F64B3}"/>
              </a:ext>
            </a:extLst>
          </p:cNvPr>
          <p:cNvSpPr txBox="1"/>
          <p:nvPr/>
        </p:nvSpPr>
        <p:spPr>
          <a:xfrm>
            <a:off x="8366760" y="4903471"/>
            <a:ext cx="377190" cy="253916"/>
          </a:xfrm>
          <a:prstGeom prst="rect">
            <a:avLst/>
          </a:prstGeom>
          <a:noFill/>
        </p:spPr>
        <p:txBody>
          <a:bodyPr wrap="square" lIns="34289" tIns="34289" rIns="34289" bIns="34289" anchor="t">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1F77B4"/>
                </a:solidFill>
                <a:effectLst/>
                <a:uLnTx/>
                <a:uFillTx/>
                <a:latin typeface="Aptos"/>
                <a:ea typeface="+mn-ea"/>
                <a:cs typeface="+mn-cs"/>
              </a:rPr>
              <a:t>20</a:t>
            </a:r>
          </a:p>
        </p:txBody>
      </p:sp>
      <p:sp>
        <p:nvSpPr>
          <p:cNvPr id="8" name="Rounded Rectangle 7">
            <a:extLst>
              <a:ext uri="{FF2B5EF4-FFF2-40B4-BE49-F238E27FC236}">
                <a16:creationId xmlns:a16="http://schemas.microsoft.com/office/drawing/2014/main" id="{8B79C093-8A18-00B9-94CB-D04EFA80840A}"/>
              </a:ext>
            </a:extLst>
          </p:cNvPr>
          <p:cNvSpPr/>
          <p:nvPr/>
        </p:nvSpPr>
        <p:spPr>
          <a:xfrm>
            <a:off x="582930" y="740664"/>
            <a:ext cx="3874770" cy="1301087"/>
          </a:xfrm>
          <a:prstGeom prst="roundRect">
            <a:avLst/>
          </a:prstGeom>
          <a:solidFill>
            <a:srgbClr val="F5FA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Aptos"/>
              <a:ea typeface="+mn-ea"/>
              <a:cs typeface="+mn-cs"/>
            </a:endParaRPr>
          </a:p>
        </p:txBody>
      </p:sp>
      <p:sp>
        <p:nvSpPr>
          <p:cNvPr id="9" name="TextBox 8">
            <a:extLst>
              <a:ext uri="{FF2B5EF4-FFF2-40B4-BE49-F238E27FC236}">
                <a16:creationId xmlns:a16="http://schemas.microsoft.com/office/drawing/2014/main" id="{EA8BE387-95F5-7D27-CF49-C2DFA56D884A}"/>
              </a:ext>
            </a:extLst>
          </p:cNvPr>
          <p:cNvSpPr txBox="1"/>
          <p:nvPr/>
        </p:nvSpPr>
        <p:spPr>
          <a:xfrm>
            <a:off x="719753" y="874145"/>
            <a:ext cx="3627882" cy="288539"/>
          </a:xfrm>
          <a:prstGeom prst="rect">
            <a:avLst/>
          </a:prstGeom>
          <a:noFill/>
        </p:spPr>
        <p:txBody>
          <a:bodyPr wrap="square" lIns="34289" tIns="34289" rIns="34289" bIns="34289" anchor="t">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solidFill>
                <a:effectLst/>
                <a:uLnTx/>
                <a:uFillTx/>
                <a:latin typeface="Aptos"/>
                <a:ea typeface="+mn-ea"/>
                <a:cs typeface="+mn-cs"/>
              </a:rPr>
              <a:t>Epilepsy</a:t>
            </a:r>
            <a:endParaRPr kumimoji="0" sz="1400" b="1" i="0" u="none" strike="noStrike" kern="1200" cap="none" spc="0" normalizeH="0" baseline="0" noProof="0" dirty="0">
              <a:ln>
                <a:noFill/>
              </a:ln>
              <a:solidFill>
                <a:srgbClr val="5B9BD5"/>
              </a:solidFill>
              <a:effectLst/>
              <a:uLnTx/>
              <a:uFillTx/>
              <a:latin typeface="Aptos"/>
              <a:ea typeface="+mn-ea"/>
              <a:cs typeface="+mn-cs"/>
            </a:endParaRPr>
          </a:p>
        </p:txBody>
      </p:sp>
      <p:sp>
        <p:nvSpPr>
          <p:cNvPr id="10" name="TextBox 9">
            <a:extLst>
              <a:ext uri="{FF2B5EF4-FFF2-40B4-BE49-F238E27FC236}">
                <a16:creationId xmlns:a16="http://schemas.microsoft.com/office/drawing/2014/main" id="{AEE7CA1E-D337-AC23-FAF2-7D5ACC0CFABF}"/>
              </a:ext>
            </a:extLst>
          </p:cNvPr>
          <p:cNvSpPr txBox="1"/>
          <p:nvPr/>
        </p:nvSpPr>
        <p:spPr>
          <a:xfrm>
            <a:off x="706374" y="1138429"/>
            <a:ext cx="3627882" cy="472435"/>
          </a:xfrm>
          <a:prstGeom prst="rect">
            <a:avLst/>
          </a:prstGeom>
          <a:noFill/>
        </p:spPr>
        <p:txBody>
          <a:bodyPr wrap="square" lIns="34289" tIns="20573" rIns="34289" bIns="20573">
            <a:spAutoFit/>
          </a:bodyPr>
          <a:lstStyle/>
          <a:p>
            <a:pPr marL="0" marR="0" lvl="0" indent="0" algn="l" defTabSz="685783" rtl="0" eaLnBrk="1" fontAlgn="auto" latinLnBrk="0" hangingPunct="1">
              <a:lnSpc>
                <a:spcPct val="100000"/>
              </a:lnSpc>
              <a:spcBef>
                <a:spcPts val="0"/>
              </a:spcBef>
              <a:spcAft>
                <a:spcPts val="45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ptos"/>
                <a:ea typeface="+mn-ea"/>
                <a:cs typeface="+mn-cs"/>
              </a:rPr>
              <a:t>Epilepsy</a:t>
            </a:r>
            <a:r>
              <a:rPr kumimoji="0" lang="en-US" sz="1400" b="0" i="0" u="none" strike="noStrike" kern="1200" cap="none" spc="0" normalizeH="0" baseline="0" noProof="0" dirty="0">
                <a:ln>
                  <a:noFill/>
                </a:ln>
                <a:solidFill>
                  <a:prstClr val="black"/>
                </a:solidFill>
                <a:effectLst/>
                <a:uLnTx/>
                <a:uFillTx/>
                <a:latin typeface="Aptos"/>
                <a:ea typeface="+mn-ea"/>
                <a:cs typeface="+mn-cs"/>
              </a:rPr>
              <a:t> is a neurological disorder associated with recurrent seizures.</a:t>
            </a:r>
            <a:endParaRPr kumimoji="0" sz="1300" b="0" i="0" u="none" strike="noStrike" kern="1200" cap="none" spc="0" normalizeH="0" baseline="0" noProof="0" dirty="0">
              <a:ln>
                <a:noFill/>
              </a:ln>
              <a:solidFill>
                <a:srgbClr val="1C2633"/>
              </a:solidFill>
              <a:effectLst/>
              <a:uLnTx/>
              <a:uFillTx/>
              <a:latin typeface="Aptos"/>
              <a:ea typeface="+mn-ea"/>
              <a:cs typeface="+mn-cs"/>
            </a:endParaRPr>
          </a:p>
        </p:txBody>
      </p:sp>
      <p:sp>
        <p:nvSpPr>
          <p:cNvPr id="11" name="Rounded Rectangle 10">
            <a:extLst>
              <a:ext uri="{FF2B5EF4-FFF2-40B4-BE49-F238E27FC236}">
                <a16:creationId xmlns:a16="http://schemas.microsoft.com/office/drawing/2014/main" id="{CE46F0FB-C4B2-8ABF-EAC6-37A84B5138B0}"/>
              </a:ext>
            </a:extLst>
          </p:cNvPr>
          <p:cNvSpPr/>
          <p:nvPr/>
        </p:nvSpPr>
        <p:spPr>
          <a:xfrm>
            <a:off x="4697730" y="740664"/>
            <a:ext cx="3874770" cy="1301087"/>
          </a:xfrm>
          <a:prstGeom prst="roundRect">
            <a:avLst/>
          </a:prstGeom>
          <a:solidFill>
            <a:srgbClr val="F5FA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Aptos"/>
              <a:ea typeface="+mn-ea"/>
              <a:cs typeface="+mn-cs"/>
            </a:endParaRPr>
          </a:p>
        </p:txBody>
      </p:sp>
      <p:sp>
        <p:nvSpPr>
          <p:cNvPr id="12" name="TextBox 11">
            <a:extLst>
              <a:ext uri="{FF2B5EF4-FFF2-40B4-BE49-F238E27FC236}">
                <a16:creationId xmlns:a16="http://schemas.microsoft.com/office/drawing/2014/main" id="{087C1215-CA61-9AD4-BF97-79057AA71FF7}"/>
              </a:ext>
            </a:extLst>
          </p:cNvPr>
          <p:cNvSpPr txBox="1"/>
          <p:nvPr/>
        </p:nvSpPr>
        <p:spPr>
          <a:xfrm>
            <a:off x="4821173" y="843535"/>
            <a:ext cx="3627882" cy="288539"/>
          </a:xfrm>
          <a:prstGeom prst="rect">
            <a:avLst/>
          </a:prstGeom>
          <a:noFill/>
        </p:spPr>
        <p:txBody>
          <a:bodyPr wrap="square" lIns="34289" tIns="34289" rIns="34289" bIns="34289" anchor="t">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77B4"/>
                </a:solidFill>
                <a:effectLst/>
                <a:uLnTx/>
                <a:uFillTx/>
                <a:latin typeface="Aptos"/>
                <a:ea typeface="+mn-ea"/>
                <a:cs typeface="+mn-cs"/>
              </a:rPr>
              <a:t>S</a:t>
            </a:r>
            <a:r>
              <a:rPr kumimoji="0" lang="en-US" altLang="zh-CN" sz="1400" b="1" i="0" u="none" strike="noStrike" kern="1200" cap="none" spc="0" normalizeH="0" baseline="0" noProof="0" dirty="0">
                <a:ln>
                  <a:noFill/>
                </a:ln>
                <a:solidFill>
                  <a:srgbClr val="1F77B4"/>
                </a:solidFill>
                <a:effectLst/>
                <a:uLnTx/>
                <a:uFillTx/>
                <a:latin typeface="Aptos"/>
                <a:ea typeface="等线" panose="02010600030101010101" pitchFamily="2" charset="-122"/>
                <a:cs typeface="+mn-cs"/>
              </a:rPr>
              <a:t>eizures</a:t>
            </a:r>
            <a:endParaRPr kumimoji="0" sz="1400" b="1" i="0" u="none" strike="noStrike" kern="1200" cap="none" spc="0" normalizeH="0" baseline="0" noProof="0" dirty="0">
              <a:ln>
                <a:noFill/>
              </a:ln>
              <a:solidFill>
                <a:srgbClr val="1F77B4"/>
              </a:solidFill>
              <a:effectLst/>
              <a:uLnTx/>
              <a:uFillTx/>
              <a:latin typeface="Aptos"/>
              <a:ea typeface="+mn-ea"/>
              <a:cs typeface="+mn-cs"/>
            </a:endParaRPr>
          </a:p>
        </p:txBody>
      </p:sp>
      <p:sp>
        <p:nvSpPr>
          <p:cNvPr id="13" name="TextBox 12">
            <a:extLst>
              <a:ext uri="{FF2B5EF4-FFF2-40B4-BE49-F238E27FC236}">
                <a16:creationId xmlns:a16="http://schemas.microsoft.com/office/drawing/2014/main" id="{4B102935-4C4E-F09D-9188-AD5BFB433BAA}"/>
              </a:ext>
            </a:extLst>
          </p:cNvPr>
          <p:cNvSpPr txBox="1"/>
          <p:nvPr/>
        </p:nvSpPr>
        <p:spPr>
          <a:xfrm>
            <a:off x="4821173" y="1138429"/>
            <a:ext cx="3627882" cy="903322"/>
          </a:xfrm>
          <a:prstGeom prst="rect">
            <a:avLst/>
          </a:prstGeom>
          <a:noFill/>
        </p:spPr>
        <p:txBody>
          <a:bodyPr wrap="square" lIns="34289" tIns="20573" rIns="34289" bIns="20573">
            <a:spAutoFit/>
          </a:bodyPr>
          <a:lstStyle/>
          <a:p>
            <a:pPr marL="0" marR="0" lvl="0" indent="0" algn="l" defTabSz="685783" rtl="0" eaLnBrk="1" fontAlgn="auto" latinLnBrk="0" hangingPunct="1">
              <a:lnSpc>
                <a:spcPct val="100000"/>
              </a:lnSpc>
              <a:spcBef>
                <a:spcPts val="0"/>
              </a:spcBef>
              <a:spcAft>
                <a:spcPts val="45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a:ea typeface="+mn-ea"/>
                <a:cs typeface="+mn-cs"/>
              </a:rPr>
              <a:t>A </a:t>
            </a:r>
            <a:r>
              <a:rPr kumimoji="0" lang="en-US" sz="1400" b="1" i="0" u="none" strike="noStrike" kern="1200" cap="none" spc="0" normalizeH="0" baseline="0" noProof="0" dirty="0">
                <a:ln>
                  <a:noFill/>
                </a:ln>
                <a:solidFill>
                  <a:prstClr val="black"/>
                </a:solidFill>
                <a:effectLst/>
                <a:uLnTx/>
                <a:uFillTx/>
                <a:latin typeface="Aptos"/>
                <a:ea typeface="+mn-ea"/>
                <a:cs typeface="+mn-cs"/>
              </a:rPr>
              <a:t>seizure</a:t>
            </a:r>
            <a:r>
              <a:rPr kumimoji="0" lang="en-US" sz="1400" b="0" i="0" u="none" strike="noStrike" kern="1200" cap="none" spc="0" normalizeH="0" baseline="0" noProof="0" dirty="0">
                <a:ln>
                  <a:noFill/>
                </a:ln>
                <a:solidFill>
                  <a:prstClr val="black"/>
                </a:solidFill>
                <a:effectLst/>
                <a:uLnTx/>
                <a:uFillTx/>
                <a:latin typeface="Aptos"/>
                <a:ea typeface="+mn-ea"/>
                <a:cs typeface="+mn-cs"/>
              </a:rPr>
              <a:t> is a temporary episode of abnormal electrical activity in the brain, which may affect movement, awareness, sensation, or behavior.</a:t>
            </a:r>
            <a:endParaRPr kumimoji="0" sz="1300" b="0" i="0" u="none" strike="noStrike" kern="1200" cap="none" spc="0" normalizeH="0" baseline="0" noProof="0" dirty="0">
              <a:ln>
                <a:noFill/>
              </a:ln>
              <a:solidFill>
                <a:srgbClr val="1C2633"/>
              </a:solidFill>
              <a:effectLst/>
              <a:uLnTx/>
              <a:uFillTx/>
              <a:latin typeface="Aptos"/>
              <a:ea typeface="+mn-ea"/>
              <a:cs typeface="+mn-cs"/>
            </a:endParaRPr>
          </a:p>
        </p:txBody>
      </p:sp>
      <p:sp>
        <p:nvSpPr>
          <p:cNvPr id="20" name="Rounded Rectangle 19">
            <a:extLst>
              <a:ext uri="{FF2B5EF4-FFF2-40B4-BE49-F238E27FC236}">
                <a16:creationId xmlns:a16="http://schemas.microsoft.com/office/drawing/2014/main" id="{0EC69700-4CA7-2049-FEF5-62F9B335D9AA}"/>
              </a:ext>
            </a:extLst>
          </p:cNvPr>
          <p:cNvSpPr/>
          <p:nvPr/>
        </p:nvSpPr>
        <p:spPr>
          <a:xfrm>
            <a:off x="534953" y="2325695"/>
            <a:ext cx="7989570" cy="1715004"/>
          </a:xfrm>
          <a:prstGeom prst="roundRect">
            <a:avLst/>
          </a:prstGeom>
          <a:solidFill>
            <a:srgbClr val="EAF4FF"/>
          </a:solidFill>
          <a:ln w="1524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Aptos"/>
              <a:ea typeface="+mn-ea"/>
              <a:cs typeface="+mn-cs"/>
            </a:endParaRPr>
          </a:p>
        </p:txBody>
      </p:sp>
      <p:sp>
        <p:nvSpPr>
          <p:cNvPr id="21" name="TextBox 20">
            <a:extLst>
              <a:ext uri="{FF2B5EF4-FFF2-40B4-BE49-F238E27FC236}">
                <a16:creationId xmlns:a16="http://schemas.microsoft.com/office/drawing/2014/main" id="{12027772-76D8-45B2-3A15-939EF3FC86EB}"/>
              </a:ext>
            </a:extLst>
          </p:cNvPr>
          <p:cNvSpPr txBox="1"/>
          <p:nvPr/>
        </p:nvSpPr>
        <p:spPr>
          <a:xfrm>
            <a:off x="736853" y="2422303"/>
            <a:ext cx="7646670" cy="260839"/>
          </a:xfrm>
          <a:prstGeom prst="rect">
            <a:avLst/>
          </a:prstGeom>
          <a:noFill/>
        </p:spPr>
        <p:txBody>
          <a:bodyPr wrap="square" lIns="20573" tIns="20573" rIns="20573" bIns="20573" anchor="ctr">
            <a:spAutoFit/>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F77B4"/>
                </a:solidFill>
                <a:effectLst/>
                <a:uLnTx/>
                <a:uFillTx/>
                <a:latin typeface="Aptos"/>
                <a:ea typeface="+mn-ea"/>
                <a:cs typeface="+mn-cs"/>
              </a:rPr>
              <a:t>How </a:t>
            </a:r>
            <a:r>
              <a:rPr kumimoji="0" lang="en-US" sz="1400" b="1" i="0" u="none" strike="noStrike" kern="1200" cap="none" spc="0" normalizeH="0" baseline="0" noProof="0" dirty="0">
                <a:ln>
                  <a:noFill/>
                </a:ln>
                <a:solidFill>
                  <a:srgbClr val="1F77B4"/>
                </a:solidFill>
                <a:effectLst/>
                <a:uLnTx/>
                <a:uFillTx/>
                <a:latin typeface="Aptos"/>
                <a:ea typeface="+mn-ea"/>
                <a:cs typeface="+mn-cs"/>
              </a:rPr>
              <a:t>they differ from normal brain activity</a:t>
            </a:r>
            <a:endParaRPr kumimoji="0" sz="1400" b="1" i="0" u="none" strike="noStrike" kern="1200" cap="none" spc="0" normalizeH="0" baseline="0" noProof="0" dirty="0">
              <a:ln>
                <a:noFill/>
              </a:ln>
              <a:solidFill>
                <a:srgbClr val="1F77B4"/>
              </a:solidFill>
              <a:effectLst/>
              <a:uLnTx/>
              <a:uFillTx/>
              <a:latin typeface="Aptos"/>
              <a:ea typeface="+mn-ea"/>
              <a:cs typeface="+mn-cs"/>
            </a:endParaRPr>
          </a:p>
        </p:txBody>
      </p:sp>
      <p:sp>
        <p:nvSpPr>
          <p:cNvPr id="22" name="TextBox 21">
            <a:extLst>
              <a:ext uri="{FF2B5EF4-FFF2-40B4-BE49-F238E27FC236}">
                <a16:creationId xmlns:a16="http://schemas.microsoft.com/office/drawing/2014/main" id="{AAC40258-97CD-661F-6F98-2730B8DB562D}"/>
              </a:ext>
            </a:extLst>
          </p:cNvPr>
          <p:cNvSpPr txBox="1"/>
          <p:nvPr/>
        </p:nvSpPr>
        <p:spPr>
          <a:xfrm>
            <a:off x="643538" y="2812259"/>
            <a:ext cx="7772400" cy="1118766"/>
          </a:xfrm>
          <a:prstGeom prst="rect">
            <a:avLst/>
          </a:prstGeom>
          <a:noFill/>
        </p:spPr>
        <p:txBody>
          <a:bodyPr wrap="square" lIns="20573" tIns="20573" rIns="20573" bIns="20573" anchor="ctr">
            <a:spAutoFit/>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a:ea typeface="+mn-ea"/>
                <a:cs typeface="+mn-cs"/>
              </a:rPr>
              <a:t>Normal brain activity also involves electrical signaling among neurons. The difference is not that normal brains are electrically inactive. Instead, normal activity is regulated: excitation and inhibition remain sufficiently balanced so that the brain can process information without losing control of its dynamics. During a seizure, this regulation temporarily breaks down, and abnormal neural activity disrupts normal function.</a:t>
            </a:r>
            <a:endParaRPr kumimoji="0" sz="1400" b="0" i="0" u="none" strike="noStrike" kern="1200" cap="none" spc="0" normalizeH="0" baseline="0" noProof="0" dirty="0">
              <a:ln>
                <a:noFill/>
              </a:ln>
              <a:solidFill>
                <a:srgbClr val="1C2633"/>
              </a:solidFill>
              <a:effectLst/>
              <a:uLnTx/>
              <a:uFillTx/>
              <a:latin typeface="Aptos"/>
              <a:ea typeface="+mn-ea"/>
              <a:cs typeface="+mn-cs"/>
            </a:endParaRPr>
          </a:p>
        </p:txBody>
      </p:sp>
    </p:spTree>
    <p:extLst>
      <p:ext uri="{BB962C8B-B14F-4D97-AF65-F5344CB8AC3E}">
        <p14:creationId xmlns:p14="http://schemas.microsoft.com/office/powerpoint/2010/main" val="3186714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Why model seizure onset?</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Motivation</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03</a:t>
            </a:r>
            <a:endParaRPr lang="en-US" sz="1200" dirty="0">
              <a:solidFill>
                <a:prstClr val="black"/>
              </a:solidFill>
            </a:endParaRPr>
          </a:p>
        </p:txBody>
      </p:sp>
      <p:sp>
        <p:nvSpPr>
          <p:cNvPr id="8" name="Text 6"/>
          <p:cNvSpPr/>
          <p:nvPr/>
        </p:nvSpPr>
        <p:spPr>
          <a:xfrm>
            <a:off x="514350" y="857250"/>
            <a:ext cx="2194560" cy="192024"/>
          </a:xfrm>
          <a:prstGeom prst="rect">
            <a:avLst/>
          </a:prstGeom>
          <a:noFill/>
          <a:ln/>
        </p:spPr>
        <p:txBody>
          <a:bodyPr wrap="square" lIns="0" tIns="0" rIns="0" bIns="0" rtlCol="0" anchor="ctr"/>
          <a:lstStyle/>
          <a:p>
            <a:pPr defTabSz="685783"/>
            <a:r>
              <a:rPr lang="en-US" sz="1200" b="1" dirty="0">
                <a:solidFill>
                  <a:srgbClr val="1F77B4"/>
                </a:solidFill>
              </a:rPr>
              <a:t>TWO COMPLEMENTARY TASKS</a:t>
            </a:r>
            <a:endParaRPr lang="en-US" sz="1200" dirty="0">
              <a:solidFill>
                <a:prstClr val="black"/>
              </a:solidFill>
            </a:endParaRPr>
          </a:p>
        </p:txBody>
      </p:sp>
      <p:sp>
        <p:nvSpPr>
          <p:cNvPr id="9" name="Shape 7"/>
          <p:cNvSpPr/>
          <p:nvPr/>
        </p:nvSpPr>
        <p:spPr>
          <a:xfrm>
            <a:off x="514350" y="1234440"/>
            <a:ext cx="3566160" cy="857250"/>
          </a:xfrm>
          <a:prstGeom prst="roundRect">
            <a:avLst>
              <a:gd name="adj" fmla="val 6400"/>
            </a:avLst>
          </a:prstGeom>
          <a:solidFill>
            <a:srgbClr val="F5FAFF"/>
          </a:solidFill>
          <a:ln w="15240">
            <a:solidFill>
              <a:srgbClr val="D6E6F5"/>
            </a:solidFill>
            <a:prstDash val="solid"/>
          </a:ln>
        </p:spPr>
        <p:txBody>
          <a:bodyPr/>
          <a:lstStyle/>
          <a:p>
            <a:endParaRPr lang="en-US"/>
          </a:p>
        </p:txBody>
      </p:sp>
      <p:sp>
        <p:nvSpPr>
          <p:cNvPr id="10" name="Text 8"/>
          <p:cNvSpPr/>
          <p:nvPr/>
        </p:nvSpPr>
        <p:spPr>
          <a:xfrm>
            <a:off x="637794" y="1316736"/>
            <a:ext cx="3319272" cy="706374"/>
          </a:xfrm>
          <a:prstGeom prst="rect">
            <a:avLst/>
          </a:prstGeom>
          <a:noFill/>
          <a:ln/>
        </p:spPr>
        <p:txBody>
          <a:bodyPr wrap="square" lIns="191" tIns="191" rIns="191" bIns="191" rtlCol="0" anchor="ctr">
            <a:normAutofit/>
          </a:bodyPr>
          <a:lstStyle/>
          <a:p>
            <a:pPr defTabSz="685783"/>
            <a:r>
              <a:rPr lang="en-US" sz="1500" b="1" dirty="0">
                <a:solidFill>
                  <a:srgbClr val="1C2633"/>
                </a:solidFill>
              </a:rPr>
              <a:t>EEG classifier</a:t>
            </a:r>
            <a:endParaRPr lang="en-US" sz="1500" dirty="0">
              <a:solidFill>
                <a:prstClr val="black"/>
              </a:solidFill>
            </a:endParaRPr>
          </a:p>
          <a:p>
            <a:pPr defTabSz="685783"/>
            <a:r>
              <a:rPr lang="en-US" sz="1500" b="1" dirty="0">
                <a:solidFill>
                  <a:srgbClr val="1C2633"/>
                </a:solidFill>
              </a:rPr>
              <a:t>Detects which windows look ictal</a:t>
            </a:r>
            <a:endParaRPr lang="en-US" sz="1500" dirty="0">
              <a:solidFill>
                <a:prstClr val="black"/>
              </a:solidFill>
            </a:endParaRPr>
          </a:p>
        </p:txBody>
      </p:sp>
      <p:sp>
        <p:nvSpPr>
          <p:cNvPr id="11" name="Shape 9"/>
          <p:cNvSpPr/>
          <p:nvPr/>
        </p:nvSpPr>
        <p:spPr>
          <a:xfrm>
            <a:off x="5040630" y="1234440"/>
            <a:ext cx="3566160" cy="857250"/>
          </a:xfrm>
          <a:prstGeom prst="roundRect">
            <a:avLst>
              <a:gd name="adj" fmla="val 6400"/>
            </a:avLst>
          </a:prstGeom>
          <a:solidFill>
            <a:srgbClr val="F5FAFF"/>
          </a:solidFill>
          <a:ln w="15240">
            <a:solidFill>
              <a:srgbClr val="D6E6F5"/>
            </a:solidFill>
            <a:prstDash val="solid"/>
          </a:ln>
        </p:spPr>
        <p:txBody>
          <a:bodyPr/>
          <a:lstStyle/>
          <a:p>
            <a:endParaRPr lang="en-US"/>
          </a:p>
        </p:txBody>
      </p:sp>
      <p:sp>
        <p:nvSpPr>
          <p:cNvPr id="12" name="Text 10"/>
          <p:cNvSpPr/>
          <p:nvPr/>
        </p:nvSpPr>
        <p:spPr>
          <a:xfrm>
            <a:off x="5164074" y="1316736"/>
            <a:ext cx="3319272" cy="706374"/>
          </a:xfrm>
          <a:prstGeom prst="rect">
            <a:avLst/>
          </a:prstGeom>
          <a:noFill/>
          <a:ln/>
        </p:spPr>
        <p:txBody>
          <a:bodyPr wrap="square" lIns="191" tIns="191" rIns="191" bIns="191" rtlCol="0" anchor="ctr">
            <a:normAutofit/>
          </a:bodyPr>
          <a:lstStyle/>
          <a:p>
            <a:pPr defTabSz="685783"/>
            <a:r>
              <a:rPr lang="en-US" sz="1500" b="1" dirty="0">
                <a:solidFill>
                  <a:srgbClr val="1C2633"/>
                </a:solidFill>
              </a:rPr>
              <a:t>ODE model</a:t>
            </a:r>
            <a:endParaRPr lang="en-US" sz="1500" dirty="0">
              <a:solidFill>
                <a:prstClr val="black"/>
              </a:solidFill>
            </a:endParaRPr>
          </a:p>
          <a:p>
            <a:pPr defTabSz="685783"/>
            <a:r>
              <a:rPr lang="en-US" sz="1500" b="1" dirty="0">
                <a:solidFill>
                  <a:srgbClr val="1C2633"/>
                </a:solidFill>
              </a:rPr>
              <a:t>Explains how a transition can occur</a:t>
            </a:r>
            <a:endParaRPr lang="en-US" sz="1500" dirty="0">
              <a:solidFill>
                <a:prstClr val="black"/>
              </a:solidFill>
            </a:endParaRPr>
          </a:p>
        </p:txBody>
      </p:sp>
      <p:sp>
        <p:nvSpPr>
          <p:cNvPr id="13" name="Shape 11"/>
          <p:cNvSpPr/>
          <p:nvPr/>
        </p:nvSpPr>
        <p:spPr>
          <a:xfrm>
            <a:off x="4389120" y="1234440"/>
            <a:ext cx="0" cy="2914650"/>
          </a:xfrm>
          <a:prstGeom prst="line">
            <a:avLst/>
          </a:prstGeom>
          <a:noFill/>
          <a:ln w="17780">
            <a:solidFill>
              <a:srgbClr val="D6E6F5"/>
            </a:solidFill>
            <a:prstDash val="solid"/>
          </a:ln>
        </p:spPr>
        <p:txBody>
          <a:bodyPr/>
          <a:lstStyle/>
          <a:p>
            <a:endParaRPr lang="en-US"/>
          </a:p>
        </p:txBody>
      </p:sp>
      <p:sp>
        <p:nvSpPr>
          <p:cNvPr id="14" name="Text 12"/>
          <p:cNvSpPr/>
          <p:nvPr/>
        </p:nvSpPr>
        <p:spPr>
          <a:xfrm>
            <a:off x="651510" y="2366010"/>
            <a:ext cx="3429000" cy="1508760"/>
          </a:xfrm>
          <a:prstGeom prst="rect">
            <a:avLst/>
          </a:prstGeom>
          <a:noFill/>
          <a:ln/>
        </p:spPr>
        <p:txBody>
          <a:bodyPr wrap="square" lIns="572" tIns="572" rIns="572" bIns="572" rtlCol="0" anchor="t">
            <a:normAutofit/>
          </a:bodyPr>
          <a:lstStyle/>
          <a:p>
            <a:pPr defTabSz="685783"/>
            <a:r>
              <a:rPr lang="en-US" sz="1400" dirty="0">
                <a:solidFill>
                  <a:srgbClr val="1C2633"/>
                </a:solidFill>
                <a:ea typeface="Aptos" pitchFamily="34" charset="-122"/>
                <a:cs typeface="Aptos" pitchFamily="34" charset="-120"/>
              </a:rPr>
              <a:t>• A classifier can identify seizure-overlapping EEG windows.</a:t>
            </a:r>
            <a:endParaRPr lang="en-US" sz="1400" dirty="0">
              <a:solidFill>
                <a:prstClr val="black"/>
              </a:solidFill>
            </a:endParaRPr>
          </a:p>
          <a:p>
            <a:pPr defTabSz="685783"/>
            <a:r>
              <a:rPr lang="en-US" sz="1400" dirty="0">
                <a:solidFill>
                  <a:srgbClr val="1C2633"/>
                </a:solidFill>
                <a:ea typeface="Aptos" pitchFamily="34" charset="-122"/>
                <a:cs typeface="Aptos" pitchFamily="34" charset="-120"/>
              </a:rPr>
              <a:t>• It may not explain why neural activity changes suddenly.</a:t>
            </a:r>
            <a:endParaRPr lang="en-US" sz="1400" dirty="0">
              <a:solidFill>
                <a:prstClr val="black"/>
              </a:solidFill>
            </a:endParaRPr>
          </a:p>
          <a:p>
            <a:pPr defTabSz="685783"/>
            <a:r>
              <a:rPr lang="en-US" sz="1400" dirty="0">
                <a:solidFill>
                  <a:srgbClr val="1C2633"/>
                </a:solidFill>
                <a:ea typeface="Aptos" pitchFamily="34" charset="-122"/>
                <a:cs typeface="Aptos" pitchFamily="34" charset="-120"/>
              </a:rPr>
              <a:t>• Performance can be high while interpretation remains unstable.</a:t>
            </a:r>
            <a:endParaRPr lang="en-US" sz="1400" dirty="0">
              <a:solidFill>
                <a:prstClr val="black"/>
              </a:solidFill>
            </a:endParaRPr>
          </a:p>
        </p:txBody>
      </p:sp>
      <p:sp>
        <p:nvSpPr>
          <p:cNvPr id="15" name="Text 13"/>
          <p:cNvSpPr/>
          <p:nvPr/>
        </p:nvSpPr>
        <p:spPr>
          <a:xfrm>
            <a:off x="5177790" y="2366010"/>
            <a:ext cx="3429000" cy="1508760"/>
          </a:xfrm>
          <a:prstGeom prst="rect">
            <a:avLst/>
          </a:prstGeom>
          <a:noFill/>
          <a:ln/>
        </p:spPr>
        <p:txBody>
          <a:bodyPr wrap="square" lIns="572" tIns="572" rIns="572" bIns="572" rtlCol="0" anchor="t">
            <a:normAutofit/>
          </a:bodyPr>
          <a:lstStyle/>
          <a:p>
            <a:pPr defTabSz="685783"/>
            <a:r>
              <a:rPr lang="en-US" sz="1400" dirty="0">
                <a:solidFill>
                  <a:srgbClr val="1C2633"/>
                </a:solidFill>
                <a:ea typeface="Aptos" pitchFamily="34" charset="-122"/>
                <a:cs typeface="Aptos" pitchFamily="34" charset="-120"/>
              </a:rPr>
              <a:t>• A mechanistic model studies excitation, inhibition, and stability.</a:t>
            </a:r>
            <a:endParaRPr lang="en-US" sz="1400" dirty="0">
              <a:solidFill>
                <a:prstClr val="black"/>
              </a:solidFill>
            </a:endParaRPr>
          </a:p>
          <a:p>
            <a:pPr defTabSz="685783"/>
            <a:r>
              <a:rPr lang="en-US" sz="1400" dirty="0">
                <a:solidFill>
                  <a:srgbClr val="1C2633"/>
                </a:solidFill>
                <a:ea typeface="Aptos" pitchFamily="34" charset="-122"/>
                <a:cs typeface="Aptos" pitchFamily="34" charset="-120"/>
              </a:rPr>
              <a:t>• Equilibria and eigenvalues reveal local stability changes.</a:t>
            </a:r>
            <a:endParaRPr lang="en-US" sz="1400" dirty="0">
              <a:solidFill>
                <a:prstClr val="black"/>
              </a:solidFill>
            </a:endParaRPr>
          </a:p>
          <a:p>
            <a:pPr defTabSz="685783"/>
            <a:r>
              <a:rPr lang="en-US" sz="1400" dirty="0">
                <a:solidFill>
                  <a:srgbClr val="1C2633"/>
                </a:solidFill>
                <a:ea typeface="Aptos" pitchFamily="34" charset="-122"/>
                <a:cs typeface="Aptos" pitchFamily="34" charset="-120"/>
              </a:rPr>
              <a:t>• The model gives a qualitative seizure-transition mechanism.</a:t>
            </a:r>
            <a:endParaRPr lang="en-US" sz="1400" dirty="0">
              <a:solidFill>
                <a:prstClr val="black"/>
              </a:solidFill>
            </a:endParaRPr>
          </a:p>
        </p:txBody>
      </p:sp>
    </p:spTree>
    <p:extLst>
      <p:ext uri="{BB962C8B-B14F-4D97-AF65-F5344CB8AC3E}">
        <p14:creationId xmlns:p14="http://schemas.microsoft.com/office/powerpoint/2010/main" val="2924692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Project Roadmap</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Overview</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04</a:t>
            </a:r>
            <a:endParaRPr lang="en-US" sz="1200" dirty="0">
              <a:solidFill>
                <a:prstClr val="black"/>
              </a:solidFill>
            </a:endParaRPr>
          </a:p>
        </p:txBody>
      </p:sp>
      <p:sp>
        <p:nvSpPr>
          <p:cNvPr id="8" name="Shape 6"/>
          <p:cNvSpPr/>
          <p:nvPr/>
        </p:nvSpPr>
        <p:spPr>
          <a:xfrm>
            <a:off x="1645920" y="1652756"/>
            <a:ext cx="1440180" cy="0"/>
          </a:xfrm>
          <a:prstGeom prst="line">
            <a:avLst/>
          </a:prstGeom>
          <a:noFill/>
          <a:ln w="25400">
            <a:solidFill>
              <a:srgbClr val="1F77B4"/>
            </a:solidFill>
            <a:prstDash val="solid"/>
            <a:tailEnd type="triangle"/>
          </a:ln>
        </p:spPr>
        <p:txBody>
          <a:bodyPr/>
          <a:lstStyle/>
          <a:p>
            <a:endParaRPr lang="en-US"/>
          </a:p>
        </p:txBody>
      </p:sp>
      <p:sp>
        <p:nvSpPr>
          <p:cNvPr id="9" name="Shape 7"/>
          <p:cNvSpPr/>
          <p:nvPr/>
        </p:nvSpPr>
        <p:spPr>
          <a:xfrm>
            <a:off x="4114800" y="1652756"/>
            <a:ext cx="1440180" cy="0"/>
          </a:xfrm>
          <a:prstGeom prst="line">
            <a:avLst/>
          </a:prstGeom>
          <a:noFill/>
          <a:ln w="25400">
            <a:solidFill>
              <a:srgbClr val="1F77B4"/>
            </a:solidFill>
            <a:prstDash val="solid"/>
            <a:tailEnd type="triangle"/>
          </a:ln>
        </p:spPr>
        <p:txBody>
          <a:bodyPr/>
          <a:lstStyle/>
          <a:p>
            <a:endParaRPr lang="en-US"/>
          </a:p>
        </p:txBody>
      </p:sp>
      <p:sp>
        <p:nvSpPr>
          <p:cNvPr id="10" name="Shape 8"/>
          <p:cNvSpPr/>
          <p:nvPr/>
        </p:nvSpPr>
        <p:spPr>
          <a:xfrm>
            <a:off x="6300192" y="1652756"/>
            <a:ext cx="864096" cy="6858"/>
          </a:xfrm>
          <a:prstGeom prst="line">
            <a:avLst/>
          </a:prstGeom>
          <a:noFill/>
          <a:ln w="25400">
            <a:solidFill>
              <a:srgbClr val="1F77B4"/>
            </a:solidFill>
            <a:prstDash val="solid"/>
            <a:tailEnd type="triangle"/>
          </a:ln>
        </p:spPr>
        <p:txBody>
          <a:bodyPr/>
          <a:lstStyle/>
          <a:p>
            <a:endParaRPr lang="en-US"/>
          </a:p>
        </p:txBody>
      </p:sp>
      <p:sp>
        <p:nvSpPr>
          <p:cNvPr id="11" name="Shape 9"/>
          <p:cNvSpPr/>
          <p:nvPr/>
        </p:nvSpPr>
        <p:spPr>
          <a:xfrm>
            <a:off x="548640" y="1035536"/>
            <a:ext cx="1591056" cy="1234440"/>
          </a:xfrm>
          <a:prstGeom prst="roundRect">
            <a:avLst>
              <a:gd name="adj" fmla="val 4444"/>
            </a:avLst>
          </a:prstGeom>
          <a:solidFill>
            <a:srgbClr val="EAF4FF"/>
          </a:solidFill>
          <a:ln w="15240">
            <a:solidFill>
              <a:srgbClr val="D6E6F5"/>
            </a:solidFill>
            <a:prstDash val="solid"/>
          </a:ln>
        </p:spPr>
        <p:txBody>
          <a:bodyPr/>
          <a:lstStyle/>
          <a:p>
            <a:endParaRPr lang="en-US"/>
          </a:p>
        </p:txBody>
      </p:sp>
      <p:sp>
        <p:nvSpPr>
          <p:cNvPr id="12" name="Text 10"/>
          <p:cNvSpPr/>
          <p:nvPr/>
        </p:nvSpPr>
        <p:spPr>
          <a:xfrm>
            <a:off x="672084" y="1117832"/>
            <a:ext cx="1467612" cy="1083564"/>
          </a:xfrm>
          <a:prstGeom prst="rect">
            <a:avLst/>
          </a:prstGeom>
          <a:noFill/>
          <a:ln/>
        </p:spPr>
        <p:txBody>
          <a:bodyPr wrap="square" lIns="191" tIns="191" rIns="191" bIns="191" rtlCol="0" anchor="ctr">
            <a:normAutofit/>
          </a:bodyPr>
          <a:lstStyle/>
          <a:p>
            <a:pPr defTabSz="685783"/>
            <a:r>
              <a:rPr lang="en-US" sz="1500" b="1" dirty="0">
                <a:solidFill>
                  <a:srgbClr val="1C2633"/>
                </a:solidFill>
              </a:rPr>
              <a:t>1</a:t>
            </a:r>
            <a:endParaRPr lang="en-US" sz="1500" dirty="0">
              <a:solidFill>
                <a:prstClr val="black"/>
              </a:solidFill>
            </a:endParaRPr>
          </a:p>
          <a:p>
            <a:pPr defTabSz="685783"/>
            <a:r>
              <a:rPr lang="en-US" sz="1500" b="1" dirty="0">
                <a:solidFill>
                  <a:srgbClr val="1C2633"/>
                </a:solidFill>
              </a:rPr>
              <a:t>Wilson–Cowan</a:t>
            </a:r>
            <a:endParaRPr lang="en-US" sz="1500" dirty="0">
              <a:solidFill>
                <a:prstClr val="black"/>
              </a:solidFill>
            </a:endParaRPr>
          </a:p>
          <a:p>
            <a:pPr defTabSz="685783"/>
            <a:r>
              <a:rPr lang="en-US" sz="1500" b="1" dirty="0">
                <a:solidFill>
                  <a:srgbClr val="1C2633"/>
                </a:solidFill>
              </a:rPr>
              <a:t>ODE model</a:t>
            </a:r>
            <a:endParaRPr lang="en-US" sz="1500" dirty="0">
              <a:solidFill>
                <a:prstClr val="black"/>
              </a:solidFill>
            </a:endParaRPr>
          </a:p>
        </p:txBody>
      </p:sp>
      <p:sp>
        <p:nvSpPr>
          <p:cNvPr id="13" name="Shape 11"/>
          <p:cNvSpPr/>
          <p:nvPr/>
        </p:nvSpPr>
        <p:spPr>
          <a:xfrm>
            <a:off x="2771800" y="1035536"/>
            <a:ext cx="1498476" cy="1234440"/>
          </a:xfrm>
          <a:prstGeom prst="roundRect">
            <a:avLst>
              <a:gd name="adj" fmla="val 4444"/>
            </a:avLst>
          </a:prstGeom>
          <a:solidFill>
            <a:srgbClr val="EAF4FF"/>
          </a:solidFill>
          <a:ln w="15240">
            <a:solidFill>
              <a:srgbClr val="D6E6F5"/>
            </a:solidFill>
            <a:prstDash val="solid"/>
          </a:ln>
        </p:spPr>
        <p:txBody>
          <a:bodyPr/>
          <a:lstStyle/>
          <a:p>
            <a:endParaRPr lang="en-US"/>
          </a:p>
        </p:txBody>
      </p:sp>
      <p:sp>
        <p:nvSpPr>
          <p:cNvPr id="14" name="Text 12"/>
          <p:cNvSpPr/>
          <p:nvPr/>
        </p:nvSpPr>
        <p:spPr>
          <a:xfrm>
            <a:off x="3138863" y="1110974"/>
            <a:ext cx="1467612" cy="1083564"/>
          </a:xfrm>
          <a:prstGeom prst="rect">
            <a:avLst/>
          </a:prstGeom>
          <a:noFill/>
          <a:ln/>
        </p:spPr>
        <p:txBody>
          <a:bodyPr wrap="square" lIns="191" tIns="191" rIns="191" bIns="191" rtlCol="0" anchor="ctr">
            <a:normAutofit/>
          </a:bodyPr>
          <a:lstStyle/>
          <a:p>
            <a:pPr defTabSz="685783"/>
            <a:r>
              <a:rPr lang="en-US" sz="1500" b="1" dirty="0">
                <a:solidFill>
                  <a:srgbClr val="1C2633"/>
                </a:solidFill>
              </a:rPr>
              <a:t>2</a:t>
            </a:r>
            <a:endParaRPr lang="en-US" sz="1500" dirty="0">
              <a:solidFill>
                <a:prstClr val="black"/>
              </a:solidFill>
            </a:endParaRPr>
          </a:p>
          <a:p>
            <a:pPr defTabSz="685783"/>
            <a:r>
              <a:rPr lang="en-US" sz="1500" b="1" dirty="0">
                <a:solidFill>
                  <a:srgbClr val="1C2633"/>
                </a:solidFill>
              </a:rPr>
              <a:t>Stability</a:t>
            </a:r>
            <a:endParaRPr lang="en-US" sz="1500" dirty="0">
              <a:solidFill>
                <a:prstClr val="black"/>
              </a:solidFill>
            </a:endParaRPr>
          </a:p>
          <a:p>
            <a:pPr defTabSz="685783"/>
            <a:r>
              <a:rPr lang="en-US" sz="1500" b="1" dirty="0">
                <a:solidFill>
                  <a:srgbClr val="1C2633"/>
                </a:solidFill>
              </a:rPr>
              <a:t>analysis</a:t>
            </a:r>
            <a:endParaRPr lang="en-US" sz="1500" dirty="0">
              <a:solidFill>
                <a:prstClr val="black"/>
              </a:solidFill>
            </a:endParaRPr>
          </a:p>
        </p:txBody>
      </p:sp>
      <p:sp>
        <p:nvSpPr>
          <p:cNvPr id="15" name="Shape 13"/>
          <p:cNvSpPr/>
          <p:nvPr/>
        </p:nvSpPr>
        <p:spPr>
          <a:xfrm>
            <a:off x="4945732" y="1035536"/>
            <a:ext cx="1498476" cy="1234440"/>
          </a:xfrm>
          <a:prstGeom prst="roundRect">
            <a:avLst>
              <a:gd name="adj" fmla="val 4444"/>
            </a:avLst>
          </a:prstGeom>
          <a:solidFill>
            <a:srgbClr val="EAF4FF"/>
          </a:solidFill>
          <a:ln w="15240">
            <a:solidFill>
              <a:srgbClr val="D6E6F5"/>
            </a:solidFill>
            <a:prstDash val="solid"/>
          </a:ln>
        </p:spPr>
        <p:txBody>
          <a:bodyPr/>
          <a:lstStyle/>
          <a:p>
            <a:endParaRPr lang="en-US"/>
          </a:p>
        </p:txBody>
      </p:sp>
      <p:sp>
        <p:nvSpPr>
          <p:cNvPr id="16" name="Text 14"/>
          <p:cNvSpPr/>
          <p:nvPr/>
        </p:nvSpPr>
        <p:spPr>
          <a:xfrm>
            <a:off x="5148064" y="1117832"/>
            <a:ext cx="1467612" cy="1083564"/>
          </a:xfrm>
          <a:prstGeom prst="rect">
            <a:avLst/>
          </a:prstGeom>
          <a:noFill/>
          <a:ln/>
        </p:spPr>
        <p:txBody>
          <a:bodyPr wrap="square" lIns="191" tIns="191" rIns="191" bIns="191" rtlCol="0" anchor="ctr">
            <a:normAutofit/>
          </a:bodyPr>
          <a:lstStyle/>
          <a:p>
            <a:pPr defTabSz="685783"/>
            <a:r>
              <a:rPr lang="en-US" sz="1500" b="1" dirty="0">
                <a:solidFill>
                  <a:srgbClr val="1C2633"/>
                </a:solidFill>
              </a:rPr>
              <a:t>3</a:t>
            </a:r>
            <a:endParaRPr lang="en-US" sz="1500" dirty="0">
              <a:solidFill>
                <a:prstClr val="black"/>
              </a:solidFill>
            </a:endParaRPr>
          </a:p>
          <a:p>
            <a:pPr defTabSz="685783"/>
            <a:r>
              <a:rPr lang="en-US" sz="1500" b="1" dirty="0">
                <a:solidFill>
                  <a:srgbClr val="1C2633"/>
                </a:solidFill>
              </a:rPr>
              <a:t>CHB-MIT EEG</a:t>
            </a:r>
            <a:endParaRPr lang="en-US" sz="1500" dirty="0">
              <a:solidFill>
                <a:prstClr val="black"/>
              </a:solidFill>
            </a:endParaRPr>
          </a:p>
          <a:p>
            <a:pPr defTabSz="685783"/>
            <a:r>
              <a:rPr lang="en-US" sz="1500" b="1" dirty="0">
                <a:solidFill>
                  <a:srgbClr val="1C2633"/>
                </a:solidFill>
              </a:rPr>
              <a:t>features</a:t>
            </a:r>
            <a:endParaRPr lang="en-US" sz="1500" dirty="0">
              <a:solidFill>
                <a:prstClr val="black"/>
              </a:solidFill>
            </a:endParaRPr>
          </a:p>
        </p:txBody>
      </p:sp>
      <p:sp>
        <p:nvSpPr>
          <p:cNvPr id="17" name="Shape 15"/>
          <p:cNvSpPr/>
          <p:nvPr/>
        </p:nvSpPr>
        <p:spPr>
          <a:xfrm>
            <a:off x="7203092" y="1035536"/>
            <a:ext cx="1473364" cy="1234440"/>
          </a:xfrm>
          <a:prstGeom prst="roundRect">
            <a:avLst>
              <a:gd name="adj" fmla="val 4444"/>
            </a:avLst>
          </a:prstGeom>
          <a:solidFill>
            <a:srgbClr val="EAF4FF"/>
          </a:solidFill>
          <a:ln w="15240">
            <a:solidFill>
              <a:srgbClr val="D6E6F5"/>
            </a:solidFill>
            <a:prstDash val="solid"/>
          </a:ln>
        </p:spPr>
        <p:txBody>
          <a:bodyPr/>
          <a:lstStyle/>
          <a:p>
            <a:endParaRPr lang="en-US"/>
          </a:p>
        </p:txBody>
      </p:sp>
      <p:sp>
        <p:nvSpPr>
          <p:cNvPr id="18" name="Text 16"/>
          <p:cNvSpPr/>
          <p:nvPr/>
        </p:nvSpPr>
        <p:spPr>
          <a:xfrm>
            <a:off x="7409525" y="1117832"/>
            <a:ext cx="1125799" cy="1083564"/>
          </a:xfrm>
          <a:prstGeom prst="rect">
            <a:avLst/>
          </a:prstGeom>
          <a:noFill/>
          <a:ln/>
        </p:spPr>
        <p:txBody>
          <a:bodyPr wrap="square" lIns="191" tIns="191" rIns="191" bIns="191" rtlCol="0" anchor="ctr">
            <a:normAutofit/>
          </a:bodyPr>
          <a:lstStyle/>
          <a:p>
            <a:pPr defTabSz="685783"/>
            <a:r>
              <a:rPr lang="en-US" sz="1600" b="1" dirty="0">
                <a:solidFill>
                  <a:srgbClr val="1C2633"/>
                </a:solidFill>
              </a:rPr>
              <a:t>4</a:t>
            </a:r>
            <a:endParaRPr lang="en-US" sz="1600" dirty="0">
              <a:solidFill>
                <a:prstClr val="black"/>
              </a:solidFill>
            </a:endParaRPr>
          </a:p>
          <a:p>
            <a:pPr defTabSz="685783"/>
            <a:r>
              <a:rPr lang="en-US" sz="1600" b="1" dirty="0">
                <a:solidFill>
                  <a:srgbClr val="1C2633"/>
                </a:solidFill>
              </a:rPr>
              <a:t>CI reliability</a:t>
            </a:r>
            <a:endParaRPr lang="en-US" sz="1600" dirty="0">
              <a:solidFill>
                <a:prstClr val="black"/>
              </a:solidFill>
            </a:endParaRPr>
          </a:p>
          <a:p>
            <a:pPr defTabSz="685783"/>
            <a:r>
              <a:rPr lang="en-US" sz="1600" b="1" dirty="0">
                <a:solidFill>
                  <a:srgbClr val="1C2633"/>
                </a:solidFill>
              </a:rPr>
              <a:t>checks</a:t>
            </a:r>
            <a:endParaRPr lang="en-US" sz="1600" dirty="0">
              <a:solidFill>
                <a:prstClr val="black"/>
              </a:solidFill>
            </a:endParaRPr>
          </a:p>
        </p:txBody>
      </p:sp>
      <p:sp>
        <p:nvSpPr>
          <p:cNvPr id="19" name="Text 17"/>
          <p:cNvSpPr/>
          <p:nvPr/>
        </p:nvSpPr>
        <p:spPr>
          <a:xfrm>
            <a:off x="-180528" y="2870051"/>
            <a:ext cx="9540550" cy="342900"/>
          </a:xfrm>
          <a:prstGeom prst="rect">
            <a:avLst/>
          </a:prstGeom>
          <a:noFill/>
          <a:ln/>
        </p:spPr>
        <p:txBody>
          <a:bodyPr wrap="square" lIns="0" tIns="0" rIns="0" bIns="0" rtlCol="0" anchor="ctr"/>
          <a:lstStyle/>
          <a:p>
            <a:pPr algn="ctr" defTabSz="685783"/>
            <a:r>
              <a:rPr lang="en-US" sz="1600" b="1" dirty="0">
                <a:solidFill>
                  <a:srgbClr val="0B2A4A"/>
                </a:solidFill>
              </a:rPr>
              <a:t>The talk moves from mechanism to evidence, then ends with a cautious interpretation.</a:t>
            </a:r>
            <a:endParaRPr lang="en-US" sz="1600" dirty="0">
              <a:solidFill>
                <a:prstClr val="black"/>
              </a:solidFill>
            </a:endParaRPr>
          </a:p>
        </p:txBody>
      </p:sp>
      <p:sp>
        <p:nvSpPr>
          <p:cNvPr id="20" name="Text 18"/>
          <p:cNvSpPr/>
          <p:nvPr/>
        </p:nvSpPr>
        <p:spPr>
          <a:xfrm>
            <a:off x="1097280" y="3537560"/>
            <a:ext cx="6995160" cy="834390"/>
          </a:xfrm>
          <a:prstGeom prst="rect">
            <a:avLst/>
          </a:prstGeom>
          <a:noFill/>
          <a:ln/>
        </p:spPr>
        <p:txBody>
          <a:bodyPr wrap="square" lIns="572" tIns="572" rIns="572" bIns="572" rtlCol="0" anchor="t">
            <a:normAutofit fontScale="92500" lnSpcReduction="10000"/>
          </a:bodyPr>
          <a:lstStyle/>
          <a:p>
            <a:pPr defTabSz="685783">
              <a:lnSpc>
                <a:spcPct val="150000"/>
              </a:lnSpc>
            </a:pPr>
            <a:r>
              <a:rPr lang="en-US" sz="1400" dirty="0">
                <a:solidFill>
                  <a:srgbClr val="1C2633"/>
                </a:solidFill>
                <a:ea typeface="Aptos" pitchFamily="34" charset="-122"/>
                <a:cs typeface="Aptos" pitchFamily="34" charset="-120"/>
              </a:rPr>
              <a:t>• Mechanism: equilibrium loses stability under changing excitatory drive.</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Evidence: ictal windows are separable by amplitude, power, and Hjorth features.</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Caution: explanation rankings and preictal evidence are not fully stable.</a:t>
            </a:r>
            <a:endParaRPr lang="en-US" sz="1400" dirty="0">
              <a:solidFill>
                <a:prstClr val="black"/>
              </a:solidFill>
            </a:endParaRPr>
          </a:p>
        </p:txBody>
      </p:sp>
    </p:spTree>
    <p:extLst>
      <p:ext uri="{BB962C8B-B14F-4D97-AF65-F5344CB8AC3E}">
        <p14:creationId xmlns:p14="http://schemas.microsoft.com/office/powerpoint/2010/main" val="1269087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Wilson–Cowan model intuition</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ODE Model</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05</a:t>
            </a:r>
            <a:endParaRPr lang="en-US" sz="1200" dirty="0">
              <a:solidFill>
                <a:prstClr val="black"/>
              </a:solidFill>
            </a:endParaRPr>
          </a:p>
        </p:txBody>
      </p:sp>
      <p:sp>
        <p:nvSpPr>
          <p:cNvPr id="8" name="Shape 6"/>
          <p:cNvSpPr/>
          <p:nvPr/>
        </p:nvSpPr>
        <p:spPr>
          <a:xfrm>
            <a:off x="480060" y="891540"/>
            <a:ext cx="4183380" cy="3223260"/>
          </a:xfrm>
          <a:prstGeom prst="roundRect">
            <a:avLst>
              <a:gd name="adj" fmla="val 1702"/>
            </a:avLst>
          </a:prstGeom>
          <a:solidFill>
            <a:srgbClr val="FFFFFF">
              <a:alpha val="0"/>
            </a:srgbClr>
          </a:solidFill>
          <a:ln w="12700">
            <a:solidFill>
              <a:srgbClr val="D6E6F5"/>
            </a:solidFill>
            <a:prstDash val="solid"/>
          </a:ln>
        </p:spPr>
        <p:txBody>
          <a:bodyPr/>
          <a:lstStyle/>
          <a:p>
            <a:endParaRPr lang="en-US"/>
          </a:p>
        </p:txBody>
      </p:sp>
      <p:pic>
        <p:nvPicPr>
          <p:cNvPr id="14" name="Image 0" descr="/mnt/data/ode_ei_model_diagram.png"/>
          <p:cNvPicPr>
            <a:picLocks noChangeAspect="1"/>
          </p:cNvPicPr>
          <p:nvPr/>
        </p:nvPicPr>
        <p:blipFill>
          <a:blip r:embed="rId3"/>
          <a:stretch>
            <a:fillRect/>
          </a:stretch>
        </p:blipFill>
        <p:spPr>
          <a:xfrm>
            <a:off x="668655" y="1235298"/>
            <a:ext cx="3806190" cy="2605183"/>
          </a:xfrm>
          <a:prstGeom prst="rect">
            <a:avLst/>
          </a:prstGeom>
        </p:spPr>
      </p:pic>
      <p:sp>
        <p:nvSpPr>
          <p:cNvPr id="15" name="Text 5"/>
          <p:cNvSpPr/>
          <p:nvPr/>
        </p:nvSpPr>
        <p:spPr>
          <a:xfrm>
            <a:off x="4800600" y="905256"/>
            <a:ext cx="3429000" cy="205740"/>
          </a:xfrm>
          <a:prstGeom prst="rect">
            <a:avLst/>
          </a:prstGeom>
          <a:noFill/>
          <a:ln/>
        </p:spPr>
        <p:txBody>
          <a:bodyPr wrap="square" lIns="0" tIns="0" rIns="0" bIns="0" rtlCol="0" anchor="ctr"/>
          <a:lstStyle/>
          <a:p>
            <a:pPr defTabSz="685783"/>
            <a:r>
              <a:rPr lang="en-US" sz="1300" b="1" dirty="0">
                <a:solidFill>
                  <a:srgbClr val="102033"/>
                </a:solidFill>
              </a:rPr>
              <a:t>State variables</a:t>
            </a:r>
            <a:endParaRPr lang="en-US" sz="1300" dirty="0">
              <a:solidFill>
                <a:prstClr val="black"/>
              </a:solidFill>
            </a:endParaRPr>
          </a:p>
        </p:txBody>
      </p:sp>
      <p:sp>
        <p:nvSpPr>
          <p:cNvPr id="16" name="Text 7"/>
          <p:cNvSpPr/>
          <p:nvPr/>
        </p:nvSpPr>
        <p:spPr>
          <a:xfrm>
            <a:off x="5054346" y="1234440"/>
            <a:ext cx="3483864" cy="288036"/>
          </a:xfrm>
          <a:prstGeom prst="rect">
            <a:avLst/>
          </a:prstGeom>
          <a:noFill/>
          <a:ln/>
        </p:spPr>
        <p:txBody>
          <a:bodyPr wrap="square" lIns="0" tIns="0" rIns="0" bIns="0" rtlCol="0" anchor="ctr">
            <a:normAutofit/>
          </a:bodyPr>
          <a:lstStyle/>
          <a:p>
            <a:pPr marL="214308" indent="-214308" defTabSz="685783">
              <a:buFont typeface="Arial" pitchFamily="34" charset="0"/>
              <a:buChar char="•"/>
            </a:pPr>
            <a:r>
              <a:rPr lang="en-US" sz="1200" dirty="0">
                <a:solidFill>
                  <a:srgbClr val="102033"/>
                </a:solidFill>
              </a:rPr>
              <a:t>E(t): normalized excitatory population activity</a:t>
            </a:r>
            <a:endParaRPr lang="en-US" sz="1200" dirty="0">
              <a:solidFill>
                <a:prstClr val="black"/>
              </a:solidFill>
            </a:endParaRPr>
          </a:p>
        </p:txBody>
      </p:sp>
      <p:sp>
        <p:nvSpPr>
          <p:cNvPr id="17" name="Text 9"/>
          <p:cNvSpPr/>
          <p:nvPr/>
        </p:nvSpPr>
        <p:spPr>
          <a:xfrm>
            <a:off x="5054346" y="1536192"/>
            <a:ext cx="3483864" cy="288036"/>
          </a:xfrm>
          <a:prstGeom prst="rect">
            <a:avLst/>
          </a:prstGeom>
          <a:noFill/>
          <a:ln/>
        </p:spPr>
        <p:txBody>
          <a:bodyPr wrap="square" lIns="0" tIns="0" rIns="0" bIns="0" rtlCol="0" anchor="ctr">
            <a:normAutofit/>
          </a:bodyPr>
          <a:lstStyle/>
          <a:p>
            <a:pPr marL="214308" indent="-214308" defTabSz="685783">
              <a:buFont typeface="Arial" pitchFamily="34" charset="0"/>
              <a:buChar char="•"/>
            </a:pPr>
            <a:r>
              <a:rPr lang="en-US" sz="1200" dirty="0">
                <a:solidFill>
                  <a:srgbClr val="102033"/>
                </a:solidFill>
              </a:rPr>
              <a:t>I(t): normalized inhibitory population activity</a:t>
            </a:r>
            <a:endParaRPr lang="en-US" sz="1200" dirty="0">
              <a:solidFill>
                <a:prstClr val="black"/>
              </a:solidFill>
            </a:endParaRPr>
          </a:p>
        </p:txBody>
      </p:sp>
      <p:sp>
        <p:nvSpPr>
          <p:cNvPr id="18" name="Text 11"/>
          <p:cNvSpPr/>
          <p:nvPr/>
        </p:nvSpPr>
        <p:spPr>
          <a:xfrm>
            <a:off x="5054346" y="1837944"/>
            <a:ext cx="3861054" cy="288036"/>
          </a:xfrm>
          <a:prstGeom prst="rect">
            <a:avLst/>
          </a:prstGeom>
          <a:noFill/>
          <a:ln/>
        </p:spPr>
        <p:txBody>
          <a:bodyPr wrap="square" lIns="0" tIns="0" rIns="0" bIns="0" rtlCol="0" anchor="ctr">
            <a:noAutofit/>
          </a:bodyPr>
          <a:lstStyle/>
          <a:p>
            <a:pPr marL="214308" indent="-214308" defTabSz="685783">
              <a:buFont typeface="Arial" pitchFamily="34" charset="0"/>
              <a:buChar char="•"/>
            </a:pPr>
            <a:r>
              <a:rPr lang="en-US" sz="1200" dirty="0">
                <a:solidFill>
                  <a:srgbClr val="102033"/>
                </a:solidFill>
              </a:rPr>
              <a:t>P: excitatory drive / excitability control parameter</a:t>
            </a:r>
            <a:endParaRPr lang="en-US" sz="1200" dirty="0">
              <a:solidFill>
                <a:prstClr val="black"/>
              </a:solidFill>
            </a:endParaRPr>
          </a:p>
        </p:txBody>
      </p:sp>
      <p:sp>
        <p:nvSpPr>
          <p:cNvPr id="19" name="Text 12"/>
          <p:cNvSpPr/>
          <p:nvPr/>
        </p:nvSpPr>
        <p:spPr>
          <a:xfrm>
            <a:off x="4800600" y="2434590"/>
            <a:ext cx="3429000" cy="205740"/>
          </a:xfrm>
          <a:prstGeom prst="rect">
            <a:avLst/>
          </a:prstGeom>
          <a:noFill/>
          <a:ln/>
        </p:spPr>
        <p:txBody>
          <a:bodyPr wrap="square" lIns="0" tIns="0" rIns="0" bIns="0" rtlCol="0" anchor="ctr"/>
          <a:lstStyle/>
          <a:p>
            <a:pPr defTabSz="685783"/>
            <a:r>
              <a:rPr lang="en-US" sz="1300" b="1" dirty="0">
                <a:solidFill>
                  <a:srgbClr val="102033"/>
                </a:solidFill>
              </a:rPr>
              <a:t>Model structure</a:t>
            </a:r>
            <a:endParaRPr lang="en-US" sz="1300" dirty="0">
              <a:solidFill>
                <a:prstClr val="black"/>
              </a:solidFill>
            </a:endParaRPr>
          </a:p>
        </p:txBody>
      </p:sp>
      <p:sp>
        <p:nvSpPr>
          <p:cNvPr id="20" name="Text 14"/>
          <p:cNvSpPr/>
          <p:nvPr/>
        </p:nvSpPr>
        <p:spPr>
          <a:xfrm>
            <a:off x="5054346" y="2763774"/>
            <a:ext cx="3483864" cy="288036"/>
          </a:xfrm>
          <a:prstGeom prst="rect">
            <a:avLst/>
          </a:prstGeom>
          <a:noFill/>
          <a:ln/>
        </p:spPr>
        <p:txBody>
          <a:bodyPr wrap="square" lIns="0" tIns="0" rIns="0" bIns="0" rtlCol="0" anchor="ctr">
            <a:normAutofit/>
          </a:bodyPr>
          <a:lstStyle/>
          <a:p>
            <a:pPr marL="214308" indent="-214308" defTabSz="685783">
              <a:buFont typeface="Arial" pitchFamily="34" charset="0"/>
              <a:buChar char="•"/>
            </a:pPr>
            <a:r>
              <a:rPr lang="en-US" sz="1200" dirty="0">
                <a:solidFill>
                  <a:srgbClr val="102033"/>
                </a:solidFill>
              </a:rPr>
              <a:t>Excitation pushes inhibition upward</a:t>
            </a:r>
            <a:endParaRPr lang="en-US" sz="1200" dirty="0">
              <a:solidFill>
                <a:prstClr val="black"/>
              </a:solidFill>
            </a:endParaRPr>
          </a:p>
        </p:txBody>
      </p:sp>
      <p:sp>
        <p:nvSpPr>
          <p:cNvPr id="21" name="Text 16"/>
          <p:cNvSpPr/>
          <p:nvPr/>
        </p:nvSpPr>
        <p:spPr>
          <a:xfrm>
            <a:off x="5054346" y="3065526"/>
            <a:ext cx="3483864" cy="288036"/>
          </a:xfrm>
          <a:prstGeom prst="rect">
            <a:avLst/>
          </a:prstGeom>
          <a:noFill/>
          <a:ln/>
        </p:spPr>
        <p:txBody>
          <a:bodyPr wrap="square" lIns="0" tIns="0" rIns="0" bIns="0" rtlCol="0" anchor="ctr">
            <a:normAutofit/>
          </a:bodyPr>
          <a:lstStyle/>
          <a:p>
            <a:pPr marL="214308" indent="-214308" defTabSz="685783">
              <a:buFont typeface="Arial" pitchFamily="34" charset="0"/>
              <a:buChar char="•"/>
            </a:pPr>
            <a:r>
              <a:rPr lang="en-US" sz="1200" dirty="0">
                <a:solidFill>
                  <a:srgbClr val="102033"/>
                </a:solidFill>
              </a:rPr>
              <a:t>Inhibition suppresses excitation</a:t>
            </a:r>
            <a:endParaRPr lang="en-US" sz="1200" dirty="0">
              <a:solidFill>
                <a:prstClr val="black"/>
              </a:solidFill>
            </a:endParaRPr>
          </a:p>
        </p:txBody>
      </p:sp>
      <p:sp>
        <p:nvSpPr>
          <p:cNvPr id="22" name="Text 18"/>
          <p:cNvSpPr/>
          <p:nvPr/>
        </p:nvSpPr>
        <p:spPr>
          <a:xfrm>
            <a:off x="5054346" y="3367278"/>
            <a:ext cx="3861054" cy="288036"/>
          </a:xfrm>
          <a:prstGeom prst="rect">
            <a:avLst/>
          </a:prstGeom>
          <a:noFill/>
          <a:ln/>
        </p:spPr>
        <p:txBody>
          <a:bodyPr wrap="square" lIns="0" tIns="0" rIns="0" bIns="0" rtlCol="0" anchor="ctr">
            <a:noAutofit/>
          </a:bodyPr>
          <a:lstStyle/>
          <a:p>
            <a:pPr marL="214308" indent="-214308" defTabSz="685783">
              <a:buFont typeface="Arial" pitchFamily="34" charset="0"/>
              <a:buChar char="•"/>
            </a:pPr>
            <a:r>
              <a:rPr lang="en-US" sz="1200" dirty="0">
                <a:solidFill>
                  <a:srgbClr val="102033"/>
                </a:solidFill>
              </a:rPr>
              <a:t>Increasing P can push the system toward instability</a:t>
            </a:r>
            <a:endParaRPr lang="en-US" sz="1200" dirty="0">
              <a:solidFill>
                <a:prstClr val="black"/>
              </a:solidFill>
            </a:endParaRPr>
          </a:p>
        </p:txBody>
      </p:sp>
      <p:sp>
        <p:nvSpPr>
          <p:cNvPr id="23" name="Shape 19"/>
          <p:cNvSpPr/>
          <p:nvPr/>
        </p:nvSpPr>
        <p:spPr>
          <a:xfrm>
            <a:off x="651510" y="4183380"/>
            <a:ext cx="8092440" cy="370332"/>
          </a:xfrm>
          <a:prstGeom prst="roundRect">
            <a:avLst>
              <a:gd name="adj" fmla="val 14815"/>
            </a:avLst>
          </a:prstGeom>
          <a:solidFill>
            <a:srgbClr val="FFFFFF"/>
          </a:solidFill>
          <a:ln w="13970">
            <a:solidFill>
              <a:srgbClr val="CDD6E0">
                <a:alpha val="85000"/>
              </a:srgbClr>
            </a:solidFill>
            <a:prstDash val="solid"/>
          </a:ln>
        </p:spPr>
        <p:txBody>
          <a:bodyPr/>
          <a:lstStyle/>
          <a:p>
            <a:endParaRPr lang="en-US"/>
          </a:p>
        </p:txBody>
      </p:sp>
      <p:sp>
        <p:nvSpPr>
          <p:cNvPr id="24" name="Text 20"/>
          <p:cNvSpPr/>
          <p:nvPr/>
        </p:nvSpPr>
        <p:spPr>
          <a:xfrm>
            <a:off x="774954" y="4265676"/>
            <a:ext cx="7845552" cy="205740"/>
          </a:xfrm>
          <a:prstGeom prst="rect">
            <a:avLst/>
          </a:prstGeom>
          <a:noFill/>
          <a:ln/>
        </p:spPr>
        <p:txBody>
          <a:bodyPr wrap="square" lIns="0" tIns="0" rIns="0" bIns="0" rtlCol="0" anchor="ctr">
            <a:normAutofit lnSpcReduction="10000"/>
          </a:bodyPr>
          <a:lstStyle/>
          <a:p>
            <a:pPr defTabSz="685783"/>
            <a:r>
              <a:rPr lang="en-US" sz="1400" dirty="0">
                <a:solidFill>
                  <a:srgbClr val="102033"/>
                </a:solidFill>
              </a:rPr>
              <a:t>Interpretation: P summarizes many biological mechanisms; it is not estimated directly from EEG.</a:t>
            </a:r>
            <a:endParaRPr lang="en-US" sz="1400" dirty="0">
              <a:solidFill>
                <a:prstClr val="black"/>
              </a:solidFill>
            </a:endParaRPr>
          </a:p>
        </p:txBody>
      </p:sp>
    </p:spTree>
    <p:extLst>
      <p:ext uri="{BB962C8B-B14F-4D97-AF65-F5344CB8AC3E}">
        <p14:creationId xmlns:p14="http://schemas.microsoft.com/office/powerpoint/2010/main" val="1187173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hape 20"/>
          <p:cNvSpPr/>
          <p:nvPr/>
        </p:nvSpPr>
        <p:spPr>
          <a:xfrm>
            <a:off x="3847184" y="2427734"/>
            <a:ext cx="4728101" cy="783952"/>
          </a:xfrm>
          <a:prstGeom prst="roundRect">
            <a:avLst>
              <a:gd name="adj" fmla="val 12308"/>
            </a:avLst>
          </a:prstGeom>
          <a:solidFill>
            <a:srgbClr val="FFFFFF"/>
          </a:solidFill>
          <a:ln w="15240">
            <a:solidFill>
              <a:srgbClr val="D84A4A"/>
            </a:solidFill>
            <a:prstDash val="solid"/>
          </a:ln>
        </p:spPr>
        <p:txBody>
          <a:bodyPr/>
          <a:lstStyle/>
          <a:p>
            <a:endParaRPr lang="zh-CN" altLang="en-US"/>
          </a:p>
        </p:txBody>
      </p:sp>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Governing equations</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ODE Model</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06</a:t>
            </a:r>
            <a:endParaRPr lang="en-US" sz="1200" dirty="0">
              <a:solidFill>
                <a:prstClr val="black"/>
              </a:solidFill>
            </a:endParaRPr>
          </a:p>
        </p:txBody>
      </p:sp>
      <p:sp>
        <p:nvSpPr>
          <p:cNvPr id="8" name="Shape 6"/>
          <p:cNvSpPr/>
          <p:nvPr/>
        </p:nvSpPr>
        <p:spPr>
          <a:xfrm>
            <a:off x="345250" y="987574"/>
            <a:ext cx="3938717" cy="843508"/>
          </a:xfrm>
          <a:prstGeom prst="roundRect">
            <a:avLst>
              <a:gd name="adj" fmla="val 8889"/>
            </a:avLst>
          </a:prstGeom>
          <a:solidFill>
            <a:srgbClr val="F5FAFF"/>
          </a:solidFill>
          <a:ln w="15240">
            <a:solidFill>
              <a:srgbClr val="D6E6F5"/>
            </a:solidFill>
            <a:prstDash val="solid"/>
          </a:ln>
        </p:spPr>
        <p:txBody>
          <a:bodyPr/>
          <a:lstStyle/>
          <a:p>
            <a:endParaRPr lang="en-US"/>
          </a:p>
        </p:txBody>
      </p:sp>
      <p:sp>
        <p:nvSpPr>
          <p:cNvPr id="10" name="Shape 8"/>
          <p:cNvSpPr/>
          <p:nvPr/>
        </p:nvSpPr>
        <p:spPr>
          <a:xfrm>
            <a:off x="4644008" y="987574"/>
            <a:ext cx="3911347" cy="819532"/>
          </a:xfrm>
          <a:prstGeom prst="roundRect">
            <a:avLst>
              <a:gd name="adj" fmla="val 8889"/>
            </a:avLst>
          </a:prstGeom>
          <a:solidFill>
            <a:srgbClr val="F5FAFF"/>
          </a:solidFill>
          <a:ln w="15240">
            <a:solidFill>
              <a:srgbClr val="D6E6F5"/>
            </a:solidFill>
            <a:prstDash val="solid"/>
          </a:ln>
        </p:spPr>
        <p:txBody>
          <a:bodyPr/>
          <a:lstStyle/>
          <a:p>
            <a:endParaRPr lang="en-US"/>
          </a:p>
        </p:txBody>
      </p:sp>
      <p:sp>
        <p:nvSpPr>
          <p:cNvPr id="12" name="Text 10"/>
          <p:cNvSpPr/>
          <p:nvPr/>
        </p:nvSpPr>
        <p:spPr>
          <a:xfrm>
            <a:off x="683568" y="2734586"/>
            <a:ext cx="2811780" cy="240030"/>
          </a:xfrm>
          <a:prstGeom prst="rect">
            <a:avLst/>
          </a:prstGeom>
          <a:noFill/>
          <a:ln/>
        </p:spPr>
        <p:txBody>
          <a:bodyPr wrap="square" lIns="0" tIns="0" rIns="0" bIns="0" rtlCol="0" anchor="ctr"/>
          <a:lstStyle/>
          <a:p>
            <a:pPr defTabSz="685783"/>
            <a:r>
              <a:rPr lang="en-US" sz="1700" b="1" dirty="0">
                <a:solidFill>
                  <a:srgbClr val="0B2A4A"/>
                </a:solidFill>
              </a:rPr>
              <a:t>Sigmoid response function</a:t>
            </a:r>
            <a:endParaRPr lang="en-US" sz="1700" dirty="0">
              <a:solidFill>
                <a:prstClr val="black"/>
              </a:solidFill>
            </a:endParaRPr>
          </a:p>
        </p:txBody>
      </p:sp>
      <p:sp>
        <p:nvSpPr>
          <p:cNvPr id="15" name="Text 13"/>
          <p:cNvSpPr/>
          <p:nvPr/>
        </p:nvSpPr>
        <p:spPr>
          <a:xfrm>
            <a:off x="1125895" y="3579863"/>
            <a:ext cx="6846530" cy="1296143"/>
          </a:xfrm>
          <a:prstGeom prst="rect">
            <a:avLst/>
          </a:prstGeom>
          <a:noFill/>
          <a:ln/>
        </p:spPr>
        <p:txBody>
          <a:bodyPr wrap="square" lIns="572" tIns="572" rIns="572" bIns="572" rtlCol="0" anchor="t">
            <a:normAutofit/>
          </a:bodyPr>
          <a:lstStyle/>
          <a:p>
            <a:pPr defTabSz="685783">
              <a:lnSpc>
                <a:spcPct val="150000"/>
              </a:lnSpc>
            </a:pPr>
            <a:r>
              <a:rPr lang="en-US" sz="1400" dirty="0">
                <a:solidFill>
                  <a:srgbClr val="1C2633"/>
                </a:solidFill>
                <a:ea typeface="Aptos" pitchFamily="34" charset="-122"/>
                <a:cs typeface="Aptos" pitchFamily="34" charset="-120"/>
              </a:rPr>
              <a:t>• The −E and −I terms pull activity downward.</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The sigmoid terms describe nonlinear population activation.</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The factor (1−E) or (1−I) keeps normalized activity bounded.</a:t>
            </a:r>
            <a:endParaRPr lang="en-US" sz="1400" dirty="0">
              <a:solidFill>
                <a:prstClr val="black"/>
              </a:solidFill>
            </a:endParaRPr>
          </a:p>
        </p:txBody>
      </p:sp>
      <mc:AlternateContent xmlns:mc="http://schemas.openxmlformats.org/markup-compatibility/2006" xmlns:a14="http://schemas.microsoft.com/office/drawing/2010/main">
        <mc:Choice Requires="a14">
          <p:sp>
            <p:nvSpPr>
              <p:cNvPr id="16" name="TextBox 15"/>
              <p:cNvSpPr txBox="1"/>
              <p:nvPr/>
            </p:nvSpPr>
            <p:spPr>
              <a:xfrm>
                <a:off x="476644" y="1005309"/>
                <a:ext cx="3807324" cy="68461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pt-BR" altLang="zh-CN" i="1" smtClean="0">
                              <a:latin typeface="Cambria Math" panose="02040503050406030204" pitchFamily="18" charset="0"/>
                            </a:rPr>
                          </m:ctrlPr>
                        </m:fPr>
                        <m:num>
                          <m:r>
                            <a:rPr lang="pt-BR" altLang="zh-CN" i="1">
                              <a:latin typeface="Cambria Math"/>
                            </a:rPr>
                            <m:t>𝑑𝐸</m:t>
                          </m:r>
                        </m:num>
                        <m:den>
                          <m:r>
                            <a:rPr lang="pt-BR" altLang="zh-CN" i="1">
                              <a:latin typeface="Cambria Math"/>
                            </a:rPr>
                            <m:t>𝑑𝑡</m:t>
                          </m:r>
                        </m:den>
                      </m:f>
                      <m:r>
                        <a:rPr lang="pt-BR" altLang="zh-CN" i="1">
                          <a:latin typeface="Cambria Math"/>
                        </a:rPr>
                        <m:t>=</m:t>
                      </m:r>
                      <m:f>
                        <m:fPr>
                          <m:ctrlPr>
                            <a:rPr lang="pt-BR" altLang="zh-CN" i="1">
                              <a:latin typeface="Cambria Math" panose="02040503050406030204" pitchFamily="18" charset="0"/>
                            </a:rPr>
                          </m:ctrlPr>
                        </m:fPr>
                        <m:num>
                          <m:r>
                            <a:rPr lang="pt-BR" altLang="zh-CN" i="1">
                              <a:latin typeface="Cambria Math"/>
                            </a:rPr>
                            <m:t>−</m:t>
                          </m:r>
                          <m:r>
                            <a:rPr lang="pt-BR" altLang="zh-CN" i="1">
                              <a:latin typeface="Cambria Math"/>
                            </a:rPr>
                            <m:t>𝐸</m:t>
                          </m:r>
                          <m:r>
                            <a:rPr lang="pt-BR" altLang="zh-CN" i="1">
                              <a:latin typeface="Cambria Math"/>
                            </a:rPr>
                            <m:t>+</m:t>
                          </m:r>
                          <m:d>
                            <m:dPr>
                              <m:ctrlPr>
                                <a:rPr lang="pt-BR" altLang="zh-CN" i="1">
                                  <a:latin typeface="Cambria Math" panose="02040503050406030204" pitchFamily="18" charset="0"/>
                                </a:rPr>
                              </m:ctrlPr>
                            </m:dPr>
                            <m:e>
                              <m:r>
                                <a:rPr lang="pt-BR" altLang="zh-CN" i="1">
                                  <a:latin typeface="Cambria Math"/>
                                </a:rPr>
                                <m:t>1−</m:t>
                              </m:r>
                              <m:r>
                                <a:rPr lang="pt-BR" altLang="zh-CN" i="1">
                                  <a:latin typeface="Cambria Math"/>
                                </a:rPr>
                                <m:t>𝐸</m:t>
                              </m:r>
                            </m:e>
                          </m:d>
                          <m:sSub>
                            <m:sSubPr>
                              <m:ctrlPr>
                                <a:rPr lang="pt-BR" altLang="zh-CN" i="1">
                                  <a:latin typeface="Cambria Math" panose="02040503050406030204" pitchFamily="18" charset="0"/>
                                </a:rPr>
                              </m:ctrlPr>
                            </m:sSubPr>
                            <m:e>
                              <m:r>
                                <a:rPr lang="pt-BR" altLang="zh-CN" i="1">
                                  <a:latin typeface="Cambria Math"/>
                                </a:rPr>
                                <m:t>𝑆</m:t>
                              </m:r>
                            </m:e>
                            <m:sub>
                              <m:r>
                                <a:rPr lang="pt-BR" altLang="zh-CN" i="1">
                                  <a:latin typeface="Cambria Math"/>
                                </a:rPr>
                                <m:t>𝐸</m:t>
                              </m:r>
                              <m:d>
                                <m:dPr>
                                  <m:ctrlPr>
                                    <a:rPr lang="pt-BR" altLang="zh-CN" i="1">
                                      <a:latin typeface="Cambria Math" panose="02040503050406030204" pitchFamily="18" charset="0"/>
                                    </a:rPr>
                                  </m:ctrlPr>
                                </m:dPr>
                                <m:e>
                                  <m:sSub>
                                    <m:sSubPr>
                                      <m:ctrlPr>
                                        <a:rPr lang="pt-BR" altLang="zh-CN" i="1">
                                          <a:latin typeface="Cambria Math" panose="02040503050406030204" pitchFamily="18" charset="0"/>
                                        </a:rPr>
                                      </m:ctrlPr>
                                    </m:sSubPr>
                                    <m:e>
                                      <m:r>
                                        <a:rPr lang="pt-BR" altLang="zh-CN" i="1">
                                          <a:latin typeface="Cambria Math"/>
                                        </a:rPr>
                                        <m:t>𝑤</m:t>
                                      </m:r>
                                    </m:e>
                                    <m:sub>
                                      <m:r>
                                        <a:rPr lang="pt-BR" altLang="zh-CN" i="1">
                                          <a:latin typeface="Cambria Math"/>
                                        </a:rPr>
                                        <m:t>𝐸𝐸</m:t>
                                      </m:r>
                                    </m:sub>
                                  </m:sSub>
                                  <m:r>
                                    <a:rPr lang="pt-BR" altLang="zh-CN" i="1">
                                      <a:latin typeface="Cambria Math"/>
                                    </a:rPr>
                                    <m:t>𝐸</m:t>
                                  </m:r>
                                  <m:r>
                                    <a:rPr lang="pt-BR" altLang="zh-CN" i="1">
                                      <a:latin typeface="Cambria Math"/>
                                    </a:rPr>
                                    <m:t>−</m:t>
                                  </m:r>
                                  <m:sSub>
                                    <m:sSubPr>
                                      <m:ctrlPr>
                                        <a:rPr lang="pt-BR" altLang="zh-CN" i="1">
                                          <a:latin typeface="Cambria Math" panose="02040503050406030204" pitchFamily="18" charset="0"/>
                                        </a:rPr>
                                      </m:ctrlPr>
                                    </m:sSubPr>
                                    <m:e>
                                      <m:r>
                                        <a:rPr lang="pt-BR" altLang="zh-CN" i="1">
                                          <a:latin typeface="Cambria Math"/>
                                        </a:rPr>
                                        <m:t>𝑤</m:t>
                                      </m:r>
                                    </m:e>
                                    <m:sub>
                                      <m:r>
                                        <a:rPr lang="pt-BR" altLang="zh-CN" i="1">
                                          <a:latin typeface="Cambria Math"/>
                                        </a:rPr>
                                        <m:t>𝐸𝐼</m:t>
                                      </m:r>
                                    </m:sub>
                                  </m:sSub>
                                  <m:r>
                                    <a:rPr lang="pt-BR" altLang="zh-CN" i="1">
                                      <a:latin typeface="Cambria Math"/>
                                    </a:rPr>
                                    <m:t>𝐼</m:t>
                                  </m:r>
                                  <m:r>
                                    <a:rPr lang="pt-BR" altLang="zh-CN" i="1">
                                      <a:latin typeface="Cambria Math"/>
                                    </a:rPr>
                                    <m:t>+</m:t>
                                  </m:r>
                                  <m:r>
                                    <a:rPr lang="pt-BR" altLang="zh-CN" i="1">
                                      <a:latin typeface="Cambria Math"/>
                                    </a:rPr>
                                    <m:t>𝑃</m:t>
                                  </m:r>
                                </m:e>
                              </m:d>
                            </m:sub>
                          </m:sSub>
                        </m:num>
                        <m:den>
                          <m:sSub>
                            <m:sSubPr>
                              <m:ctrlPr>
                                <a:rPr lang="pt-BR" altLang="zh-CN" i="1">
                                  <a:latin typeface="Cambria Math" panose="02040503050406030204" pitchFamily="18" charset="0"/>
                                </a:rPr>
                              </m:ctrlPr>
                            </m:sSubPr>
                            <m:e>
                              <m:r>
                                <a:rPr lang="pt-BR" altLang="zh-CN" i="1">
                                  <a:latin typeface="Cambria Math"/>
                                </a:rPr>
                                <m:t>𝜏</m:t>
                              </m:r>
                            </m:e>
                            <m:sub>
                              <m:r>
                                <a:rPr lang="pt-BR" altLang="zh-CN" i="1">
                                  <a:latin typeface="Cambria Math"/>
                                </a:rPr>
                                <m:t>𝐸</m:t>
                              </m:r>
                            </m:sub>
                          </m:sSub>
                        </m:den>
                      </m:f>
                    </m:oMath>
                  </m:oMathPara>
                </a14:m>
                <a:endParaRPr lang="zh-CN" alt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476644" y="1005309"/>
                <a:ext cx="3807324" cy="684611"/>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936326" y="1005309"/>
                <a:ext cx="3524106" cy="68461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pl-PL" altLang="zh-CN" i="1" smtClean="0">
                              <a:latin typeface="Cambria Math" panose="02040503050406030204" pitchFamily="18" charset="0"/>
                            </a:rPr>
                          </m:ctrlPr>
                        </m:fPr>
                        <m:num>
                          <m:r>
                            <a:rPr lang="pl-PL" altLang="zh-CN" i="1">
                              <a:latin typeface="Cambria Math"/>
                            </a:rPr>
                            <m:t>𝑑𝐼</m:t>
                          </m:r>
                        </m:num>
                        <m:den>
                          <m:r>
                            <a:rPr lang="pl-PL" altLang="zh-CN" i="1">
                              <a:latin typeface="Cambria Math"/>
                            </a:rPr>
                            <m:t>𝑑𝑡</m:t>
                          </m:r>
                        </m:den>
                      </m:f>
                      <m:r>
                        <a:rPr lang="pl-PL" altLang="zh-CN" i="1">
                          <a:latin typeface="Cambria Math"/>
                        </a:rPr>
                        <m:t>=</m:t>
                      </m:r>
                      <m:f>
                        <m:fPr>
                          <m:ctrlPr>
                            <a:rPr lang="pl-PL" altLang="zh-CN" i="1">
                              <a:latin typeface="Cambria Math" panose="02040503050406030204" pitchFamily="18" charset="0"/>
                            </a:rPr>
                          </m:ctrlPr>
                        </m:fPr>
                        <m:num>
                          <m:r>
                            <a:rPr lang="pl-PL" altLang="zh-CN" i="1">
                              <a:latin typeface="Cambria Math"/>
                            </a:rPr>
                            <m:t>−</m:t>
                          </m:r>
                          <m:r>
                            <a:rPr lang="pl-PL" altLang="zh-CN" i="1">
                              <a:latin typeface="Cambria Math"/>
                            </a:rPr>
                            <m:t>𝐼</m:t>
                          </m:r>
                          <m:r>
                            <a:rPr lang="pl-PL" altLang="zh-CN" i="1">
                              <a:latin typeface="Cambria Math"/>
                            </a:rPr>
                            <m:t>+</m:t>
                          </m:r>
                          <m:d>
                            <m:dPr>
                              <m:ctrlPr>
                                <a:rPr lang="pl-PL" altLang="zh-CN" i="1">
                                  <a:latin typeface="Cambria Math" panose="02040503050406030204" pitchFamily="18" charset="0"/>
                                </a:rPr>
                              </m:ctrlPr>
                            </m:dPr>
                            <m:e>
                              <m:r>
                                <a:rPr lang="pl-PL" altLang="zh-CN" i="1">
                                  <a:latin typeface="Cambria Math"/>
                                </a:rPr>
                                <m:t>1−</m:t>
                              </m:r>
                              <m:r>
                                <a:rPr lang="pl-PL" altLang="zh-CN" i="1">
                                  <a:latin typeface="Cambria Math"/>
                                </a:rPr>
                                <m:t>𝐼</m:t>
                              </m:r>
                            </m:e>
                          </m:d>
                          <m:sSub>
                            <m:sSubPr>
                              <m:ctrlPr>
                                <a:rPr lang="pl-PL" altLang="zh-CN" i="1">
                                  <a:latin typeface="Cambria Math" panose="02040503050406030204" pitchFamily="18" charset="0"/>
                                </a:rPr>
                              </m:ctrlPr>
                            </m:sSubPr>
                            <m:e>
                              <m:r>
                                <a:rPr lang="pl-PL" altLang="zh-CN" i="1">
                                  <a:latin typeface="Cambria Math"/>
                                </a:rPr>
                                <m:t>𝑆</m:t>
                              </m:r>
                            </m:e>
                            <m:sub>
                              <m:r>
                                <a:rPr lang="pl-PL" altLang="zh-CN" i="1">
                                  <a:latin typeface="Cambria Math"/>
                                </a:rPr>
                                <m:t>𝐼</m:t>
                              </m:r>
                              <m:d>
                                <m:dPr>
                                  <m:ctrlPr>
                                    <a:rPr lang="pl-PL" altLang="zh-CN" i="1">
                                      <a:latin typeface="Cambria Math" panose="02040503050406030204" pitchFamily="18" charset="0"/>
                                    </a:rPr>
                                  </m:ctrlPr>
                                </m:dPr>
                                <m:e>
                                  <m:sSub>
                                    <m:sSubPr>
                                      <m:ctrlPr>
                                        <a:rPr lang="pl-PL" altLang="zh-CN" i="1">
                                          <a:latin typeface="Cambria Math" panose="02040503050406030204" pitchFamily="18" charset="0"/>
                                        </a:rPr>
                                      </m:ctrlPr>
                                    </m:sSubPr>
                                    <m:e>
                                      <m:r>
                                        <a:rPr lang="pl-PL" altLang="zh-CN" i="1">
                                          <a:latin typeface="Cambria Math"/>
                                        </a:rPr>
                                        <m:t>𝑤</m:t>
                                      </m:r>
                                    </m:e>
                                    <m:sub>
                                      <m:r>
                                        <a:rPr lang="pl-PL" altLang="zh-CN" i="1">
                                          <a:latin typeface="Cambria Math"/>
                                        </a:rPr>
                                        <m:t>𝐼𝐸</m:t>
                                      </m:r>
                                    </m:sub>
                                  </m:sSub>
                                  <m:r>
                                    <a:rPr lang="pl-PL" altLang="zh-CN" i="1">
                                      <a:latin typeface="Cambria Math"/>
                                    </a:rPr>
                                    <m:t>𝐸</m:t>
                                  </m:r>
                                  <m:r>
                                    <a:rPr lang="pl-PL" altLang="zh-CN" i="1">
                                      <a:latin typeface="Cambria Math"/>
                                    </a:rPr>
                                    <m:t>−</m:t>
                                  </m:r>
                                  <m:sSub>
                                    <m:sSubPr>
                                      <m:ctrlPr>
                                        <a:rPr lang="pl-PL" altLang="zh-CN" i="1">
                                          <a:latin typeface="Cambria Math" panose="02040503050406030204" pitchFamily="18" charset="0"/>
                                        </a:rPr>
                                      </m:ctrlPr>
                                    </m:sSubPr>
                                    <m:e>
                                      <m:r>
                                        <a:rPr lang="pl-PL" altLang="zh-CN" i="1">
                                          <a:latin typeface="Cambria Math"/>
                                        </a:rPr>
                                        <m:t>𝑤</m:t>
                                      </m:r>
                                    </m:e>
                                    <m:sub>
                                      <m:r>
                                        <a:rPr lang="pl-PL" altLang="zh-CN" i="1">
                                          <a:latin typeface="Cambria Math"/>
                                        </a:rPr>
                                        <m:t>𝐼𝐼</m:t>
                                      </m:r>
                                    </m:sub>
                                  </m:sSub>
                                  <m:r>
                                    <a:rPr lang="pl-PL" altLang="zh-CN" i="1">
                                      <a:latin typeface="Cambria Math"/>
                                    </a:rPr>
                                    <m:t>𝐼</m:t>
                                  </m:r>
                                  <m:r>
                                    <a:rPr lang="pl-PL" altLang="zh-CN" i="1">
                                      <a:latin typeface="Cambria Math"/>
                                    </a:rPr>
                                    <m:t>+</m:t>
                                  </m:r>
                                  <m:r>
                                    <a:rPr lang="pl-PL" altLang="zh-CN" i="1">
                                      <a:latin typeface="Cambria Math"/>
                                    </a:rPr>
                                    <m:t>𝑄</m:t>
                                  </m:r>
                                </m:e>
                              </m:d>
                            </m:sub>
                          </m:sSub>
                        </m:num>
                        <m:den>
                          <m:sSub>
                            <m:sSubPr>
                              <m:ctrlPr>
                                <a:rPr lang="pl-PL" altLang="zh-CN" i="1">
                                  <a:latin typeface="Cambria Math" panose="02040503050406030204" pitchFamily="18" charset="0"/>
                                </a:rPr>
                              </m:ctrlPr>
                            </m:sSubPr>
                            <m:e>
                              <m:r>
                                <a:rPr lang="pl-PL" altLang="zh-CN" i="1">
                                  <a:latin typeface="Cambria Math"/>
                                </a:rPr>
                                <m:t>𝜏</m:t>
                              </m:r>
                            </m:e>
                            <m:sub>
                              <m:r>
                                <a:rPr lang="pl-PL" altLang="zh-CN" i="1">
                                  <a:latin typeface="Cambria Math"/>
                                </a:rPr>
                                <m:t>𝐼</m:t>
                              </m:r>
                            </m:sub>
                          </m:sSub>
                        </m:den>
                      </m:f>
                    </m:oMath>
                  </m:oMathPara>
                </a14:m>
                <a:endParaRPr lang="zh-CN" alt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4936326" y="1005309"/>
                <a:ext cx="3524106" cy="684611"/>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847185" y="2497516"/>
                <a:ext cx="4757263" cy="7141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l-PL" altLang="zh-CN" i="1" smtClean="0">
                              <a:latin typeface="Cambria Math" panose="02040503050406030204" pitchFamily="18" charset="0"/>
                            </a:rPr>
                          </m:ctrlPr>
                        </m:sSubPr>
                        <m:e>
                          <m:r>
                            <a:rPr lang="pl-PL" altLang="zh-CN" i="1">
                              <a:latin typeface="Cambria Math"/>
                            </a:rPr>
                            <m:t>𝑆</m:t>
                          </m:r>
                        </m:e>
                        <m:sub>
                          <m:r>
                            <a:rPr lang="pl-PL" altLang="zh-CN" i="1">
                              <a:latin typeface="Cambria Math"/>
                            </a:rPr>
                            <m:t>𝑋</m:t>
                          </m:r>
                          <m:d>
                            <m:dPr>
                              <m:ctrlPr>
                                <a:rPr lang="pl-PL" altLang="zh-CN" i="1">
                                  <a:latin typeface="Cambria Math" panose="02040503050406030204" pitchFamily="18" charset="0"/>
                                </a:rPr>
                              </m:ctrlPr>
                            </m:dPr>
                            <m:e>
                              <m:r>
                                <a:rPr lang="pl-PL" altLang="zh-CN" i="1">
                                  <a:latin typeface="Cambria Math"/>
                                </a:rPr>
                                <m:t>𝑢</m:t>
                              </m:r>
                            </m:e>
                          </m:d>
                        </m:sub>
                      </m:sSub>
                      <m:r>
                        <a:rPr lang="pl-PL" altLang="zh-CN" i="1">
                          <a:latin typeface="Cambria Math"/>
                        </a:rPr>
                        <m:t>=</m:t>
                      </m:r>
                      <m:f>
                        <m:fPr>
                          <m:ctrlPr>
                            <a:rPr lang="pl-PL" altLang="zh-CN" i="1">
                              <a:latin typeface="Cambria Math" panose="02040503050406030204" pitchFamily="18" charset="0"/>
                            </a:rPr>
                          </m:ctrlPr>
                        </m:fPr>
                        <m:num>
                          <m:r>
                            <a:rPr lang="pl-PL" altLang="zh-CN" i="1">
                              <a:latin typeface="Cambria Math"/>
                            </a:rPr>
                            <m:t>1</m:t>
                          </m:r>
                        </m:num>
                        <m:den>
                          <m:r>
                            <a:rPr lang="pl-PL" altLang="zh-CN" i="1">
                              <a:latin typeface="Cambria Math"/>
                            </a:rPr>
                            <m:t>1+</m:t>
                          </m:r>
                          <m:r>
                            <a:rPr lang="pl-PL" altLang="zh-CN" i="1">
                              <a:latin typeface="Cambria Math"/>
                            </a:rPr>
                            <m:t>𝑒𝑥𝑝</m:t>
                          </m:r>
                          <m:d>
                            <m:dPr>
                              <m:ctrlPr>
                                <a:rPr lang="pl-PL" altLang="zh-CN" i="1">
                                  <a:latin typeface="Cambria Math" panose="02040503050406030204" pitchFamily="18" charset="0"/>
                                </a:rPr>
                              </m:ctrlPr>
                            </m:dPr>
                            <m:e>
                              <m:r>
                                <a:rPr lang="pl-PL" altLang="zh-CN" i="1">
                                  <a:latin typeface="Cambria Math"/>
                                </a:rPr>
                                <m:t>−</m:t>
                              </m:r>
                              <m:sSub>
                                <m:sSubPr>
                                  <m:ctrlPr>
                                    <a:rPr lang="pl-PL" altLang="zh-CN" i="1">
                                      <a:latin typeface="Cambria Math" panose="02040503050406030204" pitchFamily="18" charset="0"/>
                                    </a:rPr>
                                  </m:ctrlPr>
                                </m:sSubPr>
                                <m:e>
                                  <m:r>
                                    <a:rPr lang="pl-PL" altLang="zh-CN" i="1">
                                      <a:latin typeface="Cambria Math"/>
                                    </a:rPr>
                                    <m:t>𝑎</m:t>
                                  </m:r>
                                </m:e>
                                <m:sub>
                                  <m:r>
                                    <a:rPr lang="pl-PL" altLang="zh-CN" i="1">
                                      <a:latin typeface="Cambria Math"/>
                                    </a:rPr>
                                    <m:t>𝑋</m:t>
                                  </m:r>
                                  <m:d>
                                    <m:dPr>
                                      <m:ctrlPr>
                                        <a:rPr lang="pl-PL" altLang="zh-CN" i="1">
                                          <a:latin typeface="Cambria Math" panose="02040503050406030204" pitchFamily="18" charset="0"/>
                                        </a:rPr>
                                      </m:ctrlPr>
                                    </m:dPr>
                                    <m:e>
                                      <m:r>
                                        <a:rPr lang="pl-PL" altLang="zh-CN" i="1">
                                          <a:latin typeface="Cambria Math"/>
                                        </a:rPr>
                                        <m:t>𝑢</m:t>
                                      </m:r>
                                      <m:r>
                                        <a:rPr lang="pl-PL" altLang="zh-CN" i="1">
                                          <a:latin typeface="Cambria Math"/>
                                        </a:rPr>
                                        <m:t>−</m:t>
                                      </m:r>
                                      <m:sSub>
                                        <m:sSubPr>
                                          <m:ctrlPr>
                                            <a:rPr lang="pl-PL" altLang="zh-CN" i="1">
                                              <a:latin typeface="Cambria Math" panose="02040503050406030204" pitchFamily="18" charset="0"/>
                                            </a:rPr>
                                          </m:ctrlPr>
                                        </m:sSubPr>
                                        <m:e>
                                          <m:r>
                                            <a:rPr lang="pl-PL" altLang="zh-CN" i="1">
                                              <a:latin typeface="Cambria Math"/>
                                            </a:rPr>
                                            <m:t>𝜃</m:t>
                                          </m:r>
                                        </m:e>
                                        <m:sub>
                                          <m:r>
                                            <a:rPr lang="pl-PL" altLang="zh-CN" i="1">
                                              <a:latin typeface="Cambria Math"/>
                                            </a:rPr>
                                            <m:t>𝑋</m:t>
                                          </m:r>
                                        </m:sub>
                                      </m:sSub>
                                    </m:e>
                                  </m:d>
                                </m:sub>
                              </m:sSub>
                            </m:e>
                          </m:d>
                        </m:den>
                      </m:f>
                      <m:r>
                        <a:rPr lang="pl-PL" altLang="zh-CN" i="1">
                          <a:latin typeface="Cambria Math"/>
                        </a:rPr>
                        <m:t>,    </m:t>
                      </m:r>
                      <m:r>
                        <a:rPr lang="pl-PL" altLang="zh-CN" i="1">
                          <a:latin typeface="Cambria Math"/>
                        </a:rPr>
                        <m:t>𝑋</m:t>
                      </m:r>
                      <m:r>
                        <a:rPr lang="pl-PL" altLang="zh-CN" i="1">
                          <a:latin typeface="Cambria Math"/>
                        </a:rPr>
                        <m:t>∈</m:t>
                      </m:r>
                      <m:d>
                        <m:dPr>
                          <m:begChr m:val="{"/>
                          <m:endChr m:val="}"/>
                          <m:ctrlPr>
                            <a:rPr lang="pl-PL" altLang="zh-CN" i="1">
                              <a:latin typeface="Cambria Math" panose="02040503050406030204" pitchFamily="18" charset="0"/>
                            </a:rPr>
                          </m:ctrlPr>
                        </m:dPr>
                        <m:e>
                          <m:r>
                            <a:rPr lang="pl-PL" altLang="zh-CN" i="1">
                              <a:latin typeface="Cambria Math"/>
                            </a:rPr>
                            <m:t>𝐸</m:t>
                          </m:r>
                          <m:r>
                            <a:rPr lang="pl-PL" altLang="zh-CN" i="1">
                              <a:latin typeface="Cambria Math"/>
                            </a:rPr>
                            <m:t>,</m:t>
                          </m:r>
                          <m:r>
                            <a:rPr lang="pl-PL" altLang="zh-CN" i="1">
                              <a:latin typeface="Cambria Math"/>
                            </a:rPr>
                            <m:t>𝐼</m:t>
                          </m:r>
                        </m:e>
                      </m:d>
                    </m:oMath>
                  </m:oMathPara>
                </a14:m>
                <a:endParaRPr lang="zh-CN" alt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3847185" y="2497516"/>
                <a:ext cx="4757263" cy="714170"/>
              </a:xfrm>
              <a:prstGeom prst="rect">
                <a:avLst/>
              </a:prstGeom>
              <a:blipFill>
                <a:blip r:embed="rId5"/>
                <a:stretch>
                  <a:fillRect/>
                </a:stretch>
              </a:blipFill>
            </p:spPr>
            <p:txBody>
              <a:bodyPr/>
              <a:lstStyle/>
              <a:p>
                <a:r>
                  <a:rPr lang="en-US">
                    <a:noFill/>
                  </a:rPr>
                  <a:t> </a:t>
                </a:r>
              </a:p>
            </p:txBody>
          </p:sp>
        </mc:Fallback>
      </mc:AlternateContent>
      <p:sp>
        <p:nvSpPr>
          <p:cNvPr id="20" name="Shape 11"/>
          <p:cNvSpPr/>
          <p:nvPr/>
        </p:nvSpPr>
        <p:spPr>
          <a:xfrm>
            <a:off x="355801" y="2139702"/>
            <a:ext cx="8199554" cy="0"/>
          </a:xfrm>
          <a:prstGeom prst="line">
            <a:avLst/>
          </a:prstGeom>
          <a:noFill/>
          <a:ln w="17780">
            <a:solidFill>
              <a:srgbClr val="D6E6F5"/>
            </a:solidFill>
            <a:prstDash val="solid"/>
          </a:ln>
        </p:spPr>
        <p:txBody>
          <a:bodyPr/>
          <a:lstStyle/>
          <a:p>
            <a:endParaRPr lang="en-US"/>
          </a:p>
        </p:txBody>
      </p:sp>
    </p:spTree>
    <p:extLst>
      <p:ext uri="{BB962C8B-B14F-4D97-AF65-F5344CB8AC3E}">
        <p14:creationId xmlns:p14="http://schemas.microsoft.com/office/powerpoint/2010/main" val="3122078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Parameter choices and sweep</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ODE Model</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07</a:t>
            </a:r>
            <a:endParaRPr lang="en-US" sz="1200" dirty="0">
              <a:solidFill>
                <a:prstClr val="black"/>
              </a:solidFill>
            </a:endParaRPr>
          </a:p>
        </p:txBody>
      </p:sp>
      <p:grpSp>
        <p:nvGrpSpPr>
          <p:cNvPr id="47" name="组合 46"/>
          <p:cNvGrpSpPr/>
          <p:nvPr/>
        </p:nvGrpSpPr>
        <p:grpSpPr>
          <a:xfrm>
            <a:off x="514350" y="925830"/>
            <a:ext cx="4320540" cy="3590136"/>
            <a:chOff x="685800" y="1234440"/>
            <a:chExt cx="5760720" cy="4251960"/>
          </a:xfrm>
        </p:grpSpPr>
        <p:sp>
          <p:nvSpPr>
            <p:cNvPr id="8" name="Shape 6"/>
            <p:cNvSpPr/>
            <p:nvPr/>
          </p:nvSpPr>
          <p:spPr>
            <a:xfrm>
              <a:off x="685800" y="1234440"/>
              <a:ext cx="5760720" cy="531495"/>
            </a:xfrm>
            <a:prstGeom prst="rect">
              <a:avLst/>
            </a:prstGeom>
            <a:solidFill>
              <a:srgbClr val="1F77B4"/>
            </a:solidFill>
            <a:ln w="12700">
              <a:solidFill>
                <a:srgbClr val="1F77B4"/>
              </a:solidFill>
              <a:prstDash val="solid"/>
            </a:ln>
          </p:spPr>
          <p:txBody>
            <a:bodyPr/>
            <a:lstStyle/>
            <a:p>
              <a:endParaRPr lang="en-US"/>
            </a:p>
          </p:txBody>
        </p:sp>
        <p:sp>
          <p:nvSpPr>
            <p:cNvPr id="9" name="Shape 7"/>
            <p:cNvSpPr/>
            <p:nvPr/>
          </p:nvSpPr>
          <p:spPr>
            <a:xfrm>
              <a:off x="685800" y="1234440"/>
              <a:ext cx="5760720" cy="4251960"/>
            </a:xfrm>
            <a:prstGeom prst="rect">
              <a:avLst/>
            </a:prstGeom>
            <a:solidFill>
              <a:srgbClr val="FFFFFF">
                <a:alpha val="0"/>
              </a:srgbClr>
            </a:solidFill>
            <a:ln w="12700">
              <a:solidFill>
                <a:srgbClr val="D6E6F5"/>
              </a:solidFill>
              <a:prstDash val="solid"/>
            </a:ln>
          </p:spPr>
          <p:txBody>
            <a:bodyPr/>
            <a:lstStyle/>
            <a:p>
              <a:endParaRPr lang="en-US"/>
            </a:p>
          </p:txBody>
        </p:sp>
        <p:sp>
          <p:nvSpPr>
            <p:cNvPr id="10" name="Shape 8"/>
            <p:cNvSpPr/>
            <p:nvPr/>
          </p:nvSpPr>
          <p:spPr>
            <a:xfrm>
              <a:off x="685800" y="1765935"/>
              <a:ext cx="5760720" cy="0"/>
            </a:xfrm>
            <a:prstGeom prst="line">
              <a:avLst/>
            </a:prstGeom>
            <a:noFill/>
            <a:ln w="10160">
              <a:solidFill>
                <a:srgbClr val="D6E6F5"/>
              </a:solidFill>
              <a:prstDash val="solid"/>
            </a:ln>
          </p:spPr>
          <p:txBody>
            <a:bodyPr/>
            <a:lstStyle/>
            <a:p>
              <a:endParaRPr lang="en-US"/>
            </a:p>
          </p:txBody>
        </p:sp>
        <p:sp>
          <p:nvSpPr>
            <p:cNvPr id="11" name="Shape 9"/>
            <p:cNvSpPr/>
            <p:nvPr/>
          </p:nvSpPr>
          <p:spPr>
            <a:xfrm>
              <a:off x="685800" y="2297430"/>
              <a:ext cx="5760720" cy="0"/>
            </a:xfrm>
            <a:prstGeom prst="line">
              <a:avLst/>
            </a:prstGeom>
            <a:noFill/>
            <a:ln w="10160">
              <a:solidFill>
                <a:srgbClr val="D6E6F5"/>
              </a:solidFill>
              <a:prstDash val="solid"/>
            </a:ln>
          </p:spPr>
          <p:txBody>
            <a:bodyPr/>
            <a:lstStyle/>
            <a:p>
              <a:endParaRPr lang="en-US"/>
            </a:p>
          </p:txBody>
        </p:sp>
        <p:sp>
          <p:nvSpPr>
            <p:cNvPr id="12" name="Shape 10"/>
            <p:cNvSpPr/>
            <p:nvPr/>
          </p:nvSpPr>
          <p:spPr>
            <a:xfrm>
              <a:off x="685800" y="2828925"/>
              <a:ext cx="5760720" cy="0"/>
            </a:xfrm>
            <a:prstGeom prst="line">
              <a:avLst/>
            </a:prstGeom>
            <a:noFill/>
            <a:ln w="10160">
              <a:solidFill>
                <a:srgbClr val="D6E6F5"/>
              </a:solidFill>
              <a:prstDash val="solid"/>
            </a:ln>
          </p:spPr>
          <p:txBody>
            <a:bodyPr/>
            <a:lstStyle/>
            <a:p>
              <a:endParaRPr lang="en-US"/>
            </a:p>
          </p:txBody>
        </p:sp>
        <p:sp>
          <p:nvSpPr>
            <p:cNvPr id="13" name="Shape 11"/>
            <p:cNvSpPr/>
            <p:nvPr/>
          </p:nvSpPr>
          <p:spPr>
            <a:xfrm>
              <a:off x="685800" y="3360420"/>
              <a:ext cx="5760720" cy="0"/>
            </a:xfrm>
            <a:prstGeom prst="line">
              <a:avLst/>
            </a:prstGeom>
            <a:noFill/>
            <a:ln w="10160">
              <a:solidFill>
                <a:srgbClr val="D6E6F5"/>
              </a:solidFill>
              <a:prstDash val="solid"/>
            </a:ln>
          </p:spPr>
          <p:txBody>
            <a:bodyPr/>
            <a:lstStyle/>
            <a:p>
              <a:endParaRPr lang="en-US"/>
            </a:p>
          </p:txBody>
        </p:sp>
        <p:sp>
          <p:nvSpPr>
            <p:cNvPr id="14" name="Shape 12"/>
            <p:cNvSpPr/>
            <p:nvPr/>
          </p:nvSpPr>
          <p:spPr>
            <a:xfrm>
              <a:off x="685800" y="3891915"/>
              <a:ext cx="5760720" cy="0"/>
            </a:xfrm>
            <a:prstGeom prst="line">
              <a:avLst/>
            </a:prstGeom>
            <a:noFill/>
            <a:ln w="10160">
              <a:solidFill>
                <a:srgbClr val="D6E6F5"/>
              </a:solidFill>
              <a:prstDash val="solid"/>
            </a:ln>
          </p:spPr>
          <p:txBody>
            <a:bodyPr/>
            <a:lstStyle/>
            <a:p>
              <a:endParaRPr lang="en-US"/>
            </a:p>
          </p:txBody>
        </p:sp>
        <p:sp>
          <p:nvSpPr>
            <p:cNvPr id="15" name="Shape 13"/>
            <p:cNvSpPr/>
            <p:nvPr/>
          </p:nvSpPr>
          <p:spPr>
            <a:xfrm>
              <a:off x="685800" y="4423410"/>
              <a:ext cx="5760720" cy="0"/>
            </a:xfrm>
            <a:prstGeom prst="line">
              <a:avLst/>
            </a:prstGeom>
            <a:noFill/>
            <a:ln w="10160">
              <a:solidFill>
                <a:srgbClr val="D6E6F5"/>
              </a:solidFill>
              <a:prstDash val="solid"/>
            </a:ln>
          </p:spPr>
          <p:txBody>
            <a:bodyPr/>
            <a:lstStyle/>
            <a:p>
              <a:endParaRPr lang="en-US"/>
            </a:p>
          </p:txBody>
        </p:sp>
        <p:sp>
          <p:nvSpPr>
            <p:cNvPr id="16" name="Shape 14"/>
            <p:cNvSpPr/>
            <p:nvPr/>
          </p:nvSpPr>
          <p:spPr>
            <a:xfrm>
              <a:off x="685800" y="4954905"/>
              <a:ext cx="5760720" cy="0"/>
            </a:xfrm>
            <a:prstGeom prst="line">
              <a:avLst/>
            </a:prstGeom>
            <a:noFill/>
            <a:ln w="10160">
              <a:solidFill>
                <a:srgbClr val="D6E6F5"/>
              </a:solidFill>
              <a:prstDash val="solid"/>
            </a:ln>
          </p:spPr>
          <p:txBody>
            <a:bodyPr/>
            <a:lstStyle/>
            <a:p>
              <a:endParaRPr lang="en-US"/>
            </a:p>
          </p:txBody>
        </p:sp>
        <p:sp>
          <p:nvSpPr>
            <p:cNvPr id="17" name="Shape 15"/>
            <p:cNvSpPr/>
            <p:nvPr/>
          </p:nvSpPr>
          <p:spPr>
            <a:xfrm>
              <a:off x="1874520" y="1234440"/>
              <a:ext cx="0" cy="4251960"/>
            </a:xfrm>
            <a:prstGeom prst="line">
              <a:avLst/>
            </a:prstGeom>
            <a:noFill/>
            <a:ln w="10160">
              <a:solidFill>
                <a:srgbClr val="D6E6F5"/>
              </a:solidFill>
              <a:prstDash val="solid"/>
            </a:ln>
          </p:spPr>
          <p:txBody>
            <a:bodyPr/>
            <a:lstStyle/>
            <a:p>
              <a:endParaRPr lang="en-US"/>
            </a:p>
          </p:txBody>
        </p:sp>
        <p:sp>
          <p:nvSpPr>
            <p:cNvPr id="18" name="Shape 16"/>
            <p:cNvSpPr/>
            <p:nvPr/>
          </p:nvSpPr>
          <p:spPr>
            <a:xfrm>
              <a:off x="5257800" y="1234440"/>
              <a:ext cx="0" cy="4251960"/>
            </a:xfrm>
            <a:prstGeom prst="line">
              <a:avLst/>
            </a:prstGeom>
            <a:noFill/>
            <a:ln w="10160">
              <a:solidFill>
                <a:srgbClr val="D6E6F5"/>
              </a:solidFill>
              <a:prstDash val="solid"/>
            </a:ln>
          </p:spPr>
          <p:txBody>
            <a:bodyPr/>
            <a:lstStyle/>
            <a:p>
              <a:endParaRPr lang="en-US"/>
            </a:p>
          </p:txBody>
        </p:sp>
        <p:sp>
          <p:nvSpPr>
            <p:cNvPr id="19" name="Text 17"/>
            <p:cNvSpPr/>
            <p:nvPr/>
          </p:nvSpPr>
          <p:spPr>
            <a:xfrm>
              <a:off x="731520" y="1271016"/>
              <a:ext cx="1097280" cy="458343"/>
            </a:xfrm>
            <a:prstGeom prst="rect">
              <a:avLst/>
            </a:prstGeom>
            <a:noFill/>
            <a:ln/>
          </p:spPr>
          <p:txBody>
            <a:bodyPr wrap="square" lIns="127" tIns="127" rIns="127" bIns="127" rtlCol="0" anchor="ctr">
              <a:normAutofit/>
            </a:bodyPr>
            <a:lstStyle/>
            <a:p>
              <a:pPr defTabSz="685783"/>
              <a:r>
                <a:rPr lang="en-US" sz="1200" b="1" dirty="0">
                  <a:solidFill>
                    <a:srgbClr val="FFFFFF"/>
                  </a:solidFill>
                  <a:ea typeface="Aptos" pitchFamily="34" charset="-122"/>
                  <a:cs typeface="Aptos" pitchFamily="34" charset="-120"/>
                </a:rPr>
                <a:t>Parameter</a:t>
              </a:r>
              <a:endParaRPr lang="en-US" sz="1200" dirty="0">
                <a:solidFill>
                  <a:prstClr val="black"/>
                </a:solidFill>
              </a:endParaRPr>
            </a:p>
          </p:txBody>
        </p:sp>
        <p:sp>
          <p:nvSpPr>
            <p:cNvPr id="20" name="Text 18"/>
            <p:cNvSpPr/>
            <p:nvPr/>
          </p:nvSpPr>
          <p:spPr>
            <a:xfrm>
              <a:off x="1920240" y="1271016"/>
              <a:ext cx="3291840" cy="458343"/>
            </a:xfrm>
            <a:prstGeom prst="rect">
              <a:avLst/>
            </a:prstGeom>
            <a:noFill/>
            <a:ln/>
          </p:spPr>
          <p:txBody>
            <a:bodyPr wrap="square" lIns="127" tIns="127" rIns="127" bIns="127" rtlCol="0" anchor="ctr">
              <a:normAutofit/>
            </a:bodyPr>
            <a:lstStyle/>
            <a:p>
              <a:pPr algn="ctr" defTabSz="685783"/>
              <a:r>
                <a:rPr lang="en-US" sz="1200" b="1" dirty="0">
                  <a:solidFill>
                    <a:srgbClr val="FFFFFF"/>
                  </a:solidFill>
                  <a:ea typeface="Aptos" pitchFamily="34" charset="-122"/>
                  <a:cs typeface="Aptos" pitchFamily="34" charset="-120"/>
                </a:rPr>
                <a:t>Meaning</a:t>
              </a:r>
              <a:endParaRPr lang="en-US" sz="1200" dirty="0">
                <a:solidFill>
                  <a:prstClr val="black"/>
                </a:solidFill>
              </a:endParaRPr>
            </a:p>
          </p:txBody>
        </p:sp>
        <p:sp>
          <p:nvSpPr>
            <p:cNvPr id="21" name="Text 19"/>
            <p:cNvSpPr/>
            <p:nvPr/>
          </p:nvSpPr>
          <p:spPr>
            <a:xfrm>
              <a:off x="5303520" y="1271016"/>
              <a:ext cx="1097280" cy="458343"/>
            </a:xfrm>
            <a:prstGeom prst="rect">
              <a:avLst/>
            </a:prstGeom>
            <a:noFill/>
            <a:ln/>
          </p:spPr>
          <p:txBody>
            <a:bodyPr wrap="square" lIns="127" tIns="127" rIns="127" bIns="127" rtlCol="0" anchor="ctr">
              <a:normAutofit/>
            </a:bodyPr>
            <a:lstStyle/>
            <a:p>
              <a:pPr algn="ctr" defTabSz="685783"/>
              <a:r>
                <a:rPr lang="en-US" sz="1200" b="1" dirty="0">
                  <a:solidFill>
                    <a:srgbClr val="FFFFFF"/>
                  </a:solidFill>
                  <a:ea typeface="Aptos" pitchFamily="34" charset="-122"/>
                  <a:cs typeface="Aptos" pitchFamily="34" charset="-120"/>
                </a:rPr>
                <a:t>Value</a:t>
              </a:r>
              <a:endParaRPr lang="en-US" sz="1200" dirty="0">
                <a:solidFill>
                  <a:prstClr val="black"/>
                </a:solidFill>
              </a:endParaRPr>
            </a:p>
          </p:txBody>
        </p:sp>
        <p:sp>
          <p:nvSpPr>
            <p:cNvPr id="22" name="Text 20"/>
            <p:cNvSpPr/>
            <p:nvPr/>
          </p:nvSpPr>
          <p:spPr>
            <a:xfrm>
              <a:off x="731520" y="1802511"/>
              <a:ext cx="1097280" cy="458343"/>
            </a:xfrm>
            <a:prstGeom prst="rect">
              <a:avLst/>
            </a:prstGeom>
            <a:noFill/>
            <a:ln/>
          </p:spPr>
          <p:txBody>
            <a:bodyPr wrap="square" lIns="127" tIns="127" rIns="127" bIns="127" rtlCol="0" anchor="ctr">
              <a:normAutofit/>
            </a:bodyPr>
            <a:lstStyle/>
            <a:p>
              <a:pPr defTabSz="685783"/>
              <a:r>
                <a:rPr lang="en-US" sz="1200" dirty="0">
                  <a:solidFill>
                    <a:srgbClr val="1C2633"/>
                  </a:solidFill>
                  <a:ea typeface="Aptos" pitchFamily="34" charset="-122"/>
                  <a:cs typeface="Aptos" pitchFamily="34" charset="-120"/>
                </a:rPr>
                <a:t>τE</a:t>
              </a:r>
              <a:endParaRPr lang="en-US" sz="1200" dirty="0">
                <a:solidFill>
                  <a:prstClr val="black"/>
                </a:solidFill>
              </a:endParaRPr>
            </a:p>
          </p:txBody>
        </p:sp>
        <p:sp>
          <p:nvSpPr>
            <p:cNvPr id="23" name="Text 21"/>
            <p:cNvSpPr/>
            <p:nvPr/>
          </p:nvSpPr>
          <p:spPr>
            <a:xfrm>
              <a:off x="1920240" y="1802511"/>
              <a:ext cx="329184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excitatory time scale</a:t>
              </a:r>
              <a:endParaRPr lang="en-US" sz="1200" dirty="0">
                <a:solidFill>
                  <a:prstClr val="black"/>
                </a:solidFill>
              </a:endParaRPr>
            </a:p>
          </p:txBody>
        </p:sp>
        <p:sp>
          <p:nvSpPr>
            <p:cNvPr id="24" name="Text 22"/>
            <p:cNvSpPr/>
            <p:nvPr/>
          </p:nvSpPr>
          <p:spPr>
            <a:xfrm>
              <a:off x="5303520" y="1802511"/>
              <a:ext cx="109728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1.0</a:t>
              </a:r>
              <a:endParaRPr lang="en-US" sz="1200" dirty="0">
                <a:solidFill>
                  <a:prstClr val="black"/>
                </a:solidFill>
              </a:endParaRPr>
            </a:p>
          </p:txBody>
        </p:sp>
        <p:sp>
          <p:nvSpPr>
            <p:cNvPr id="25" name="Text 23"/>
            <p:cNvSpPr/>
            <p:nvPr/>
          </p:nvSpPr>
          <p:spPr>
            <a:xfrm>
              <a:off x="731520" y="2334006"/>
              <a:ext cx="1097280" cy="458343"/>
            </a:xfrm>
            <a:prstGeom prst="rect">
              <a:avLst/>
            </a:prstGeom>
            <a:noFill/>
            <a:ln/>
          </p:spPr>
          <p:txBody>
            <a:bodyPr wrap="square" lIns="127" tIns="127" rIns="127" bIns="127" rtlCol="0" anchor="ctr">
              <a:normAutofit/>
            </a:bodyPr>
            <a:lstStyle/>
            <a:p>
              <a:pPr defTabSz="685783"/>
              <a:r>
                <a:rPr lang="en-US" sz="1200" dirty="0">
                  <a:solidFill>
                    <a:srgbClr val="1C2633"/>
                  </a:solidFill>
                  <a:ea typeface="Aptos" pitchFamily="34" charset="-122"/>
                  <a:cs typeface="Aptos" pitchFamily="34" charset="-120"/>
                </a:rPr>
                <a:t>τI</a:t>
              </a:r>
              <a:endParaRPr lang="en-US" sz="1200" dirty="0">
                <a:solidFill>
                  <a:prstClr val="black"/>
                </a:solidFill>
              </a:endParaRPr>
            </a:p>
          </p:txBody>
        </p:sp>
        <p:sp>
          <p:nvSpPr>
            <p:cNvPr id="26" name="Text 24"/>
            <p:cNvSpPr/>
            <p:nvPr/>
          </p:nvSpPr>
          <p:spPr>
            <a:xfrm>
              <a:off x="1920240" y="2334006"/>
              <a:ext cx="329184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inhibitory time scale</a:t>
              </a:r>
              <a:endParaRPr lang="en-US" sz="1200" dirty="0">
                <a:solidFill>
                  <a:prstClr val="black"/>
                </a:solidFill>
              </a:endParaRPr>
            </a:p>
          </p:txBody>
        </p:sp>
        <p:sp>
          <p:nvSpPr>
            <p:cNvPr id="27" name="Text 25"/>
            <p:cNvSpPr/>
            <p:nvPr/>
          </p:nvSpPr>
          <p:spPr>
            <a:xfrm>
              <a:off x="5303520" y="2334006"/>
              <a:ext cx="109728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2.0</a:t>
              </a:r>
              <a:endParaRPr lang="en-US" sz="1200" dirty="0">
                <a:solidFill>
                  <a:prstClr val="black"/>
                </a:solidFill>
              </a:endParaRPr>
            </a:p>
          </p:txBody>
        </p:sp>
        <p:sp>
          <p:nvSpPr>
            <p:cNvPr id="28" name="Text 26"/>
            <p:cNvSpPr/>
            <p:nvPr/>
          </p:nvSpPr>
          <p:spPr>
            <a:xfrm>
              <a:off x="731520" y="2865501"/>
              <a:ext cx="1097280" cy="458343"/>
            </a:xfrm>
            <a:prstGeom prst="rect">
              <a:avLst/>
            </a:prstGeom>
            <a:noFill/>
            <a:ln/>
          </p:spPr>
          <p:txBody>
            <a:bodyPr wrap="square" lIns="127" tIns="127" rIns="127" bIns="127" rtlCol="0" anchor="ctr">
              <a:normAutofit/>
            </a:bodyPr>
            <a:lstStyle/>
            <a:p>
              <a:pPr defTabSz="685783"/>
              <a:r>
                <a:rPr lang="en-US" sz="1200" dirty="0">
                  <a:solidFill>
                    <a:srgbClr val="1C2633"/>
                  </a:solidFill>
                  <a:ea typeface="Aptos" pitchFamily="34" charset="-122"/>
                  <a:cs typeface="Aptos" pitchFamily="34" charset="-120"/>
                </a:rPr>
                <a:t>wEE, wIE</a:t>
              </a:r>
              <a:endParaRPr lang="en-US" sz="1200" dirty="0">
                <a:solidFill>
                  <a:prstClr val="black"/>
                </a:solidFill>
              </a:endParaRPr>
            </a:p>
          </p:txBody>
        </p:sp>
        <p:sp>
          <p:nvSpPr>
            <p:cNvPr id="29" name="Text 27"/>
            <p:cNvSpPr/>
            <p:nvPr/>
          </p:nvSpPr>
          <p:spPr>
            <a:xfrm>
              <a:off x="1920240" y="2865501"/>
              <a:ext cx="329184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excitatory couplings</a:t>
              </a:r>
              <a:endParaRPr lang="en-US" sz="1200" dirty="0">
                <a:solidFill>
                  <a:prstClr val="black"/>
                </a:solidFill>
              </a:endParaRPr>
            </a:p>
          </p:txBody>
        </p:sp>
        <p:sp>
          <p:nvSpPr>
            <p:cNvPr id="30" name="Text 28"/>
            <p:cNvSpPr/>
            <p:nvPr/>
          </p:nvSpPr>
          <p:spPr>
            <a:xfrm>
              <a:off x="5303520" y="2865501"/>
              <a:ext cx="109728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10.0, 10.0</a:t>
              </a:r>
              <a:endParaRPr lang="en-US" sz="1200" dirty="0">
                <a:solidFill>
                  <a:prstClr val="black"/>
                </a:solidFill>
              </a:endParaRPr>
            </a:p>
          </p:txBody>
        </p:sp>
        <p:sp>
          <p:nvSpPr>
            <p:cNvPr id="31" name="Text 29"/>
            <p:cNvSpPr/>
            <p:nvPr/>
          </p:nvSpPr>
          <p:spPr>
            <a:xfrm>
              <a:off x="731520" y="3396996"/>
              <a:ext cx="1097280" cy="458343"/>
            </a:xfrm>
            <a:prstGeom prst="rect">
              <a:avLst/>
            </a:prstGeom>
            <a:noFill/>
            <a:ln/>
          </p:spPr>
          <p:txBody>
            <a:bodyPr wrap="square" lIns="127" tIns="127" rIns="127" bIns="127" rtlCol="0" anchor="ctr">
              <a:normAutofit/>
            </a:bodyPr>
            <a:lstStyle/>
            <a:p>
              <a:pPr defTabSz="685783"/>
              <a:r>
                <a:rPr lang="en-US" sz="1200" dirty="0">
                  <a:solidFill>
                    <a:srgbClr val="1C2633"/>
                  </a:solidFill>
                  <a:ea typeface="Aptos" pitchFamily="34" charset="-122"/>
                  <a:cs typeface="Aptos" pitchFamily="34" charset="-120"/>
                </a:rPr>
                <a:t>wEI, wII</a:t>
              </a:r>
              <a:endParaRPr lang="en-US" sz="1200" dirty="0">
                <a:solidFill>
                  <a:prstClr val="black"/>
                </a:solidFill>
              </a:endParaRPr>
            </a:p>
          </p:txBody>
        </p:sp>
        <p:sp>
          <p:nvSpPr>
            <p:cNvPr id="32" name="Text 30"/>
            <p:cNvSpPr/>
            <p:nvPr/>
          </p:nvSpPr>
          <p:spPr>
            <a:xfrm>
              <a:off x="1920240" y="3396996"/>
              <a:ext cx="329184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inhibitory couplings</a:t>
              </a:r>
              <a:endParaRPr lang="en-US" sz="1200" dirty="0">
                <a:solidFill>
                  <a:prstClr val="black"/>
                </a:solidFill>
              </a:endParaRPr>
            </a:p>
          </p:txBody>
        </p:sp>
        <p:sp>
          <p:nvSpPr>
            <p:cNvPr id="33" name="Text 31"/>
            <p:cNvSpPr/>
            <p:nvPr/>
          </p:nvSpPr>
          <p:spPr>
            <a:xfrm>
              <a:off x="5303520" y="3396996"/>
              <a:ext cx="109728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9.0, 2.0</a:t>
              </a:r>
              <a:endParaRPr lang="en-US" sz="1200" dirty="0">
                <a:solidFill>
                  <a:prstClr val="black"/>
                </a:solidFill>
              </a:endParaRPr>
            </a:p>
          </p:txBody>
        </p:sp>
        <p:sp>
          <p:nvSpPr>
            <p:cNvPr id="34" name="Text 32"/>
            <p:cNvSpPr/>
            <p:nvPr/>
          </p:nvSpPr>
          <p:spPr>
            <a:xfrm>
              <a:off x="731520" y="3928491"/>
              <a:ext cx="1097280" cy="458343"/>
            </a:xfrm>
            <a:prstGeom prst="rect">
              <a:avLst/>
            </a:prstGeom>
            <a:noFill/>
            <a:ln/>
          </p:spPr>
          <p:txBody>
            <a:bodyPr wrap="square" lIns="127" tIns="127" rIns="127" bIns="127" rtlCol="0" anchor="ctr">
              <a:normAutofit/>
            </a:bodyPr>
            <a:lstStyle/>
            <a:p>
              <a:pPr defTabSz="685783"/>
              <a:r>
                <a:rPr lang="en-US" sz="1200" dirty="0">
                  <a:solidFill>
                    <a:srgbClr val="1C2633"/>
                  </a:solidFill>
                  <a:ea typeface="Aptos" pitchFamily="34" charset="-122"/>
                  <a:cs typeface="Aptos" pitchFamily="34" charset="-120"/>
                </a:rPr>
                <a:t>Q</a:t>
              </a:r>
              <a:endParaRPr lang="en-US" sz="1200" dirty="0">
                <a:solidFill>
                  <a:prstClr val="black"/>
                </a:solidFill>
              </a:endParaRPr>
            </a:p>
          </p:txBody>
        </p:sp>
        <p:sp>
          <p:nvSpPr>
            <p:cNvPr id="35" name="Text 33"/>
            <p:cNvSpPr/>
            <p:nvPr/>
          </p:nvSpPr>
          <p:spPr>
            <a:xfrm>
              <a:off x="1920240" y="3928491"/>
              <a:ext cx="329184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inhibitory drive</a:t>
              </a:r>
              <a:endParaRPr lang="en-US" sz="1200" dirty="0">
                <a:solidFill>
                  <a:prstClr val="black"/>
                </a:solidFill>
              </a:endParaRPr>
            </a:p>
          </p:txBody>
        </p:sp>
        <p:sp>
          <p:nvSpPr>
            <p:cNvPr id="36" name="Text 34"/>
            <p:cNvSpPr/>
            <p:nvPr/>
          </p:nvSpPr>
          <p:spPr>
            <a:xfrm>
              <a:off x="5303520" y="3928491"/>
              <a:ext cx="109728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0.5</a:t>
              </a:r>
              <a:endParaRPr lang="en-US" sz="1200" dirty="0">
                <a:solidFill>
                  <a:prstClr val="black"/>
                </a:solidFill>
              </a:endParaRPr>
            </a:p>
          </p:txBody>
        </p:sp>
        <p:sp>
          <p:nvSpPr>
            <p:cNvPr id="37" name="Text 35"/>
            <p:cNvSpPr/>
            <p:nvPr/>
          </p:nvSpPr>
          <p:spPr>
            <a:xfrm>
              <a:off x="731520" y="4459986"/>
              <a:ext cx="1097280" cy="458343"/>
            </a:xfrm>
            <a:prstGeom prst="rect">
              <a:avLst/>
            </a:prstGeom>
            <a:noFill/>
            <a:ln/>
          </p:spPr>
          <p:txBody>
            <a:bodyPr wrap="square" lIns="127" tIns="127" rIns="127" bIns="127" rtlCol="0" anchor="ctr">
              <a:normAutofit/>
            </a:bodyPr>
            <a:lstStyle/>
            <a:p>
              <a:pPr defTabSz="685783"/>
              <a:r>
                <a:rPr lang="en-US" sz="1200" dirty="0">
                  <a:solidFill>
                    <a:srgbClr val="1C2633"/>
                  </a:solidFill>
                  <a:ea typeface="Aptos" pitchFamily="34" charset="-122"/>
                  <a:cs typeface="Aptos" pitchFamily="34" charset="-120"/>
                </a:rPr>
                <a:t>aE, aI</a:t>
              </a:r>
              <a:endParaRPr lang="en-US" sz="1200" dirty="0">
                <a:solidFill>
                  <a:prstClr val="black"/>
                </a:solidFill>
              </a:endParaRPr>
            </a:p>
          </p:txBody>
        </p:sp>
        <p:sp>
          <p:nvSpPr>
            <p:cNvPr id="38" name="Text 36"/>
            <p:cNvSpPr/>
            <p:nvPr/>
          </p:nvSpPr>
          <p:spPr>
            <a:xfrm>
              <a:off x="1920240" y="4459986"/>
              <a:ext cx="329184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sigmoid slopes</a:t>
              </a:r>
              <a:endParaRPr lang="en-US" sz="1200" dirty="0">
                <a:solidFill>
                  <a:prstClr val="black"/>
                </a:solidFill>
              </a:endParaRPr>
            </a:p>
          </p:txBody>
        </p:sp>
        <p:sp>
          <p:nvSpPr>
            <p:cNvPr id="39" name="Text 37"/>
            <p:cNvSpPr/>
            <p:nvPr/>
          </p:nvSpPr>
          <p:spPr>
            <a:xfrm>
              <a:off x="5303520" y="4459986"/>
              <a:ext cx="109728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1.5</a:t>
              </a:r>
              <a:endParaRPr lang="en-US" sz="1200" dirty="0">
                <a:solidFill>
                  <a:prstClr val="black"/>
                </a:solidFill>
              </a:endParaRPr>
            </a:p>
          </p:txBody>
        </p:sp>
        <p:sp>
          <p:nvSpPr>
            <p:cNvPr id="40" name="Text 38"/>
            <p:cNvSpPr/>
            <p:nvPr/>
          </p:nvSpPr>
          <p:spPr>
            <a:xfrm>
              <a:off x="731520" y="4991481"/>
              <a:ext cx="1097280" cy="458343"/>
            </a:xfrm>
            <a:prstGeom prst="rect">
              <a:avLst/>
            </a:prstGeom>
            <a:noFill/>
            <a:ln/>
          </p:spPr>
          <p:txBody>
            <a:bodyPr wrap="square" lIns="127" tIns="127" rIns="127" bIns="127" rtlCol="0" anchor="ctr">
              <a:normAutofit/>
            </a:bodyPr>
            <a:lstStyle/>
            <a:p>
              <a:pPr defTabSz="685783"/>
              <a:r>
                <a:rPr lang="en-US" sz="1200" dirty="0">
                  <a:solidFill>
                    <a:srgbClr val="1C2633"/>
                  </a:solidFill>
                  <a:ea typeface="Aptos" pitchFamily="34" charset="-122"/>
                  <a:cs typeface="Aptos" pitchFamily="34" charset="-120"/>
                </a:rPr>
                <a:t>θE, θI</a:t>
              </a:r>
              <a:endParaRPr lang="en-US" sz="1200" dirty="0">
                <a:solidFill>
                  <a:prstClr val="black"/>
                </a:solidFill>
              </a:endParaRPr>
            </a:p>
          </p:txBody>
        </p:sp>
        <p:sp>
          <p:nvSpPr>
            <p:cNvPr id="41" name="Text 39"/>
            <p:cNvSpPr/>
            <p:nvPr/>
          </p:nvSpPr>
          <p:spPr>
            <a:xfrm>
              <a:off x="1920240" y="4991481"/>
              <a:ext cx="329184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sigmoid thresholds</a:t>
              </a:r>
              <a:endParaRPr lang="en-US" sz="1200" dirty="0">
                <a:solidFill>
                  <a:prstClr val="black"/>
                </a:solidFill>
              </a:endParaRPr>
            </a:p>
          </p:txBody>
        </p:sp>
        <p:sp>
          <p:nvSpPr>
            <p:cNvPr id="42" name="Text 40"/>
            <p:cNvSpPr/>
            <p:nvPr/>
          </p:nvSpPr>
          <p:spPr>
            <a:xfrm>
              <a:off x="5303520" y="4991481"/>
              <a:ext cx="1097280" cy="458343"/>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3.5</a:t>
              </a:r>
              <a:endParaRPr lang="en-US" sz="1200" dirty="0">
                <a:solidFill>
                  <a:prstClr val="black"/>
                </a:solidFill>
              </a:endParaRPr>
            </a:p>
          </p:txBody>
        </p:sp>
      </p:grpSp>
      <p:sp>
        <p:nvSpPr>
          <p:cNvPr id="43" name="Text 41"/>
          <p:cNvSpPr/>
          <p:nvPr/>
        </p:nvSpPr>
        <p:spPr>
          <a:xfrm>
            <a:off x="5177790" y="994410"/>
            <a:ext cx="1920240" cy="192024"/>
          </a:xfrm>
          <a:prstGeom prst="rect">
            <a:avLst/>
          </a:prstGeom>
          <a:noFill/>
          <a:ln/>
        </p:spPr>
        <p:txBody>
          <a:bodyPr wrap="square" lIns="0" tIns="0" rIns="0" bIns="0" rtlCol="0" anchor="ctr"/>
          <a:lstStyle/>
          <a:p>
            <a:pPr defTabSz="685783"/>
            <a:r>
              <a:rPr lang="en-US" sz="1500" b="1" dirty="0">
                <a:solidFill>
                  <a:srgbClr val="1F77B4"/>
                </a:solidFill>
              </a:rPr>
              <a:t>ONLY P IS VARIED</a:t>
            </a:r>
            <a:endParaRPr lang="en-US" sz="1500" dirty="0">
              <a:solidFill>
                <a:prstClr val="black"/>
              </a:solidFill>
            </a:endParaRPr>
          </a:p>
        </p:txBody>
      </p:sp>
      <p:sp>
        <p:nvSpPr>
          <p:cNvPr id="44" name="Shape 42"/>
          <p:cNvSpPr/>
          <p:nvPr/>
        </p:nvSpPr>
        <p:spPr>
          <a:xfrm>
            <a:off x="5177790" y="1405890"/>
            <a:ext cx="3154680" cy="754380"/>
          </a:xfrm>
          <a:prstGeom prst="roundRect">
            <a:avLst>
              <a:gd name="adj" fmla="val 7273"/>
            </a:avLst>
          </a:prstGeom>
          <a:solidFill>
            <a:srgbClr val="EAF4FF"/>
          </a:solidFill>
          <a:ln w="15240">
            <a:solidFill>
              <a:srgbClr val="D6E6F5"/>
            </a:solidFill>
            <a:prstDash val="solid"/>
          </a:ln>
        </p:spPr>
        <p:txBody>
          <a:bodyPr/>
          <a:lstStyle/>
          <a:p>
            <a:endParaRPr lang="en-US"/>
          </a:p>
        </p:txBody>
      </p:sp>
      <p:sp>
        <p:nvSpPr>
          <p:cNvPr id="45" name="Text 43"/>
          <p:cNvSpPr/>
          <p:nvPr/>
        </p:nvSpPr>
        <p:spPr>
          <a:xfrm>
            <a:off x="5301234" y="1488186"/>
            <a:ext cx="2907792" cy="603504"/>
          </a:xfrm>
          <a:prstGeom prst="rect">
            <a:avLst/>
          </a:prstGeom>
          <a:noFill/>
          <a:ln/>
        </p:spPr>
        <p:txBody>
          <a:bodyPr wrap="square" lIns="191" tIns="191" rIns="191" bIns="191" rtlCol="0" anchor="ctr">
            <a:normAutofit/>
          </a:bodyPr>
          <a:lstStyle/>
          <a:p>
            <a:pPr algn="ctr" defTabSz="685783"/>
            <a:r>
              <a:rPr lang="en-US" b="1" dirty="0">
                <a:solidFill>
                  <a:srgbClr val="1C2633"/>
                </a:solidFill>
              </a:rPr>
              <a:t>P ∈ [0, 8]</a:t>
            </a:r>
            <a:endParaRPr lang="en-US" dirty="0">
              <a:solidFill>
                <a:prstClr val="black"/>
              </a:solidFill>
            </a:endParaRPr>
          </a:p>
          <a:p>
            <a:pPr algn="ctr" defTabSz="685783"/>
            <a:r>
              <a:rPr lang="en-US" b="1" dirty="0">
                <a:solidFill>
                  <a:srgbClr val="1C2633"/>
                </a:solidFill>
              </a:rPr>
              <a:t>201 grid points</a:t>
            </a:r>
            <a:endParaRPr lang="en-US" dirty="0">
              <a:solidFill>
                <a:prstClr val="black"/>
              </a:solidFill>
            </a:endParaRPr>
          </a:p>
        </p:txBody>
      </p:sp>
      <p:sp>
        <p:nvSpPr>
          <p:cNvPr id="46" name="Text 44"/>
          <p:cNvSpPr/>
          <p:nvPr/>
        </p:nvSpPr>
        <p:spPr>
          <a:xfrm>
            <a:off x="5177790" y="2503170"/>
            <a:ext cx="3326130" cy="2331720"/>
          </a:xfrm>
          <a:prstGeom prst="rect">
            <a:avLst/>
          </a:prstGeom>
          <a:noFill/>
          <a:ln/>
        </p:spPr>
        <p:txBody>
          <a:bodyPr wrap="square" lIns="572" tIns="572" rIns="572" bIns="572" rtlCol="0" anchor="t">
            <a:normAutofit/>
          </a:bodyPr>
          <a:lstStyle/>
          <a:p>
            <a:pPr defTabSz="685783">
              <a:lnSpc>
                <a:spcPct val="150000"/>
              </a:lnSpc>
            </a:pPr>
            <a:r>
              <a:rPr lang="en-US" sz="1400" dirty="0">
                <a:solidFill>
                  <a:srgbClr val="1C2633"/>
                </a:solidFill>
                <a:ea typeface="Aptos" pitchFamily="34" charset="-122"/>
                <a:cs typeface="Aptos" pitchFamily="34" charset="-120"/>
              </a:rPr>
              <a:t>• Fixed qualitative values keep the model interpretable; not patient-fitted.</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The parameter sweep asks how local stability changes as excitatory drive changes.</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Focus on equilibria, Jacobians, and eigenvalues.</a:t>
            </a:r>
            <a:endParaRPr lang="en-US" sz="1400" dirty="0">
              <a:solidFill>
                <a:prstClr val="black"/>
              </a:solidFill>
            </a:endParaRPr>
          </a:p>
        </p:txBody>
      </p:sp>
    </p:spTree>
    <p:extLst>
      <p:ext uri="{BB962C8B-B14F-4D97-AF65-F5344CB8AC3E}">
        <p14:creationId xmlns:p14="http://schemas.microsoft.com/office/powerpoint/2010/main" val="3264812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Stability analysis method</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ODE Model</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08</a:t>
            </a:r>
            <a:endParaRPr lang="en-US" sz="1200" dirty="0">
              <a:solidFill>
                <a:prstClr val="black"/>
              </a:solidFill>
            </a:endParaRPr>
          </a:p>
        </p:txBody>
      </p:sp>
      <p:sp>
        <p:nvSpPr>
          <p:cNvPr id="8" name="Shape 6"/>
          <p:cNvSpPr/>
          <p:nvPr/>
        </p:nvSpPr>
        <p:spPr>
          <a:xfrm>
            <a:off x="2168322" y="1796796"/>
            <a:ext cx="1028700" cy="0"/>
          </a:xfrm>
          <a:prstGeom prst="line">
            <a:avLst/>
          </a:prstGeom>
          <a:noFill/>
          <a:ln w="25400">
            <a:solidFill>
              <a:srgbClr val="1F77B4"/>
            </a:solidFill>
            <a:prstDash val="solid"/>
            <a:tailEnd type="triangle"/>
          </a:ln>
        </p:spPr>
        <p:txBody>
          <a:bodyPr/>
          <a:lstStyle/>
          <a:p>
            <a:endParaRPr lang="en-US"/>
          </a:p>
        </p:txBody>
      </p:sp>
      <p:sp>
        <p:nvSpPr>
          <p:cNvPr id="9" name="Shape 7"/>
          <p:cNvSpPr/>
          <p:nvPr/>
        </p:nvSpPr>
        <p:spPr>
          <a:xfrm>
            <a:off x="4054272" y="1796796"/>
            <a:ext cx="1028700" cy="0"/>
          </a:xfrm>
          <a:prstGeom prst="line">
            <a:avLst/>
          </a:prstGeom>
          <a:noFill/>
          <a:ln w="25400">
            <a:solidFill>
              <a:srgbClr val="1F77B4"/>
            </a:solidFill>
            <a:prstDash val="solid"/>
            <a:tailEnd type="triangle"/>
          </a:ln>
        </p:spPr>
        <p:txBody>
          <a:bodyPr/>
          <a:lstStyle/>
          <a:p>
            <a:endParaRPr lang="en-US"/>
          </a:p>
        </p:txBody>
      </p:sp>
      <p:sp>
        <p:nvSpPr>
          <p:cNvPr id="10" name="Shape 8"/>
          <p:cNvSpPr/>
          <p:nvPr/>
        </p:nvSpPr>
        <p:spPr>
          <a:xfrm>
            <a:off x="5940222" y="1796796"/>
            <a:ext cx="1028700" cy="0"/>
          </a:xfrm>
          <a:prstGeom prst="line">
            <a:avLst/>
          </a:prstGeom>
          <a:noFill/>
          <a:ln w="25400">
            <a:solidFill>
              <a:srgbClr val="1F77B4"/>
            </a:solidFill>
            <a:prstDash val="solid"/>
            <a:tailEnd type="triangle"/>
          </a:ln>
        </p:spPr>
        <p:txBody>
          <a:bodyPr/>
          <a:lstStyle/>
          <a:p>
            <a:endParaRPr lang="en-US"/>
          </a:p>
        </p:txBody>
      </p:sp>
      <p:sp>
        <p:nvSpPr>
          <p:cNvPr id="11" name="Shape 9"/>
          <p:cNvSpPr/>
          <p:nvPr/>
        </p:nvSpPr>
        <p:spPr>
          <a:xfrm>
            <a:off x="899592" y="1200150"/>
            <a:ext cx="1508760" cy="1200150"/>
          </a:xfrm>
          <a:prstGeom prst="roundRect">
            <a:avLst>
              <a:gd name="adj" fmla="val 4571"/>
            </a:avLst>
          </a:prstGeom>
          <a:solidFill>
            <a:srgbClr val="F5FAFF"/>
          </a:solidFill>
          <a:ln w="15240">
            <a:solidFill>
              <a:srgbClr val="D6E6F5"/>
            </a:solidFill>
            <a:prstDash val="solid"/>
          </a:ln>
        </p:spPr>
        <p:txBody>
          <a:bodyPr/>
          <a:lstStyle/>
          <a:p>
            <a:endParaRPr lang="en-US"/>
          </a:p>
        </p:txBody>
      </p:sp>
      <p:sp>
        <p:nvSpPr>
          <p:cNvPr id="12" name="Text 10"/>
          <p:cNvSpPr/>
          <p:nvPr/>
        </p:nvSpPr>
        <p:spPr>
          <a:xfrm>
            <a:off x="1023036" y="1282446"/>
            <a:ext cx="1261872" cy="1049274"/>
          </a:xfrm>
          <a:prstGeom prst="rect">
            <a:avLst/>
          </a:prstGeom>
          <a:noFill/>
          <a:ln/>
        </p:spPr>
        <p:txBody>
          <a:bodyPr wrap="square" lIns="191" tIns="191" rIns="191" bIns="191" rtlCol="0" anchor="ctr">
            <a:normAutofit/>
          </a:bodyPr>
          <a:lstStyle/>
          <a:p>
            <a:pPr defTabSz="685783"/>
            <a:r>
              <a:rPr lang="en-US" sz="1300" b="1" dirty="0">
                <a:solidFill>
                  <a:srgbClr val="1C2633"/>
                </a:solidFill>
              </a:rPr>
              <a:t>Equilibrium</a:t>
            </a:r>
            <a:endParaRPr lang="en-US" sz="1300" dirty="0">
              <a:solidFill>
                <a:prstClr val="black"/>
              </a:solidFill>
            </a:endParaRPr>
          </a:p>
          <a:p>
            <a:pPr defTabSz="685783"/>
            <a:r>
              <a:rPr lang="en-US" sz="1300" b="1" dirty="0">
                <a:solidFill>
                  <a:srgbClr val="1C2633"/>
                </a:solidFill>
              </a:rPr>
              <a:t>F(E*, I*) = 0</a:t>
            </a:r>
            <a:endParaRPr lang="en-US" sz="1300" dirty="0">
              <a:solidFill>
                <a:prstClr val="black"/>
              </a:solidFill>
            </a:endParaRPr>
          </a:p>
          <a:p>
            <a:pPr defTabSz="685783"/>
            <a:r>
              <a:rPr lang="en-US" sz="1300" b="1" dirty="0">
                <a:solidFill>
                  <a:srgbClr val="1C2633"/>
                </a:solidFill>
              </a:rPr>
              <a:t>G(E*, I*) = 0</a:t>
            </a:r>
            <a:endParaRPr lang="en-US" sz="1300" dirty="0">
              <a:solidFill>
                <a:prstClr val="black"/>
              </a:solidFill>
            </a:endParaRPr>
          </a:p>
        </p:txBody>
      </p:sp>
      <p:sp>
        <p:nvSpPr>
          <p:cNvPr id="13" name="Shape 11"/>
          <p:cNvSpPr/>
          <p:nvPr/>
        </p:nvSpPr>
        <p:spPr>
          <a:xfrm>
            <a:off x="2785542" y="1200150"/>
            <a:ext cx="1508760" cy="1200150"/>
          </a:xfrm>
          <a:prstGeom prst="roundRect">
            <a:avLst>
              <a:gd name="adj" fmla="val 4571"/>
            </a:avLst>
          </a:prstGeom>
          <a:solidFill>
            <a:srgbClr val="F5FAFF"/>
          </a:solidFill>
          <a:ln w="15240">
            <a:solidFill>
              <a:srgbClr val="D6E6F5"/>
            </a:solidFill>
            <a:prstDash val="solid"/>
          </a:ln>
        </p:spPr>
        <p:txBody>
          <a:bodyPr/>
          <a:lstStyle/>
          <a:p>
            <a:endParaRPr lang="en-US"/>
          </a:p>
        </p:txBody>
      </p:sp>
      <p:sp>
        <p:nvSpPr>
          <p:cNvPr id="14" name="Text 12"/>
          <p:cNvSpPr/>
          <p:nvPr/>
        </p:nvSpPr>
        <p:spPr>
          <a:xfrm>
            <a:off x="2908986" y="1282446"/>
            <a:ext cx="1261872" cy="1049274"/>
          </a:xfrm>
          <a:prstGeom prst="rect">
            <a:avLst/>
          </a:prstGeom>
          <a:noFill/>
          <a:ln/>
        </p:spPr>
        <p:txBody>
          <a:bodyPr wrap="square" lIns="191" tIns="191" rIns="191" bIns="191" rtlCol="0" anchor="ctr">
            <a:normAutofit/>
          </a:bodyPr>
          <a:lstStyle/>
          <a:p>
            <a:pPr defTabSz="685783"/>
            <a:r>
              <a:rPr lang="en-US" sz="1500" b="1" dirty="0">
                <a:solidFill>
                  <a:srgbClr val="1C2633"/>
                </a:solidFill>
              </a:rPr>
              <a:t>Jacobian</a:t>
            </a:r>
            <a:endParaRPr lang="en-US" sz="1500" dirty="0">
              <a:solidFill>
                <a:prstClr val="black"/>
              </a:solidFill>
            </a:endParaRPr>
          </a:p>
          <a:p>
            <a:pPr defTabSz="685783"/>
            <a:r>
              <a:rPr lang="en-US" sz="1500" b="1" dirty="0">
                <a:solidFill>
                  <a:srgbClr val="1C2633"/>
                </a:solidFill>
              </a:rPr>
              <a:t>J(E*, I*)</a:t>
            </a:r>
            <a:endParaRPr lang="en-US" sz="1500" dirty="0">
              <a:solidFill>
                <a:prstClr val="black"/>
              </a:solidFill>
            </a:endParaRPr>
          </a:p>
        </p:txBody>
      </p:sp>
      <p:sp>
        <p:nvSpPr>
          <p:cNvPr id="15" name="Shape 13"/>
          <p:cNvSpPr/>
          <p:nvPr/>
        </p:nvSpPr>
        <p:spPr>
          <a:xfrm>
            <a:off x="4671492" y="1200150"/>
            <a:ext cx="1508760" cy="1200150"/>
          </a:xfrm>
          <a:prstGeom prst="roundRect">
            <a:avLst>
              <a:gd name="adj" fmla="val 4571"/>
            </a:avLst>
          </a:prstGeom>
          <a:solidFill>
            <a:srgbClr val="F5FAFF"/>
          </a:solidFill>
          <a:ln w="15240">
            <a:solidFill>
              <a:srgbClr val="D6E6F5"/>
            </a:solidFill>
            <a:prstDash val="solid"/>
          </a:ln>
        </p:spPr>
        <p:txBody>
          <a:bodyPr/>
          <a:lstStyle/>
          <a:p>
            <a:endParaRPr lang="en-US"/>
          </a:p>
        </p:txBody>
      </p:sp>
      <p:sp>
        <p:nvSpPr>
          <p:cNvPr id="16" name="Text 14"/>
          <p:cNvSpPr/>
          <p:nvPr/>
        </p:nvSpPr>
        <p:spPr>
          <a:xfrm>
            <a:off x="4794936" y="1282446"/>
            <a:ext cx="1261872" cy="1049274"/>
          </a:xfrm>
          <a:prstGeom prst="rect">
            <a:avLst/>
          </a:prstGeom>
          <a:noFill/>
          <a:ln/>
        </p:spPr>
        <p:txBody>
          <a:bodyPr wrap="square" lIns="191" tIns="191" rIns="191" bIns="191" rtlCol="0" anchor="ctr">
            <a:normAutofit/>
          </a:bodyPr>
          <a:lstStyle/>
          <a:p>
            <a:pPr defTabSz="685783"/>
            <a:r>
              <a:rPr lang="en-US" sz="1500" b="1" dirty="0">
                <a:solidFill>
                  <a:srgbClr val="1C2633"/>
                </a:solidFill>
              </a:rPr>
              <a:t>Eigenvalues</a:t>
            </a:r>
            <a:endParaRPr lang="en-US" sz="1500" dirty="0">
              <a:solidFill>
                <a:prstClr val="black"/>
              </a:solidFill>
            </a:endParaRPr>
          </a:p>
          <a:p>
            <a:pPr defTabSz="685783"/>
            <a:r>
              <a:rPr lang="en-US" sz="1500" b="1" dirty="0">
                <a:solidFill>
                  <a:srgbClr val="1C2633"/>
                </a:solidFill>
              </a:rPr>
              <a:t>λ1, λ2</a:t>
            </a:r>
            <a:endParaRPr lang="en-US" sz="1500" dirty="0">
              <a:solidFill>
                <a:prstClr val="black"/>
              </a:solidFill>
            </a:endParaRPr>
          </a:p>
        </p:txBody>
      </p:sp>
      <p:sp>
        <p:nvSpPr>
          <p:cNvPr id="17" name="Shape 15"/>
          <p:cNvSpPr/>
          <p:nvPr/>
        </p:nvSpPr>
        <p:spPr>
          <a:xfrm>
            <a:off x="6557442" y="1200150"/>
            <a:ext cx="1508760" cy="1200150"/>
          </a:xfrm>
          <a:prstGeom prst="roundRect">
            <a:avLst>
              <a:gd name="adj" fmla="val 4571"/>
            </a:avLst>
          </a:prstGeom>
          <a:solidFill>
            <a:srgbClr val="F5FAFF"/>
          </a:solidFill>
          <a:ln w="15240">
            <a:solidFill>
              <a:srgbClr val="D6E6F5"/>
            </a:solidFill>
            <a:prstDash val="solid"/>
          </a:ln>
        </p:spPr>
        <p:txBody>
          <a:bodyPr/>
          <a:lstStyle/>
          <a:p>
            <a:endParaRPr lang="en-US"/>
          </a:p>
        </p:txBody>
      </p:sp>
      <p:sp>
        <p:nvSpPr>
          <p:cNvPr id="18" name="Text 16"/>
          <p:cNvSpPr/>
          <p:nvPr/>
        </p:nvSpPr>
        <p:spPr>
          <a:xfrm>
            <a:off x="6680886" y="1282446"/>
            <a:ext cx="1261872" cy="1049274"/>
          </a:xfrm>
          <a:prstGeom prst="rect">
            <a:avLst/>
          </a:prstGeom>
          <a:noFill/>
          <a:ln/>
        </p:spPr>
        <p:txBody>
          <a:bodyPr wrap="square" lIns="191" tIns="191" rIns="191" bIns="191" rtlCol="0" anchor="ctr">
            <a:normAutofit/>
          </a:bodyPr>
          <a:lstStyle/>
          <a:p>
            <a:pPr defTabSz="685783"/>
            <a:r>
              <a:rPr lang="en-US" sz="1500" b="1" dirty="0">
                <a:solidFill>
                  <a:srgbClr val="1C2633"/>
                </a:solidFill>
              </a:rPr>
              <a:t>Stability</a:t>
            </a:r>
            <a:endParaRPr lang="en-US" sz="1500" dirty="0">
              <a:solidFill>
                <a:prstClr val="black"/>
              </a:solidFill>
            </a:endParaRPr>
          </a:p>
          <a:p>
            <a:pPr defTabSz="685783"/>
            <a:r>
              <a:rPr lang="en-US" sz="1500" b="1" dirty="0">
                <a:solidFill>
                  <a:srgbClr val="1C2633"/>
                </a:solidFill>
              </a:rPr>
              <a:t>max Re(λ)</a:t>
            </a:r>
            <a:endParaRPr lang="en-US" sz="1500" dirty="0">
              <a:solidFill>
                <a:prstClr val="black"/>
              </a:solidFill>
            </a:endParaRPr>
          </a:p>
        </p:txBody>
      </p:sp>
      <p:sp>
        <p:nvSpPr>
          <p:cNvPr id="19" name="Text 17"/>
          <p:cNvSpPr/>
          <p:nvPr/>
        </p:nvSpPr>
        <p:spPr>
          <a:xfrm>
            <a:off x="685800" y="2983230"/>
            <a:ext cx="2057400" cy="240030"/>
          </a:xfrm>
          <a:prstGeom prst="rect">
            <a:avLst/>
          </a:prstGeom>
          <a:noFill/>
          <a:ln/>
        </p:spPr>
        <p:txBody>
          <a:bodyPr wrap="square" lIns="0" tIns="0" rIns="0" bIns="0" rtlCol="0" anchor="ctr"/>
          <a:lstStyle/>
          <a:p>
            <a:pPr defTabSz="685783"/>
            <a:r>
              <a:rPr lang="en-US" sz="1700" b="1" dirty="0">
                <a:solidFill>
                  <a:srgbClr val="0B2A4A"/>
                </a:solidFill>
              </a:rPr>
              <a:t>Decision rule</a:t>
            </a:r>
            <a:endParaRPr lang="en-US" sz="1700" dirty="0">
              <a:solidFill>
                <a:prstClr val="black"/>
              </a:solidFill>
            </a:endParaRPr>
          </a:p>
        </p:txBody>
      </p:sp>
      <p:sp>
        <p:nvSpPr>
          <p:cNvPr id="20" name="Shape 18"/>
          <p:cNvSpPr/>
          <p:nvPr/>
        </p:nvSpPr>
        <p:spPr>
          <a:xfrm>
            <a:off x="685800" y="3326130"/>
            <a:ext cx="3566160" cy="445770"/>
          </a:xfrm>
          <a:prstGeom prst="roundRect">
            <a:avLst>
              <a:gd name="adj" fmla="val 12308"/>
            </a:avLst>
          </a:prstGeom>
          <a:solidFill>
            <a:srgbClr val="FFFFFF"/>
          </a:solidFill>
          <a:ln w="15240">
            <a:solidFill>
              <a:srgbClr val="1F77B4"/>
            </a:solidFill>
            <a:prstDash val="solid"/>
          </a:ln>
        </p:spPr>
        <p:txBody>
          <a:bodyPr/>
          <a:lstStyle/>
          <a:p>
            <a:endParaRPr lang="en-US"/>
          </a:p>
        </p:txBody>
      </p:sp>
      <p:sp>
        <p:nvSpPr>
          <p:cNvPr id="21" name="Text 19"/>
          <p:cNvSpPr/>
          <p:nvPr/>
        </p:nvSpPr>
        <p:spPr>
          <a:xfrm>
            <a:off x="809244" y="3408426"/>
            <a:ext cx="3319272" cy="294894"/>
          </a:xfrm>
          <a:prstGeom prst="rect">
            <a:avLst/>
          </a:prstGeom>
          <a:noFill/>
          <a:ln/>
        </p:spPr>
        <p:txBody>
          <a:bodyPr wrap="square" lIns="191" tIns="191" rIns="191" bIns="191" rtlCol="0" anchor="ctr">
            <a:normAutofit/>
          </a:bodyPr>
          <a:lstStyle/>
          <a:p>
            <a:pPr defTabSz="685783"/>
            <a:r>
              <a:rPr lang="en-US" sz="1500" b="1" dirty="0">
                <a:solidFill>
                  <a:srgbClr val="1C2633"/>
                </a:solidFill>
              </a:rPr>
              <a:t>max Re(λ) &lt; 0  →  locally stable</a:t>
            </a:r>
            <a:endParaRPr lang="en-US" sz="1500" dirty="0">
              <a:solidFill>
                <a:prstClr val="black"/>
              </a:solidFill>
            </a:endParaRPr>
          </a:p>
        </p:txBody>
      </p:sp>
      <p:sp>
        <p:nvSpPr>
          <p:cNvPr id="22" name="Shape 20"/>
          <p:cNvSpPr/>
          <p:nvPr/>
        </p:nvSpPr>
        <p:spPr>
          <a:xfrm>
            <a:off x="4697730" y="3326130"/>
            <a:ext cx="3566160" cy="445770"/>
          </a:xfrm>
          <a:prstGeom prst="roundRect">
            <a:avLst>
              <a:gd name="adj" fmla="val 12308"/>
            </a:avLst>
          </a:prstGeom>
          <a:solidFill>
            <a:srgbClr val="FFFFFF"/>
          </a:solidFill>
          <a:ln w="15240">
            <a:solidFill>
              <a:srgbClr val="D84A4A"/>
            </a:solidFill>
            <a:prstDash val="solid"/>
          </a:ln>
        </p:spPr>
        <p:txBody>
          <a:bodyPr/>
          <a:lstStyle/>
          <a:p>
            <a:endParaRPr lang="en-US"/>
          </a:p>
        </p:txBody>
      </p:sp>
      <p:sp>
        <p:nvSpPr>
          <p:cNvPr id="23" name="Text 21"/>
          <p:cNvSpPr/>
          <p:nvPr/>
        </p:nvSpPr>
        <p:spPr>
          <a:xfrm>
            <a:off x="4821174" y="3408426"/>
            <a:ext cx="3319272" cy="294894"/>
          </a:xfrm>
          <a:prstGeom prst="rect">
            <a:avLst/>
          </a:prstGeom>
          <a:noFill/>
          <a:ln/>
        </p:spPr>
        <p:txBody>
          <a:bodyPr wrap="square" lIns="191" tIns="191" rIns="191" bIns="191" rtlCol="0" anchor="ctr">
            <a:normAutofit/>
          </a:bodyPr>
          <a:lstStyle/>
          <a:p>
            <a:pPr defTabSz="685783"/>
            <a:r>
              <a:rPr lang="en-US" sz="1500" b="1" dirty="0">
                <a:solidFill>
                  <a:srgbClr val="1C2633"/>
                </a:solidFill>
              </a:rPr>
              <a:t>max Re(λ) &gt; 0  →  locally unstable</a:t>
            </a:r>
            <a:endParaRPr lang="en-US" sz="1500" dirty="0">
              <a:solidFill>
                <a:prstClr val="black"/>
              </a:solidFill>
            </a:endParaRPr>
          </a:p>
        </p:txBody>
      </p:sp>
    </p:spTree>
    <p:extLst>
      <p:ext uri="{BB962C8B-B14F-4D97-AF65-F5344CB8AC3E}">
        <p14:creationId xmlns:p14="http://schemas.microsoft.com/office/powerpoint/2010/main" val="2200280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ODE result: stability transition</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Results</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09</a:t>
            </a:r>
            <a:endParaRPr lang="en-US" sz="1200" dirty="0">
              <a:solidFill>
                <a:prstClr val="black"/>
              </a:solidFill>
            </a:endParaRPr>
          </a:p>
        </p:txBody>
      </p:sp>
      <p:sp>
        <p:nvSpPr>
          <p:cNvPr id="8" name="Shape 6"/>
          <p:cNvSpPr/>
          <p:nvPr/>
        </p:nvSpPr>
        <p:spPr>
          <a:xfrm>
            <a:off x="377190" y="788670"/>
            <a:ext cx="8366760" cy="2537460"/>
          </a:xfrm>
          <a:prstGeom prst="roundRect">
            <a:avLst>
              <a:gd name="adj" fmla="val 2162"/>
            </a:avLst>
          </a:prstGeom>
          <a:solidFill>
            <a:srgbClr val="FFFFFF">
              <a:alpha val="0"/>
            </a:srgbClr>
          </a:solidFill>
          <a:ln w="12700">
            <a:solidFill>
              <a:srgbClr val="D6E6F5"/>
            </a:solidFill>
            <a:prstDash val="solid"/>
          </a:ln>
        </p:spPr>
        <p:txBody>
          <a:bodyPr/>
          <a:lstStyle/>
          <a:p>
            <a:endParaRPr lang="en-US"/>
          </a:p>
        </p:txBody>
      </p:sp>
      <p:sp>
        <p:nvSpPr>
          <p:cNvPr id="10" name="Text 7"/>
          <p:cNvSpPr/>
          <p:nvPr/>
        </p:nvSpPr>
        <p:spPr>
          <a:xfrm>
            <a:off x="582930" y="3566160"/>
            <a:ext cx="5623560" cy="1268730"/>
          </a:xfrm>
          <a:prstGeom prst="rect">
            <a:avLst/>
          </a:prstGeom>
          <a:noFill/>
          <a:ln/>
        </p:spPr>
        <p:txBody>
          <a:bodyPr wrap="square" lIns="572" tIns="572" rIns="572" bIns="572" rtlCol="0" anchor="t">
            <a:normAutofit fontScale="92500"/>
          </a:bodyPr>
          <a:lstStyle/>
          <a:p>
            <a:pPr defTabSz="685783">
              <a:lnSpc>
                <a:spcPct val="150000"/>
              </a:lnSpc>
            </a:pPr>
            <a:r>
              <a:rPr lang="en-US" sz="1400" dirty="0">
                <a:solidFill>
                  <a:srgbClr val="1C2633"/>
                </a:solidFill>
                <a:ea typeface="Aptos" pitchFamily="34" charset="-122"/>
                <a:cs typeface="Aptos" pitchFamily="34" charset="-120"/>
              </a:rPr>
              <a:t>• The sweep found one tracked equilibrium for each of 201 tested values of P.</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171 grid points were locally stable; 30 were unstable.</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The unstable interval is approximately P = 1.64 to P = 2.80.</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Low drive is stable, intermediate drive is unstable, and high drive restabilizes.</a:t>
            </a:r>
            <a:endParaRPr lang="en-US" sz="1400" dirty="0">
              <a:solidFill>
                <a:prstClr val="black"/>
              </a:solidFill>
            </a:endParaRPr>
          </a:p>
        </p:txBody>
      </p:sp>
      <p:sp>
        <p:nvSpPr>
          <p:cNvPr id="11" name="Shape 8"/>
          <p:cNvSpPr/>
          <p:nvPr/>
        </p:nvSpPr>
        <p:spPr>
          <a:xfrm>
            <a:off x="6412230" y="3566160"/>
            <a:ext cx="2057400" cy="857250"/>
          </a:xfrm>
          <a:prstGeom prst="roundRect">
            <a:avLst>
              <a:gd name="adj" fmla="val 6400"/>
            </a:avLst>
          </a:prstGeom>
          <a:solidFill>
            <a:srgbClr val="EAF4FF"/>
          </a:solidFill>
          <a:ln w="15240">
            <a:solidFill>
              <a:srgbClr val="D6E6F5"/>
            </a:solidFill>
            <a:prstDash val="solid"/>
          </a:ln>
        </p:spPr>
        <p:txBody>
          <a:bodyPr/>
          <a:lstStyle/>
          <a:p>
            <a:endParaRPr lang="en-US"/>
          </a:p>
        </p:txBody>
      </p:sp>
      <p:sp>
        <p:nvSpPr>
          <p:cNvPr id="12" name="Text 9"/>
          <p:cNvSpPr/>
          <p:nvPr/>
        </p:nvSpPr>
        <p:spPr>
          <a:xfrm>
            <a:off x="6535674" y="3648456"/>
            <a:ext cx="1810512" cy="706374"/>
          </a:xfrm>
          <a:prstGeom prst="rect">
            <a:avLst/>
          </a:prstGeom>
          <a:noFill/>
          <a:ln/>
        </p:spPr>
        <p:txBody>
          <a:bodyPr wrap="square" lIns="191" tIns="191" rIns="191" bIns="191" rtlCol="0" anchor="ctr">
            <a:normAutofit fontScale="92500" lnSpcReduction="20000"/>
          </a:bodyPr>
          <a:lstStyle/>
          <a:p>
            <a:pPr defTabSz="685783"/>
            <a:r>
              <a:rPr lang="en-US" sz="1400" b="1" dirty="0">
                <a:solidFill>
                  <a:srgbClr val="1C2633"/>
                </a:solidFill>
              </a:rPr>
              <a:t>Main interpretation:</a:t>
            </a:r>
            <a:endParaRPr lang="en-US" sz="1400" dirty="0">
              <a:solidFill>
                <a:prstClr val="black"/>
              </a:solidFill>
            </a:endParaRPr>
          </a:p>
          <a:p>
            <a:pPr defTabSz="685783"/>
            <a:r>
              <a:rPr lang="en-US" sz="1400" b="1" dirty="0">
                <a:solidFill>
                  <a:srgbClr val="1C2633"/>
                </a:solidFill>
              </a:rPr>
              <a:t>intermediate excitatory drive produces loss of local stability.</a:t>
            </a:r>
            <a:endParaRPr lang="en-US" sz="1400" dirty="0">
              <a:solidFill>
                <a:prstClr val="black"/>
              </a:solidFill>
            </a:endParaRPr>
          </a:p>
        </p:txBody>
      </p:sp>
      <p:pic>
        <p:nvPicPr>
          <p:cNvPr id="1026" name="Picture 2">
            <a:extLst>
              <a:ext uri="{FF2B5EF4-FFF2-40B4-BE49-F238E27FC236}">
                <a16:creationId xmlns:a16="http://schemas.microsoft.com/office/drawing/2014/main" id="{26D032BF-8316-C1F5-C1BF-3640543CAEB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188" y="788670"/>
            <a:ext cx="8401051" cy="2554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948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Hopf-like interpretation</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Results</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10</a:t>
            </a:r>
            <a:endParaRPr lang="en-US" sz="1200" dirty="0">
              <a:solidFill>
                <a:prstClr val="black"/>
              </a:solidFill>
            </a:endParaRPr>
          </a:p>
        </p:txBody>
      </p:sp>
      <p:grpSp>
        <p:nvGrpSpPr>
          <p:cNvPr id="49" name="组合 48"/>
          <p:cNvGrpSpPr/>
          <p:nvPr/>
        </p:nvGrpSpPr>
        <p:grpSpPr>
          <a:xfrm>
            <a:off x="548640" y="891540"/>
            <a:ext cx="4457700" cy="1920240"/>
            <a:chOff x="731520" y="1188720"/>
            <a:chExt cx="5943600" cy="2560320"/>
          </a:xfrm>
        </p:grpSpPr>
        <p:sp>
          <p:nvSpPr>
            <p:cNvPr id="8" name="Shape 6"/>
            <p:cNvSpPr/>
            <p:nvPr/>
          </p:nvSpPr>
          <p:spPr>
            <a:xfrm>
              <a:off x="731520" y="1188720"/>
              <a:ext cx="5943600" cy="512064"/>
            </a:xfrm>
            <a:prstGeom prst="rect">
              <a:avLst/>
            </a:prstGeom>
            <a:solidFill>
              <a:srgbClr val="1F77B4"/>
            </a:solidFill>
            <a:ln w="12700">
              <a:solidFill>
                <a:srgbClr val="1F77B4"/>
              </a:solidFill>
              <a:prstDash val="solid"/>
            </a:ln>
          </p:spPr>
          <p:txBody>
            <a:bodyPr/>
            <a:lstStyle/>
            <a:p>
              <a:endParaRPr lang="en-US"/>
            </a:p>
          </p:txBody>
        </p:sp>
        <p:sp>
          <p:nvSpPr>
            <p:cNvPr id="9" name="Shape 7"/>
            <p:cNvSpPr/>
            <p:nvPr/>
          </p:nvSpPr>
          <p:spPr>
            <a:xfrm>
              <a:off x="731520" y="1188720"/>
              <a:ext cx="5943600" cy="2560320"/>
            </a:xfrm>
            <a:prstGeom prst="rect">
              <a:avLst/>
            </a:prstGeom>
            <a:solidFill>
              <a:srgbClr val="FFFFFF">
                <a:alpha val="0"/>
              </a:srgbClr>
            </a:solidFill>
            <a:ln w="12700">
              <a:solidFill>
                <a:srgbClr val="D6E6F5"/>
              </a:solidFill>
              <a:prstDash val="solid"/>
            </a:ln>
          </p:spPr>
          <p:txBody>
            <a:bodyPr/>
            <a:lstStyle/>
            <a:p>
              <a:endParaRPr lang="en-US"/>
            </a:p>
          </p:txBody>
        </p:sp>
        <p:sp>
          <p:nvSpPr>
            <p:cNvPr id="10" name="Shape 8"/>
            <p:cNvSpPr/>
            <p:nvPr/>
          </p:nvSpPr>
          <p:spPr>
            <a:xfrm>
              <a:off x="731520" y="1700784"/>
              <a:ext cx="5943600" cy="0"/>
            </a:xfrm>
            <a:prstGeom prst="line">
              <a:avLst/>
            </a:prstGeom>
            <a:noFill/>
            <a:ln w="10160">
              <a:solidFill>
                <a:srgbClr val="D6E6F5"/>
              </a:solidFill>
              <a:prstDash val="solid"/>
            </a:ln>
          </p:spPr>
          <p:txBody>
            <a:bodyPr/>
            <a:lstStyle/>
            <a:p>
              <a:endParaRPr lang="en-US"/>
            </a:p>
          </p:txBody>
        </p:sp>
        <p:sp>
          <p:nvSpPr>
            <p:cNvPr id="11" name="Shape 9"/>
            <p:cNvSpPr/>
            <p:nvPr/>
          </p:nvSpPr>
          <p:spPr>
            <a:xfrm>
              <a:off x="731520" y="2212848"/>
              <a:ext cx="5943600" cy="0"/>
            </a:xfrm>
            <a:prstGeom prst="line">
              <a:avLst/>
            </a:prstGeom>
            <a:noFill/>
            <a:ln w="10160">
              <a:solidFill>
                <a:srgbClr val="D6E6F5"/>
              </a:solidFill>
              <a:prstDash val="solid"/>
            </a:ln>
          </p:spPr>
          <p:txBody>
            <a:bodyPr/>
            <a:lstStyle/>
            <a:p>
              <a:endParaRPr lang="en-US"/>
            </a:p>
          </p:txBody>
        </p:sp>
        <p:sp>
          <p:nvSpPr>
            <p:cNvPr id="12" name="Shape 10"/>
            <p:cNvSpPr/>
            <p:nvPr/>
          </p:nvSpPr>
          <p:spPr>
            <a:xfrm>
              <a:off x="731520" y="2724912"/>
              <a:ext cx="5943600" cy="0"/>
            </a:xfrm>
            <a:prstGeom prst="line">
              <a:avLst/>
            </a:prstGeom>
            <a:noFill/>
            <a:ln w="10160">
              <a:solidFill>
                <a:srgbClr val="D6E6F5"/>
              </a:solidFill>
              <a:prstDash val="solid"/>
            </a:ln>
          </p:spPr>
          <p:txBody>
            <a:bodyPr/>
            <a:lstStyle/>
            <a:p>
              <a:endParaRPr lang="en-US"/>
            </a:p>
          </p:txBody>
        </p:sp>
        <p:sp>
          <p:nvSpPr>
            <p:cNvPr id="13" name="Shape 11"/>
            <p:cNvSpPr/>
            <p:nvPr/>
          </p:nvSpPr>
          <p:spPr>
            <a:xfrm>
              <a:off x="731520" y="3236976"/>
              <a:ext cx="5943600" cy="0"/>
            </a:xfrm>
            <a:prstGeom prst="line">
              <a:avLst/>
            </a:prstGeom>
            <a:noFill/>
            <a:ln w="10160">
              <a:solidFill>
                <a:srgbClr val="D6E6F5"/>
              </a:solidFill>
              <a:prstDash val="solid"/>
            </a:ln>
          </p:spPr>
          <p:txBody>
            <a:bodyPr/>
            <a:lstStyle/>
            <a:p>
              <a:endParaRPr lang="en-US"/>
            </a:p>
          </p:txBody>
        </p:sp>
        <p:sp>
          <p:nvSpPr>
            <p:cNvPr id="14" name="Shape 12"/>
            <p:cNvSpPr/>
            <p:nvPr/>
          </p:nvSpPr>
          <p:spPr>
            <a:xfrm>
              <a:off x="1554480" y="1188720"/>
              <a:ext cx="0" cy="2560320"/>
            </a:xfrm>
            <a:prstGeom prst="line">
              <a:avLst/>
            </a:prstGeom>
            <a:noFill/>
            <a:ln w="10160">
              <a:solidFill>
                <a:srgbClr val="D6E6F5"/>
              </a:solidFill>
              <a:prstDash val="solid"/>
            </a:ln>
          </p:spPr>
          <p:txBody>
            <a:bodyPr/>
            <a:lstStyle/>
            <a:p>
              <a:endParaRPr lang="en-US"/>
            </a:p>
          </p:txBody>
        </p:sp>
        <p:sp>
          <p:nvSpPr>
            <p:cNvPr id="15" name="Shape 13"/>
            <p:cNvSpPr/>
            <p:nvPr/>
          </p:nvSpPr>
          <p:spPr>
            <a:xfrm>
              <a:off x="2468880" y="1188720"/>
              <a:ext cx="0" cy="2560320"/>
            </a:xfrm>
            <a:prstGeom prst="line">
              <a:avLst/>
            </a:prstGeom>
            <a:noFill/>
            <a:ln w="10160">
              <a:solidFill>
                <a:srgbClr val="D6E6F5"/>
              </a:solidFill>
              <a:prstDash val="solid"/>
            </a:ln>
          </p:spPr>
          <p:txBody>
            <a:bodyPr/>
            <a:lstStyle/>
            <a:p>
              <a:endParaRPr lang="en-US"/>
            </a:p>
          </p:txBody>
        </p:sp>
        <p:sp>
          <p:nvSpPr>
            <p:cNvPr id="16" name="Shape 14"/>
            <p:cNvSpPr/>
            <p:nvPr/>
          </p:nvSpPr>
          <p:spPr>
            <a:xfrm>
              <a:off x="3383280" y="1188720"/>
              <a:ext cx="0" cy="2560320"/>
            </a:xfrm>
            <a:prstGeom prst="line">
              <a:avLst/>
            </a:prstGeom>
            <a:noFill/>
            <a:ln w="10160">
              <a:solidFill>
                <a:srgbClr val="D6E6F5"/>
              </a:solidFill>
              <a:prstDash val="solid"/>
            </a:ln>
          </p:spPr>
          <p:txBody>
            <a:bodyPr/>
            <a:lstStyle/>
            <a:p>
              <a:endParaRPr lang="en-US"/>
            </a:p>
          </p:txBody>
        </p:sp>
        <p:sp>
          <p:nvSpPr>
            <p:cNvPr id="17" name="Shape 15"/>
            <p:cNvSpPr/>
            <p:nvPr/>
          </p:nvSpPr>
          <p:spPr>
            <a:xfrm>
              <a:off x="4846320" y="1188720"/>
              <a:ext cx="0" cy="2560320"/>
            </a:xfrm>
            <a:prstGeom prst="line">
              <a:avLst/>
            </a:prstGeom>
            <a:noFill/>
            <a:ln w="10160">
              <a:solidFill>
                <a:srgbClr val="D6E6F5"/>
              </a:solidFill>
              <a:prstDash val="solid"/>
            </a:ln>
          </p:spPr>
          <p:txBody>
            <a:bodyPr/>
            <a:lstStyle/>
            <a:p>
              <a:endParaRPr lang="en-US"/>
            </a:p>
          </p:txBody>
        </p:sp>
        <p:sp>
          <p:nvSpPr>
            <p:cNvPr id="18" name="Text 16"/>
            <p:cNvSpPr/>
            <p:nvPr/>
          </p:nvSpPr>
          <p:spPr>
            <a:xfrm>
              <a:off x="777240" y="1225296"/>
              <a:ext cx="731520" cy="438912"/>
            </a:xfrm>
            <a:prstGeom prst="rect">
              <a:avLst/>
            </a:prstGeom>
            <a:noFill/>
            <a:ln/>
          </p:spPr>
          <p:txBody>
            <a:bodyPr wrap="square" lIns="127" tIns="127" rIns="127" bIns="127" rtlCol="0" anchor="ctr">
              <a:normAutofit/>
            </a:bodyPr>
            <a:lstStyle/>
            <a:p>
              <a:pPr defTabSz="685783"/>
              <a:r>
                <a:rPr lang="en-US" sz="1400" b="1" dirty="0">
                  <a:solidFill>
                    <a:srgbClr val="FFFFFF"/>
                  </a:solidFill>
                  <a:ea typeface="Aptos" pitchFamily="34" charset="-122"/>
                  <a:cs typeface="Aptos" pitchFamily="34" charset="-120"/>
                </a:rPr>
                <a:t>P</a:t>
              </a:r>
              <a:endParaRPr lang="en-US" sz="1400" dirty="0">
                <a:solidFill>
                  <a:prstClr val="black"/>
                </a:solidFill>
              </a:endParaRPr>
            </a:p>
          </p:txBody>
        </p:sp>
        <p:sp>
          <p:nvSpPr>
            <p:cNvPr id="19" name="Text 17"/>
            <p:cNvSpPr/>
            <p:nvPr/>
          </p:nvSpPr>
          <p:spPr>
            <a:xfrm>
              <a:off x="1600200" y="1225296"/>
              <a:ext cx="822960" cy="438912"/>
            </a:xfrm>
            <a:prstGeom prst="rect">
              <a:avLst/>
            </a:prstGeom>
            <a:noFill/>
            <a:ln/>
          </p:spPr>
          <p:txBody>
            <a:bodyPr wrap="square" lIns="127" tIns="127" rIns="127" bIns="127" rtlCol="0" anchor="ctr">
              <a:normAutofit/>
            </a:bodyPr>
            <a:lstStyle/>
            <a:p>
              <a:pPr algn="ctr" defTabSz="685783"/>
              <a:r>
                <a:rPr lang="en-US" sz="1400" b="1" dirty="0">
                  <a:solidFill>
                    <a:srgbClr val="FFFFFF"/>
                  </a:solidFill>
                  <a:ea typeface="Aptos" pitchFamily="34" charset="-122"/>
                  <a:cs typeface="Aptos" pitchFamily="34" charset="-120"/>
                </a:rPr>
                <a:t>E*</a:t>
              </a:r>
              <a:endParaRPr lang="en-US" sz="1400" dirty="0">
                <a:solidFill>
                  <a:prstClr val="black"/>
                </a:solidFill>
              </a:endParaRPr>
            </a:p>
          </p:txBody>
        </p:sp>
        <p:sp>
          <p:nvSpPr>
            <p:cNvPr id="20" name="Text 18"/>
            <p:cNvSpPr/>
            <p:nvPr/>
          </p:nvSpPr>
          <p:spPr>
            <a:xfrm>
              <a:off x="2514600" y="1225296"/>
              <a:ext cx="822960" cy="438912"/>
            </a:xfrm>
            <a:prstGeom prst="rect">
              <a:avLst/>
            </a:prstGeom>
            <a:noFill/>
            <a:ln/>
          </p:spPr>
          <p:txBody>
            <a:bodyPr wrap="square" lIns="127" tIns="127" rIns="127" bIns="127" rtlCol="0" anchor="ctr">
              <a:normAutofit/>
            </a:bodyPr>
            <a:lstStyle/>
            <a:p>
              <a:pPr algn="ctr" defTabSz="685783"/>
              <a:r>
                <a:rPr lang="en-US" sz="1400" b="1" dirty="0">
                  <a:solidFill>
                    <a:srgbClr val="FFFFFF"/>
                  </a:solidFill>
                  <a:ea typeface="Aptos" pitchFamily="34" charset="-122"/>
                  <a:cs typeface="Aptos" pitchFamily="34" charset="-120"/>
                </a:rPr>
                <a:t>I*</a:t>
              </a:r>
              <a:endParaRPr lang="en-US" sz="1400" dirty="0">
                <a:solidFill>
                  <a:prstClr val="black"/>
                </a:solidFill>
              </a:endParaRPr>
            </a:p>
          </p:txBody>
        </p:sp>
        <p:sp>
          <p:nvSpPr>
            <p:cNvPr id="21" name="Text 19"/>
            <p:cNvSpPr/>
            <p:nvPr/>
          </p:nvSpPr>
          <p:spPr>
            <a:xfrm>
              <a:off x="3429000" y="1225296"/>
              <a:ext cx="1371600" cy="438912"/>
            </a:xfrm>
            <a:prstGeom prst="rect">
              <a:avLst/>
            </a:prstGeom>
            <a:noFill/>
            <a:ln/>
          </p:spPr>
          <p:txBody>
            <a:bodyPr wrap="square" lIns="127" tIns="127" rIns="127" bIns="127" rtlCol="0" anchor="ctr">
              <a:normAutofit/>
            </a:bodyPr>
            <a:lstStyle/>
            <a:p>
              <a:pPr algn="ctr" defTabSz="685783"/>
              <a:r>
                <a:rPr lang="en-US" sz="1400" b="1" dirty="0">
                  <a:solidFill>
                    <a:srgbClr val="FFFFFF"/>
                  </a:solidFill>
                  <a:ea typeface="Aptos" pitchFamily="34" charset="-122"/>
                  <a:cs typeface="Aptos" pitchFamily="34" charset="-120"/>
                </a:rPr>
                <a:t>max Re(λ)</a:t>
              </a:r>
              <a:endParaRPr lang="en-US" sz="1400" dirty="0">
                <a:solidFill>
                  <a:prstClr val="black"/>
                </a:solidFill>
              </a:endParaRPr>
            </a:p>
          </p:txBody>
        </p:sp>
        <p:sp>
          <p:nvSpPr>
            <p:cNvPr id="22" name="Text 20"/>
            <p:cNvSpPr/>
            <p:nvPr/>
          </p:nvSpPr>
          <p:spPr>
            <a:xfrm>
              <a:off x="4892040" y="1225296"/>
              <a:ext cx="1737360" cy="438912"/>
            </a:xfrm>
            <a:prstGeom prst="rect">
              <a:avLst/>
            </a:prstGeom>
            <a:noFill/>
            <a:ln/>
          </p:spPr>
          <p:txBody>
            <a:bodyPr wrap="square" lIns="127" tIns="127" rIns="127" bIns="127" rtlCol="0" anchor="ctr">
              <a:normAutofit/>
            </a:bodyPr>
            <a:lstStyle/>
            <a:p>
              <a:pPr algn="ctr" defTabSz="685783"/>
              <a:r>
                <a:rPr lang="en-US" sz="1400" b="1" dirty="0">
                  <a:solidFill>
                    <a:srgbClr val="FFFFFF"/>
                  </a:solidFill>
                  <a:ea typeface="Aptos" pitchFamily="34" charset="-122"/>
                  <a:cs typeface="Aptos" pitchFamily="34" charset="-120"/>
                </a:rPr>
                <a:t>Stability</a:t>
              </a:r>
              <a:endParaRPr lang="en-US" sz="1400" dirty="0">
                <a:solidFill>
                  <a:prstClr val="black"/>
                </a:solidFill>
              </a:endParaRPr>
            </a:p>
          </p:txBody>
        </p:sp>
        <p:sp>
          <p:nvSpPr>
            <p:cNvPr id="23" name="Text 21"/>
            <p:cNvSpPr/>
            <p:nvPr/>
          </p:nvSpPr>
          <p:spPr>
            <a:xfrm>
              <a:off x="777240" y="1737360"/>
              <a:ext cx="731520" cy="438912"/>
            </a:xfrm>
            <a:prstGeom prst="rect">
              <a:avLst/>
            </a:prstGeom>
            <a:noFill/>
            <a:ln/>
          </p:spPr>
          <p:txBody>
            <a:bodyPr wrap="square" lIns="127" tIns="127" rIns="127" bIns="127" rtlCol="0" anchor="ctr">
              <a:normAutofit/>
            </a:bodyPr>
            <a:lstStyle/>
            <a:p>
              <a:pPr defTabSz="685783"/>
              <a:r>
                <a:rPr lang="en-US" sz="1400" dirty="0">
                  <a:solidFill>
                    <a:srgbClr val="1C2633"/>
                  </a:solidFill>
                  <a:ea typeface="Aptos" pitchFamily="34" charset="-122"/>
                  <a:cs typeface="Aptos" pitchFamily="34" charset="-120"/>
                </a:rPr>
                <a:t>1.60</a:t>
              </a:r>
              <a:endParaRPr lang="en-US" sz="1400" dirty="0">
                <a:solidFill>
                  <a:prstClr val="black"/>
                </a:solidFill>
              </a:endParaRPr>
            </a:p>
          </p:txBody>
        </p:sp>
        <p:sp>
          <p:nvSpPr>
            <p:cNvPr id="24" name="Text 22"/>
            <p:cNvSpPr/>
            <p:nvPr/>
          </p:nvSpPr>
          <p:spPr>
            <a:xfrm>
              <a:off x="1600200" y="1737360"/>
              <a:ext cx="8229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0.142</a:t>
              </a:r>
              <a:endParaRPr lang="en-US" sz="1400" dirty="0">
                <a:solidFill>
                  <a:prstClr val="black"/>
                </a:solidFill>
              </a:endParaRPr>
            </a:p>
          </p:txBody>
        </p:sp>
        <p:sp>
          <p:nvSpPr>
            <p:cNvPr id="25" name="Text 23"/>
            <p:cNvSpPr/>
            <p:nvPr/>
          </p:nvSpPr>
          <p:spPr>
            <a:xfrm>
              <a:off x="2514600" y="1737360"/>
              <a:ext cx="8229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0.067</a:t>
              </a:r>
              <a:endParaRPr lang="en-US" sz="1400" dirty="0">
                <a:solidFill>
                  <a:prstClr val="black"/>
                </a:solidFill>
              </a:endParaRPr>
            </a:p>
          </p:txBody>
        </p:sp>
        <p:sp>
          <p:nvSpPr>
            <p:cNvPr id="26" name="Text 24"/>
            <p:cNvSpPr/>
            <p:nvPr/>
          </p:nvSpPr>
          <p:spPr>
            <a:xfrm>
              <a:off x="3429000" y="1737360"/>
              <a:ext cx="137160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−0.007</a:t>
              </a:r>
              <a:endParaRPr lang="en-US" sz="1400" dirty="0">
                <a:solidFill>
                  <a:prstClr val="black"/>
                </a:solidFill>
              </a:endParaRPr>
            </a:p>
          </p:txBody>
        </p:sp>
        <p:sp>
          <p:nvSpPr>
            <p:cNvPr id="27" name="Text 25"/>
            <p:cNvSpPr/>
            <p:nvPr/>
          </p:nvSpPr>
          <p:spPr>
            <a:xfrm>
              <a:off x="4892040" y="1737360"/>
              <a:ext cx="17373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stable</a:t>
              </a:r>
              <a:endParaRPr lang="en-US" sz="1400" dirty="0">
                <a:solidFill>
                  <a:prstClr val="black"/>
                </a:solidFill>
              </a:endParaRPr>
            </a:p>
          </p:txBody>
        </p:sp>
        <p:sp>
          <p:nvSpPr>
            <p:cNvPr id="28" name="Text 26"/>
            <p:cNvSpPr/>
            <p:nvPr/>
          </p:nvSpPr>
          <p:spPr>
            <a:xfrm>
              <a:off x="777240" y="2249424"/>
              <a:ext cx="731520" cy="438912"/>
            </a:xfrm>
            <a:prstGeom prst="rect">
              <a:avLst/>
            </a:prstGeom>
            <a:noFill/>
            <a:ln/>
          </p:spPr>
          <p:txBody>
            <a:bodyPr wrap="square" lIns="127" tIns="127" rIns="127" bIns="127" rtlCol="0" anchor="ctr">
              <a:normAutofit/>
            </a:bodyPr>
            <a:lstStyle/>
            <a:p>
              <a:pPr defTabSz="685783"/>
              <a:r>
                <a:rPr lang="en-US" sz="1400" dirty="0">
                  <a:solidFill>
                    <a:srgbClr val="1C2633"/>
                  </a:solidFill>
                  <a:ea typeface="Aptos" pitchFamily="34" charset="-122"/>
                  <a:cs typeface="Aptos" pitchFamily="34" charset="-120"/>
                </a:rPr>
                <a:t>1.64</a:t>
              </a:r>
              <a:endParaRPr lang="en-US" sz="1400" dirty="0">
                <a:solidFill>
                  <a:prstClr val="black"/>
                </a:solidFill>
              </a:endParaRPr>
            </a:p>
          </p:txBody>
        </p:sp>
        <p:sp>
          <p:nvSpPr>
            <p:cNvPr id="29" name="Text 27"/>
            <p:cNvSpPr/>
            <p:nvPr/>
          </p:nvSpPr>
          <p:spPr>
            <a:xfrm>
              <a:off x="1600200" y="2249424"/>
              <a:ext cx="8229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0.154</a:t>
              </a:r>
              <a:endParaRPr lang="en-US" sz="1400" dirty="0">
                <a:solidFill>
                  <a:prstClr val="black"/>
                </a:solidFill>
              </a:endParaRPr>
            </a:p>
          </p:txBody>
        </p:sp>
        <p:sp>
          <p:nvSpPr>
            <p:cNvPr id="30" name="Text 28"/>
            <p:cNvSpPr/>
            <p:nvPr/>
          </p:nvSpPr>
          <p:spPr>
            <a:xfrm>
              <a:off x="2514600" y="2249424"/>
              <a:ext cx="8229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0.076</a:t>
              </a:r>
              <a:endParaRPr lang="en-US" sz="1400" dirty="0">
                <a:solidFill>
                  <a:prstClr val="black"/>
                </a:solidFill>
              </a:endParaRPr>
            </a:p>
          </p:txBody>
        </p:sp>
        <p:sp>
          <p:nvSpPr>
            <p:cNvPr id="31" name="Text 29"/>
            <p:cNvSpPr/>
            <p:nvPr/>
          </p:nvSpPr>
          <p:spPr>
            <a:xfrm>
              <a:off x="3429000" y="2249424"/>
              <a:ext cx="137160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0.032</a:t>
              </a:r>
              <a:endParaRPr lang="en-US" sz="1400" dirty="0">
                <a:solidFill>
                  <a:prstClr val="black"/>
                </a:solidFill>
              </a:endParaRPr>
            </a:p>
          </p:txBody>
        </p:sp>
        <p:sp>
          <p:nvSpPr>
            <p:cNvPr id="32" name="Text 30"/>
            <p:cNvSpPr/>
            <p:nvPr/>
          </p:nvSpPr>
          <p:spPr>
            <a:xfrm>
              <a:off x="4892040" y="2249424"/>
              <a:ext cx="17373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unstable</a:t>
              </a:r>
              <a:endParaRPr lang="en-US" sz="1400" dirty="0">
                <a:solidFill>
                  <a:prstClr val="black"/>
                </a:solidFill>
              </a:endParaRPr>
            </a:p>
          </p:txBody>
        </p:sp>
        <p:sp>
          <p:nvSpPr>
            <p:cNvPr id="33" name="Text 31"/>
            <p:cNvSpPr/>
            <p:nvPr/>
          </p:nvSpPr>
          <p:spPr>
            <a:xfrm>
              <a:off x="777240" y="2761488"/>
              <a:ext cx="731520" cy="438912"/>
            </a:xfrm>
            <a:prstGeom prst="rect">
              <a:avLst/>
            </a:prstGeom>
            <a:noFill/>
            <a:ln/>
          </p:spPr>
          <p:txBody>
            <a:bodyPr wrap="square" lIns="127" tIns="127" rIns="127" bIns="127" rtlCol="0" anchor="ctr">
              <a:normAutofit/>
            </a:bodyPr>
            <a:lstStyle/>
            <a:p>
              <a:pPr defTabSz="685783"/>
              <a:r>
                <a:rPr lang="en-US" sz="1400" dirty="0">
                  <a:solidFill>
                    <a:srgbClr val="1C2633"/>
                  </a:solidFill>
                  <a:ea typeface="Aptos" pitchFamily="34" charset="-122"/>
                  <a:cs typeface="Aptos" pitchFamily="34" charset="-120"/>
                </a:rPr>
                <a:t>2.80</a:t>
              </a:r>
              <a:endParaRPr lang="en-US" sz="1400" dirty="0">
                <a:solidFill>
                  <a:prstClr val="black"/>
                </a:solidFill>
              </a:endParaRPr>
            </a:p>
          </p:txBody>
        </p:sp>
        <p:sp>
          <p:nvSpPr>
            <p:cNvPr id="34" name="Text 32"/>
            <p:cNvSpPr/>
            <p:nvPr/>
          </p:nvSpPr>
          <p:spPr>
            <a:xfrm>
              <a:off x="1600200" y="2761488"/>
              <a:ext cx="8229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0.336</a:t>
              </a:r>
              <a:endParaRPr lang="en-US" sz="1400" dirty="0">
                <a:solidFill>
                  <a:prstClr val="black"/>
                </a:solidFill>
              </a:endParaRPr>
            </a:p>
          </p:txBody>
        </p:sp>
        <p:sp>
          <p:nvSpPr>
            <p:cNvPr id="35" name="Text 33"/>
            <p:cNvSpPr/>
            <p:nvPr/>
          </p:nvSpPr>
          <p:spPr>
            <a:xfrm>
              <a:off x="2514600" y="2761488"/>
              <a:ext cx="8229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0.294</a:t>
              </a:r>
              <a:endParaRPr lang="en-US" sz="1400" dirty="0">
                <a:solidFill>
                  <a:prstClr val="black"/>
                </a:solidFill>
              </a:endParaRPr>
            </a:p>
          </p:txBody>
        </p:sp>
        <p:sp>
          <p:nvSpPr>
            <p:cNvPr id="36" name="Text 34"/>
            <p:cNvSpPr/>
            <p:nvPr/>
          </p:nvSpPr>
          <p:spPr>
            <a:xfrm>
              <a:off x="3429000" y="2761488"/>
              <a:ext cx="137160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0.008</a:t>
              </a:r>
              <a:endParaRPr lang="en-US" sz="1400" dirty="0">
                <a:solidFill>
                  <a:prstClr val="black"/>
                </a:solidFill>
              </a:endParaRPr>
            </a:p>
          </p:txBody>
        </p:sp>
        <p:sp>
          <p:nvSpPr>
            <p:cNvPr id="37" name="Text 35"/>
            <p:cNvSpPr/>
            <p:nvPr/>
          </p:nvSpPr>
          <p:spPr>
            <a:xfrm>
              <a:off x="4892040" y="2761488"/>
              <a:ext cx="17373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unstable</a:t>
              </a:r>
              <a:endParaRPr lang="en-US" sz="1400" dirty="0">
                <a:solidFill>
                  <a:prstClr val="black"/>
                </a:solidFill>
              </a:endParaRPr>
            </a:p>
          </p:txBody>
        </p:sp>
        <p:sp>
          <p:nvSpPr>
            <p:cNvPr id="38" name="Text 36"/>
            <p:cNvSpPr/>
            <p:nvPr/>
          </p:nvSpPr>
          <p:spPr>
            <a:xfrm>
              <a:off x="777240" y="3273552"/>
              <a:ext cx="731520" cy="438912"/>
            </a:xfrm>
            <a:prstGeom prst="rect">
              <a:avLst/>
            </a:prstGeom>
            <a:noFill/>
            <a:ln/>
          </p:spPr>
          <p:txBody>
            <a:bodyPr wrap="square" lIns="127" tIns="127" rIns="127" bIns="127" rtlCol="0" anchor="ctr">
              <a:normAutofit/>
            </a:bodyPr>
            <a:lstStyle/>
            <a:p>
              <a:pPr defTabSz="685783"/>
              <a:r>
                <a:rPr lang="en-US" sz="1400" dirty="0">
                  <a:solidFill>
                    <a:srgbClr val="1C2633"/>
                  </a:solidFill>
                  <a:ea typeface="Aptos" pitchFamily="34" charset="-122"/>
                  <a:cs typeface="Aptos" pitchFamily="34" charset="-120"/>
                </a:rPr>
                <a:t>2.84</a:t>
              </a:r>
              <a:endParaRPr lang="en-US" sz="1400" dirty="0">
                <a:solidFill>
                  <a:prstClr val="black"/>
                </a:solidFill>
              </a:endParaRPr>
            </a:p>
          </p:txBody>
        </p:sp>
        <p:sp>
          <p:nvSpPr>
            <p:cNvPr id="39" name="Text 37"/>
            <p:cNvSpPr/>
            <p:nvPr/>
          </p:nvSpPr>
          <p:spPr>
            <a:xfrm>
              <a:off x="1600200" y="3273552"/>
              <a:ext cx="8229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0.341</a:t>
              </a:r>
              <a:endParaRPr lang="en-US" sz="1400" dirty="0">
                <a:solidFill>
                  <a:prstClr val="black"/>
                </a:solidFill>
              </a:endParaRPr>
            </a:p>
          </p:txBody>
        </p:sp>
        <p:sp>
          <p:nvSpPr>
            <p:cNvPr id="40" name="Text 38"/>
            <p:cNvSpPr/>
            <p:nvPr/>
          </p:nvSpPr>
          <p:spPr>
            <a:xfrm>
              <a:off x="2514600" y="3273552"/>
              <a:ext cx="8229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0.300</a:t>
              </a:r>
              <a:endParaRPr lang="en-US" sz="1400" dirty="0">
                <a:solidFill>
                  <a:prstClr val="black"/>
                </a:solidFill>
              </a:endParaRPr>
            </a:p>
          </p:txBody>
        </p:sp>
        <p:sp>
          <p:nvSpPr>
            <p:cNvPr id="41" name="Text 39"/>
            <p:cNvSpPr/>
            <p:nvPr/>
          </p:nvSpPr>
          <p:spPr>
            <a:xfrm>
              <a:off x="3429000" y="3273552"/>
              <a:ext cx="137160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−0.011</a:t>
              </a:r>
              <a:endParaRPr lang="en-US" sz="1400" dirty="0">
                <a:solidFill>
                  <a:prstClr val="black"/>
                </a:solidFill>
              </a:endParaRPr>
            </a:p>
          </p:txBody>
        </p:sp>
        <p:sp>
          <p:nvSpPr>
            <p:cNvPr id="42" name="Text 40"/>
            <p:cNvSpPr/>
            <p:nvPr/>
          </p:nvSpPr>
          <p:spPr>
            <a:xfrm>
              <a:off x="4892040" y="3273552"/>
              <a:ext cx="1737360" cy="438912"/>
            </a:xfrm>
            <a:prstGeom prst="rect">
              <a:avLst/>
            </a:prstGeom>
            <a:noFill/>
            <a:ln/>
          </p:spPr>
          <p:txBody>
            <a:bodyPr wrap="square" lIns="127" tIns="127" rIns="127" bIns="127" rtlCol="0" anchor="ctr">
              <a:normAutofit/>
            </a:bodyPr>
            <a:lstStyle/>
            <a:p>
              <a:pPr algn="ctr" defTabSz="685783"/>
              <a:r>
                <a:rPr lang="en-US" sz="1400" dirty="0">
                  <a:solidFill>
                    <a:srgbClr val="1C2633"/>
                  </a:solidFill>
                  <a:ea typeface="Aptos" pitchFamily="34" charset="-122"/>
                  <a:cs typeface="Aptos" pitchFamily="34" charset="-120"/>
                </a:rPr>
                <a:t>stable</a:t>
              </a:r>
              <a:endParaRPr lang="en-US" sz="1400" dirty="0">
                <a:solidFill>
                  <a:prstClr val="black"/>
                </a:solidFill>
              </a:endParaRPr>
            </a:p>
          </p:txBody>
        </p:sp>
      </p:grpSp>
      <p:sp>
        <p:nvSpPr>
          <p:cNvPr id="43" name="Shape 41"/>
          <p:cNvSpPr/>
          <p:nvPr/>
        </p:nvSpPr>
        <p:spPr>
          <a:xfrm>
            <a:off x="5280660" y="889997"/>
            <a:ext cx="3326130" cy="1203236"/>
          </a:xfrm>
          <a:prstGeom prst="roundRect">
            <a:avLst>
              <a:gd name="adj" fmla="val 5517"/>
            </a:avLst>
          </a:prstGeom>
          <a:solidFill>
            <a:srgbClr val="F5FAFF"/>
          </a:solidFill>
          <a:ln w="15240">
            <a:solidFill>
              <a:srgbClr val="D6E6F5"/>
            </a:solidFill>
            <a:prstDash val="solid"/>
          </a:ln>
        </p:spPr>
        <p:txBody>
          <a:bodyPr/>
          <a:lstStyle/>
          <a:p>
            <a:endParaRPr lang="en-US"/>
          </a:p>
        </p:txBody>
      </p:sp>
      <p:sp>
        <p:nvSpPr>
          <p:cNvPr id="44" name="Text 42"/>
          <p:cNvSpPr/>
          <p:nvPr/>
        </p:nvSpPr>
        <p:spPr>
          <a:xfrm>
            <a:off x="5404104" y="918972"/>
            <a:ext cx="3079242" cy="1148722"/>
          </a:xfrm>
          <a:prstGeom prst="rect">
            <a:avLst/>
          </a:prstGeom>
          <a:noFill/>
          <a:ln/>
        </p:spPr>
        <p:txBody>
          <a:bodyPr wrap="square" lIns="191" tIns="191" rIns="191" bIns="191" rtlCol="0" anchor="ctr">
            <a:normAutofit/>
          </a:bodyPr>
          <a:lstStyle/>
          <a:p>
            <a:pPr defTabSz="685783">
              <a:lnSpc>
                <a:spcPct val="120000"/>
              </a:lnSpc>
            </a:pPr>
            <a:r>
              <a:rPr lang="en-US" sz="1400" b="1" dirty="0">
                <a:solidFill>
                  <a:srgbClr val="1C2633"/>
                </a:solidFill>
              </a:rPr>
              <a:t>Because the eigenvalues near both crossings are complex conjugate pairs, the result is best described as a Hopf-like loss of local stability.</a:t>
            </a:r>
            <a:endParaRPr lang="en-US" sz="1400" dirty="0">
              <a:solidFill>
                <a:prstClr val="black"/>
              </a:solidFill>
            </a:endParaRPr>
          </a:p>
        </p:txBody>
      </p:sp>
      <p:sp>
        <p:nvSpPr>
          <p:cNvPr id="45" name="Text 43"/>
          <p:cNvSpPr/>
          <p:nvPr/>
        </p:nvSpPr>
        <p:spPr>
          <a:xfrm>
            <a:off x="5352668" y="2355726"/>
            <a:ext cx="3611820" cy="240030"/>
          </a:xfrm>
          <a:prstGeom prst="rect">
            <a:avLst/>
          </a:prstGeom>
          <a:noFill/>
          <a:ln/>
        </p:spPr>
        <p:txBody>
          <a:bodyPr wrap="square" lIns="0" tIns="0" rIns="0" bIns="0" rtlCol="0" anchor="ctr"/>
          <a:lstStyle/>
          <a:p>
            <a:pPr defTabSz="685783"/>
            <a:r>
              <a:rPr lang="en-US" sz="1600" b="1" dirty="0">
                <a:solidFill>
                  <a:schemeClr val="accent1">
                    <a:lumMod val="75000"/>
                  </a:schemeClr>
                </a:solidFill>
              </a:rPr>
              <a:t>What </a:t>
            </a:r>
            <a:r>
              <a:rPr lang="en-US" sz="1400" b="1" dirty="0">
                <a:solidFill>
                  <a:schemeClr val="accent1">
                    <a:lumMod val="75000"/>
                  </a:schemeClr>
                </a:solidFill>
              </a:rPr>
              <a:t>the</a:t>
            </a:r>
            <a:r>
              <a:rPr lang="en-US" sz="1600" b="1" dirty="0">
                <a:solidFill>
                  <a:schemeClr val="accent1">
                    <a:lumMod val="75000"/>
                  </a:schemeClr>
                </a:solidFill>
              </a:rPr>
              <a:t> result is NOT saying</a:t>
            </a:r>
            <a:endParaRPr lang="en-US" sz="1600" dirty="0">
              <a:solidFill>
                <a:schemeClr val="accent1">
                  <a:lumMod val="75000"/>
                </a:schemeClr>
              </a:solidFill>
            </a:endParaRPr>
          </a:p>
        </p:txBody>
      </p:sp>
      <p:sp>
        <p:nvSpPr>
          <p:cNvPr id="46" name="Text 44"/>
          <p:cNvSpPr/>
          <p:nvPr/>
        </p:nvSpPr>
        <p:spPr>
          <a:xfrm>
            <a:off x="5280660" y="2674621"/>
            <a:ext cx="3223260" cy="1740218"/>
          </a:xfrm>
          <a:prstGeom prst="rect">
            <a:avLst/>
          </a:prstGeom>
          <a:noFill/>
          <a:ln/>
        </p:spPr>
        <p:txBody>
          <a:bodyPr wrap="square" lIns="572" tIns="572" rIns="572" bIns="572" rtlCol="0" anchor="t">
            <a:normAutofit/>
          </a:bodyPr>
          <a:lstStyle/>
          <a:p>
            <a:pPr defTabSz="685783">
              <a:lnSpc>
                <a:spcPct val="150000"/>
              </a:lnSpc>
            </a:pPr>
            <a:r>
              <a:rPr lang="en-US" sz="1400" dirty="0">
                <a:solidFill>
                  <a:srgbClr val="1C2633"/>
                </a:solidFill>
                <a:ea typeface="Aptos" pitchFamily="34" charset="-122"/>
                <a:cs typeface="Aptos" pitchFamily="34" charset="-120"/>
              </a:rPr>
              <a:t>• Not a saddle-node transition</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Not a hysteresis result</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Not the emergence of a separate stable seizure equilibrium</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Not a patient-specific clinical fit</a:t>
            </a:r>
            <a:endParaRPr lang="en-US" sz="1400" dirty="0">
              <a:solidFill>
                <a:prstClr val="black"/>
              </a:solidFill>
            </a:endParaRPr>
          </a:p>
        </p:txBody>
      </p:sp>
      <p:sp>
        <p:nvSpPr>
          <p:cNvPr id="48" name="Text 46"/>
          <p:cNvSpPr/>
          <p:nvPr/>
        </p:nvSpPr>
        <p:spPr>
          <a:xfrm>
            <a:off x="740664" y="3339846"/>
            <a:ext cx="4005072" cy="466344"/>
          </a:xfrm>
          <a:prstGeom prst="rect">
            <a:avLst/>
          </a:prstGeom>
          <a:noFill/>
          <a:ln/>
        </p:spPr>
        <p:txBody>
          <a:bodyPr wrap="square" lIns="191" tIns="191" rIns="191" bIns="191" rtlCol="0" anchor="ctr">
            <a:normAutofit/>
          </a:bodyPr>
          <a:lstStyle/>
          <a:p>
            <a:pPr defTabSz="685783"/>
            <a:endParaRPr lang="en-US" sz="1400" dirty="0">
              <a:solidFill>
                <a:prstClr val="black"/>
              </a:solidFill>
            </a:endParaRPr>
          </a:p>
        </p:txBody>
      </p:sp>
    </p:spTree>
    <p:extLst>
      <p:ext uri="{BB962C8B-B14F-4D97-AF65-F5344CB8AC3E}">
        <p14:creationId xmlns:p14="http://schemas.microsoft.com/office/powerpoint/2010/main" val="2098166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Phase plane at P = 2.0</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Results</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11</a:t>
            </a:r>
            <a:endParaRPr lang="en-US" sz="1200" dirty="0">
              <a:solidFill>
                <a:prstClr val="black"/>
              </a:solidFill>
            </a:endParaRPr>
          </a:p>
        </p:txBody>
      </p:sp>
      <p:sp>
        <p:nvSpPr>
          <p:cNvPr id="8" name="Shape 6"/>
          <p:cNvSpPr/>
          <p:nvPr/>
        </p:nvSpPr>
        <p:spPr>
          <a:xfrm>
            <a:off x="514350" y="754380"/>
            <a:ext cx="4869180" cy="3771900"/>
          </a:xfrm>
          <a:prstGeom prst="roundRect">
            <a:avLst>
              <a:gd name="adj" fmla="val 1455"/>
            </a:avLst>
          </a:prstGeom>
          <a:solidFill>
            <a:srgbClr val="FFFFFF">
              <a:alpha val="0"/>
            </a:srgbClr>
          </a:solidFill>
          <a:ln w="12700">
            <a:solidFill>
              <a:srgbClr val="D6E6F5"/>
            </a:solidFill>
            <a:prstDash val="solid"/>
          </a:ln>
        </p:spPr>
        <p:txBody>
          <a:bodyPr/>
          <a:lstStyle/>
          <a:p>
            <a:endParaRPr lang="en-US"/>
          </a:p>
        </p:txBody>
      </p:sp>
      <p:sp>
        <p:nvSpPr>
          <p:cNvPr id="10" name="Text 7"/>
          <p:cNvSpPr/>
          <p:nvPr/>
        </p:nvSpPr>
        <p:spPr>
          <a:xfrm>
            <a:off x="5657850" y="925830"/>
            <a:ext cx="2468880" cy="192024"/>
          </a:xfrm>
          <a:prstGeom prst="rect">
            <a:avLst/>
          </a:prstGeom>
          <a:noFill/>
          <a:ln/>
        </p:spPr>
        <p:txBody>
          <a:bodyPr wrap="square" lIns="0" tIns="0" rIns="0" bIns="0" rtlCol="0" anchor="ctr"/>
          <a:lstStyle/>
          <a:p>
            <a:pPr defTabSz="685783"/>
            <a:r>
              <a:rPr lang="en-US" sz="1200" b="1" dirty="0">
                <a:solidFill>
                  <a:srgbClr val="1F77B4"/>
                </a:solidFill>
              </a:rPr>
              <a:t>INSIDE THE UNSTABLE INTERVAL</a:t>
            </a:r>
            <a:endParaRPr lang="en-US" sz="1200" dirty="0">
              <a:solidFill>
                <a:prstClr val="black"/>
              </a:solidFill>
            </a:endParaRPr>
          </a:p>
        </p:txBody>
      </p:sp>
      <p:sp>
        <p:nvSpPr>
          <p:cNvPr id="11" name="Text 8"/>
          <p:cNvSpPr/>
          <p:nvPr/>
        </p:nvSpPr>
        <p:spPr>
          <a:xfrm>
            <a:off x="5657850" y="1303021"/>
            <a:ext cx="2914650" cy="2566035"/>
          </a:xfrm>
          <a:prstGeom prst="rect">
            <a:avLst/>
          </a:prstGeom>
          <a:noFill/>
          <a:ln/>
        </p:spPr>
        <p:txBody>
          <a:bodyPr wrap="square" lIns="572" tIns="572" rIns="572" bIns="572" rtlCol="0" anchor="t">
            <a:normAutofit/>
          </a:bodyPr>
          <a:lstStyle/>
          <a:p>
            <a:pPr defTabSz="685783">
              <a:lnSpc>
                <a:spcPct val="150000"/>
              </a:lnSpc>
            </a:pPr>
            <a:r>
              <a:rPr lang="en-US" sz="1400" dirty="0">
                <a:solidFill>
                  <a:srgbClr val="1C2633"/>
                </a:solidFill>
                <a:ea typeface="Aptos" pitchFamily="34" charset="-122"/>
                <a:cs typeface="Aptos" pitchFamily="34" charset="-120"/>
              </a:rPr>
              <a:t>• P = 2.0 lies within the unstable interval.</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The red marker is the unstable equilibrium.</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The vector field has rotational structure around the equilibrium.</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This visual pattern supports the oscillatory-instability interpretation.</a:t>
            </a:r>
            <a:endParaRPr lang="en-US" sz="1400" dirty="0">
              <a:solidFill>
                <a:prstClr val="black"/>
              </a:solidFill>
            </a:endParaRPr>
          </a:p>
        </p:txBody>
      </p:sp>
      <p:sp>
        <p:nvSpPr>
          <p:cNvPr id="12" name="Shape 9"/>
          <p:cNvSpPr/>
          <p:nvPr/>
        </p:nvSpPr>
        <p:spPr>
          <a:xfrm>
            <a:off x="5611559" y="3869055"/>
            <a:ext cx="2914650" cy="582930"/>
          </a:xfrm>
          <a:prstGeom prst="roundRect">
            <a:avLst>
              <a:gd name="adj" fmla="val 9412"/>
            </a:avLst>
          </a:prstGeom>
          <a:solidFill>
            <a:srgbClr val="EAF4FF"/>
          </a:solidFill>
          <a:ln w="15240">
            <a:solidFill>
              <a:srgbClr val="D6E6F5"/>
            </a:solidFill>
            <a:prstDash val="solid"/>
          </a:ln>
        </p:spPr>
        <p:txBody>
          <a:bodyPr/>
          <a:lstStyle/>
          <a:p>
            <a:endParaRPr lang="en-US"/>
          </a:p>
        </p:txBody>
      </p:sp>
      <p:sp>
        <p:nvSpPr>
          <p:cNvPr id="13" name="Text 10"/>
          <p:cNvSpPr/>
          <p:nvPr/>
        </p:nvSpPr>
        <p:spPr>
          <a:xfrm>
            <a:off x="5735003" y="3944493"/>
            <a:ext cx="2667762" cy="432054"/>
          </a:xfrm>
          <a:prstGeom prst="rect">
            <a:avLst/>
          </a:prstGeom>
          <a:noFill/>
          <a:ln/>
        </p:spPr>
        <p:txBody>
          <a:bodyPr wrap="square" lIns="191" tIns="191" rIns="191" bIns="191" rtlCol="0" anchor="ctr">
            <a:normAutofit fontScale="85000" lnSpcReduction="10000"/>
          </a:bodyPr>
          <a:lstStyle/>
          <a:p>
            <a:pPr defTabSz="685783"/>
            <a:r>
              <a:rPr lang="en-US" sz="1400" b="1" dirty="0">
                <a:solidFill>
                  <a:srgbClr val="1C2633"/>
                </a:solidFill>
              </a:rPr>
              <a:t>Mathematically: complex eigenvalues.</a:t>
            </a:r>
            <a:endParaRPr lang="en-US" sz="1400" dirty="0">
              <a:solidFill>
                <a:prstClr val="black"/>
              </a:solidFill>
            </a:endParaRPr>
          </a:p>
          <a:p>
            <a:pPr defTabSz="685783"/>
            <a:r>
              <a:rPr lang="en-US" sz="1400" b="1" dirty="0">
                <a:solidFill>
                  <a:srgbClr val="1C2633"/>
                </a:solidFill>
              </a:rPr>
              <a:t>Visually: rotational flow.</a:t>
            </a:r>
            <a:endParaRPr lang="en-US" sz="1400" dirty="0">
              <a:solidFill>
                <a:prstClr val="black"/>
              </a:solidFill>
            </a:endParaRPr>
          </a:p>
        </p:txBody>
      </p:sp>
      <p:pic>
        <p:nvPicPr>
          <p:cNvPr id="14" name="Image 0" descr="/mnt/data/ode_phase_plane.png"/>
          <p:cNvPicPr>
            <a:picLocks noChangeAspect="1"/>
          </p:cNvPicPr>
          <p:nvPr/>
        </p:nvPicPr>
        <p:blipFill>
          <a:blip r:embed="rId3"/>
          <a:stretch>
            <a:fillRect/>
          </a:stretch>
        </p:blipFill>
        <p:spPr>
          <a:xfrm>
            <a:off x="764906" y="882968"/>
            <a:ext cx="4217670" cy="3514725"/>
          </a:xfrm>
          <a:prstGeom prst="rect">
            <a:avLst/>
          </a:prstGeom>
        </p:spPr>
      </p:pic>
    </p:spTree>
    <p:extLst>
      <p:ext uri="{BB962C8B-B14F-4D97-AF65-F5344CB8AC3E}">
        <p14:creationId xmlns:p14="http://schemas.microsoft.com/office/powerpoint/2010/main" val="1241307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CHB-MIT EEG dataset</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Data Pipeline</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12</a:t>
            </a:r>
            <a:endParaRPr lang="en-US" sz="1200" dirty="0">
              <a:solidFill>
                <a:prstClr val="black"/>
              </a:solidFill>
            </a:endParaRPr>
          </a:p>
        </p:txBody>
      </p:sp>
      <p:sp>
        <p:nvSpPr>
          <p:cNvPr id="8" name="Shape 6"/>
          <p:cNvSpPr/>
          <p:nvPr/>
        </p:nvSpPr>
        <p:spPr>
          <a:xfrm>
            <a:off x="5589270" y="822960"/>
            <a:ext cx="2914650" cy="2194560"/>
          </a:xfrm>
          <a:prstGeom prst="roundRect">
            <a:avLst>
              <a:gd name="adj" fmla="val 2500"/>
            </a:avLst>
          </a:prstGeom>
          <a:solidFill>
            <a:srgbClr val="FFFFFF">
              <a:alpha val="0"/>
            </a:srgbClr>
          </a:solidFill>
          <a:ln w="12700">
            <a:solidFill>
              <a:srgbClr val="D6E6F5"/>
            </a:solidFill>
            <a:prstDash val="solid"/>
          </a:ln>
        </p:spPr>
        <p:txBody>
          <a:bodyPr/>
          <a:lstStyle/>
          <a:p>
            <a:endParaRPr lang="en-US"/>
          </a:p>
        </p:txBody>
      </p:sp>
      <p:pic>
        <p:nvPicPr>
          <p:cNvPr id="9" name="Image 0" descr="/mnt/data/seizure_assets/fig4_class_balance.png"/>
          <p:cNvPicPr>
            <a:picLocks noChangeAspect="1"/>
          </p:cNvPicPr>
          <p:nvPr/>
        </p:nvPicPr>
        <p:blipFill>
          <a:blip r:embed="rId3"/>
          <a:stretch>
            <a:fillRect/>
          </a:stretch>
        </p:blipFill>
        <p:spPr>
          <a:xfrm>
            <a:off x="5623560" y="1018317"/>
            <a:ext cx="2846070" cy="1803848"/>
          </a:xfrm>
          <a:prstGeom prst="rect">
            <a:avLst/>
          </a:prstGeom>
        </p:spPr>
      </p:pic>
      <p:sp>
        <p:nvSpPr>
          <p:cNvPr id="10" name="Text 7"/>
          <p:cNvSpPr/>
          <p:nvPr/>
        </p:nvSpPr>
        <p:spPr>
          <a:xfrm>
            <a:off x="548640" y="857250"/>
            <a:ext cx="1645920" cy="192024"/>
          </a:xfrm>
          <a:prstGeom prst="rect">
            <a:avLst/>
          </a:prstGeom>
          <a:noFill/>
          <a:ln/>
        </p:spPr>
        <p:txBody>
          <a:bodyPr wrap="square" lIns="0" tIns="0" rIns="0" bIns="0" rtlCol="0" anchor="ctr"/>
          <a:lstStyle/>
          <a:p>
            <a:pPr defTabSz="685783"/>
            <a:r>
              <a:rPr lang="en-US" sz="1600" b="1" dirty="0">
                <a:solidFill>
                  <a:srgbClr val="1F77B4"/>
                </a:solidFill>
              </a:rPr>
              <a:t>SCOPED SUBSET</a:t>
            </a:r>
            <a:endParaRPr lang="en-US" sz="1600" dirty="0">
              <a:solidFill>
                <a:prstClr val="black"/>
              </a:solidFill>
            </a:endParaRPr>
          </a:p>
        </p:txBody>
      </p:sp>
      <p:sp>
        <p:nvSpPr>
          <p:cNvPr id="11" name="Text 8"/>
          <p:cNvSpPr/>
          <p:nvPr/>
        </p:nvSpPr>
        <p:spPr>
          <a:xfrm>
            <a:off x="548641" y="1234440"/>
            <a:ext cx="4837748" cy="1783080"/>
          </a:xfrm>
          <a:prstGeom prst="rect">
            <a:avLst/>
          </a:prstGeom>
          <a:noFill/>
          <a:ln/>
        </p:spPr>
        <p:txBody>
          <a:bodyPr wrap="square" lIns="572" tIns="572" rIns="572" bIns="572" rtlCol="0" anchor="t">
            <a:normAutofit/>
          </a:bodyPr>
          <a:lstStyle/>
          <a:p>
            <a:pPr defTabSz="685783">
              <a:lnSpc>
                <a:spcPct val="150000"/>
              </a:lnSpc>
            </a:pPr>
            <a:r>
              <a:rPr lang="en-US" sz="1500" dirty="0">
                <a:solidFill>
                  <a:srgbClr val="1C2633"/>
                </a:solidFill>
                <a:ea typeface="Aptos" pitchFamily="34" charset="-122"/>
                <a:cs typeface="Aptos" pitchFamily="34" charset="-120"/>
              </a:rPr>
              <a:t>• Subjects: chb01, chb03, and chb05</a:t>
            </a:r>
            <a:endParaRPr lang="en-US" sz="1500" dirty="0">
              <a:solidFill>
                <a:prstClr val="black"/>
              </a:solidFill>
            </a:endParaRPr>
          </a:p>
          <a:p>
            <a:pPr defTabSz="685783">
              <a:lnSpc>
                <a:spcPct val="150000"/>
              </a:lnSpc>
            </a:pPr>
            <a:r>
              <a:rPr lang="en-US" sz="1500" dirty="0">
                <a:solidFill>
                  <a:srgbClr val="1C2633"/>
                </a:solidFill>
                <a:ea typeface="Aptos" pitchFamily="34" charset="-122"/>
                <a:cs typeface="Aptos" pitchFamily="34" charset="-120"/>
              </a:rPr>
              <a:t>• Records: 51 EDF files</a:t>
            </a:r>
            <a:endParaRPr lang="en-US" sz="1500" dirty="0">
              <a:solidFill>
                <a:prstClr val="black"/>
              </a:solidFill>
            </a:endParaRPr>
          </a:p>
          <a:p>
            <a:pPr defTabSz="685783">
              <a:lnSpc>
                <a:spcPct val="150000"/>
              </a:lnSpc>
            </a:pPr>
            <a:r>
              <a:rPr lang="en-US" sz="1500" dirty="0">
                <a:solidFill>
                  <a:srgbClr val="1C2633"/>
                </a:solidFill>
                <a:ea typeface="Aptos" pitchFamily="34" charset="-122"/>
                <a:cs typeface="Aptos" pitchFamily="34" charset="-120"/>
              </a:rPr>
              <a:t>• Windows: 35,679 non-overlapping 5-second windows</a:t>
            </a:r>
            <a:endParaRPr lang="en-US" sz="1500" dirty="0">
              <a:solidFill>
                <a:prstClr val="black"/>
              </a:solidFill>
            </a:endParaRPr>
          </a:p>
          <a:p>
            <a:pPr defTabSz="685783">
              <a:lnSpc>
                <a:spcPct val="150000"/>
              </a:lnSpc>
            </a:pPr>
            <a:r>
              <a:rPr lang="en-US" sz="1500" dirty="0">
                <a:solidFill>
                  <a:srgbClr val="1C2633"/>
                </a:solidFill>
                <a:ea typeface="Aptos" pitchFamily="34" charset="-122"/>
                <a:cs typeface="Aptos" pitchFamily="34" charset="-120"/>
              </a:rPr>
              <a:t>• Task: ictal-window detection</a:t>
            </a:r>
            <a:endParaRPr lang="en-US" sz="1500" dirty="0">
              <a:solidFill>
                <a:prstClr val="black"/>
              </a:solidFill>
            </a:endParaRPr>
          </a:p>
        </p:txBody>
      </p:sp>
      <p:grpSp>
        <p:nvGrpSpPr>
          <p:cNvPr id="28" name="组合 27"/>
          <p:cNvGrpSpPr/>
          <p:nvPr/>
        </p:nvGrpSpPr>
        <p:grpSpPr>
          <a:xfrm>
            <a:off x="582930" y="3154680"/>
            <a:ext cx="3017520" cy="1028700"/>
            <a:chOff x="777240" y="4206240"/>
            <a:chExt cx="4023360" cy="1371600"/>
          </a:xfrm>
        </p:grpSpPr>
        <p:sp>
          <p:nvSpPr>
            <p:cNvPr id="12" name="Shape 9"/>
            <p:cNvSpPr/>
            <p:nvPr/>
          </p:nvSpPr>
          <p:spPr>
            <a:xfrm>
              <a:off x="777240" y="4206240"/>
              <a:ext cx="4023360" cy="342900"/>
            </a:xfrm>
            <a:prstGeom prst="rect">
              <a:avLst/>
            </a:prstGeom>
            <a:solidFill>
              <a:srgbClr val="1F77B4"/>
            </a:solidFill>
            <a:ln w="12700">
              <a:solidFill>
                <a:srgbClr val="1F77B4"/>
              </a:solidFill>
              <a:prstDash val="solid"/>
            </a:ln>
          </p:spPr>
          <p:txBody>
            <a:bodyPr/>
            <a:lstStyle/>
            <a:p>
              <a:endParaRPr lang="en-US"/>
            </a:p>
          </p:txBody>
        </p:sp>
        <p:sp>
          <p:nvSpPr>
            <p:cNvPr id="13" name="Shape 10"/>
            <p:cNvSpPr/>
            <p:nvPr/>
          </p:nvSpPr>
          <p:spPr>
            <a:xfrm>
              <a:off x="777240" y="4206240"/>
              <a:ext cx="4023360" cy="1371600"/>
            </a:xfrm>
            <a:prstGeom prst="rect">
              <a:avLst/>
            </a:prstGeom>
            <a:solidFill>
              <a:srgbClr val="FFFFFF">
                <a:alpha val="0"/>
              </a:srgbClr>
            </a:solidFill>
            <a:ln w="12700">
              <a:solidFill>
                <a:srgbClr val="D6E6F5"/>
              </a:solidFill>
              <a:prstDash val="solid"/>
            </a:ln>
          </p:spPr>
          <p:txBody>
            <a:bodyPr/>
            <a:lstStyle/>
            <a:p>
              <a:endParaRPr lang="en-US"/>
            </a:p>
          </p:txBody>
        </p:sp>
        <p:sp>
          <p:nvSpPr>
            <p:cNvPr id="14" name="Shape 11"/>
            <p:cNvSpPr/>
            <p:nvPr/>
          </p:nvSpPr>
          <p:spPr>
            <a:xfrm>
              <a:off x="777240" y="4549140"/>
              <a:ext cx="4023360" cy="0"/>
            </a:xfrm>
            <a:prstGeom prst="line">
              <a:avLst/>
            </a:prstGeom>
            <a:noFill/>
            <a:ln w="10160">
              <a:solidFill>
                <a:srgbClr val="D6E6F5"/>
              </a:solidFill>
              <a:prstDash val="solid"/>
            </a:ln>
          </p:spPr>
          <p:txBody>
            <a:bodyPr/>
            <a:lstStyle/>
            <a:p>
              <a:endParaRPr lang="en-US"/>
            </a:p>
          </p:txBody>
        </p:sp>
        <p:sp>
          <p:nvSpPr>
            <p:cNvPr id="15" name="Shape 12"/>
            <p:cNvSpPr/>
            <p:nvPr/>
          </p:nvSpPr>
          <p:spPr>
            <a:xfrm>
              <a:off x="777240" y="4892040"/>
              <a:ext cx="4023360" cy="0"/>
            </a:xfrm>
            <a:prstGeom prst="line">
              <a:avLst/>
            </a:prstGeom>
            <a:noFill/>
            <a:ln w="10160">
              <a:solidFill>
                <a:srgbClr val="D6E6F5"/>
              </a:solidFill>
              <a:prstDash val="solid"/>
            </a:ln>
          </p:spPr>
          <p:txBody>
            <a:bodyPr/>
            <a:lstStyle/>
            <a:p>
              <a:endParaRPr lang="en-US"/>
            </a:p>
          </p:txBody>
        </p:sp>
        <p:sp>
          <p:nvSpPr>
            <p:cNvPr id="16" name="Shape 13"/>
            <p:cNvSpPr/>
            <p:nvPr/>
          </p:nvSpPr>
          <p:spPr>
            <a:xfrm>
              <a:off x="777240" y="5234940"/>
              <a:ext cx="4023360" cy="0"/>
            </a:xfrm>
            <a:prstGeom prst="line">
              <a:avLst/>
            </a:prstGeom>
            <a:noFill/>
            <a:ln w="10160">
              <a:solidFill>
                <a:srgbClr val="D6E6F5"/>
              </a:solidFill>
              <a:prstDash val="solid"/>
            </a:ln>
          </p:spPr>
          <p:txBody>
            <a:bodyPr/>
            <a:lstStyle/>
            <a:p>
              <a:endParaRPr lang="en-US"/>
            </a:p>
          </p:txBody>
        </p:sp>
        <p:sp>
          <p:nvSpPr>
            <p:cNvPr id="17" name="Shape 14"/>
            <p:cNvSpPr/>
            <p:nvPr/>
          </p:nvSpPr>
          <p:spPr>
            <a:xfrm>
              <a:off x="2880360" y="4206240"/>
              <a:ext cx="0" cy="1371600"/>
            </a:xfrm>
            <a:prstGeom prst="line">
              <a:avLst/>
            </a:prstGeom>
            <a:noFill/>
            <a:ln w="10160">
              <a:solidFill>
                <a:srgbClr val="D6E6F5"/>
              </a:solidFill>
              <a:prstDash val="solid"/>
            </a:ln>
          </p:spPr>
          <p:txBody>
            <a:bodyPr/>
            <a:lstStyle/>
            <a:p>
              <a:endParaRPr lang="en-US"/>
            </a:p>
          </p:txBody>
        </p:sp>
        <p:sp>
          <p:nvSpPr>
            <p:cNvPr id="18" name="Text 15"/>
            <p:cNvSpPr/>
            <p:nvPr/>
          </p:nvSpPr>
          <p:spPr>
            <a:xfrm>
              <a:off x="822960" y="4242816"/>
              <a:ext cx="2011680" cy="269748"/>
            </a:xfrm>
            <a:prstGeom prst="rect">
              <a:avLst/>
            </a:prstGeom>
            <a:noFill/>
            <a:ln/>
          </p:spPr>
          <p:txBody>
            <a:bodyPr wrap="square" lIns="127" tIns="127" rIns="127" bIns="127" rtlCol="0" anchor="ctr">
              <a:normAutofit lnSpcReduction="10000"/>
            </a:bodyPr>
            <a:lstStyle/>
            <a:p>
              <a:pPr defTabSz="685783"/>
              <a:r>
                <a:rPr lang="en-US" sz="1400" b="1" dirty="0">
                  <a:solidFill>
                    <a:srgbClr val="FFFFFF"/>
                  </a:solidFill>
                  <a:ea typeface="Aptos" pitchFamily="34" charset="-122"/>
                  <a:cs typeface="Aptos" pitchFamily="34" charset="-120"/>
                </a:rPr>
                <a:t>Phase</a:t>
              </a:r>
              <a:endParaRPr lang="en-US" sz="1400" dirty="0">
                <a:solidFill>
                  <a:prstClr val="black"/>
                </a:solidFill>
              </a:endParaRPr>
            </a:p>
          </p:txBody>
        </p:sp>
        <p:sp>
          <p:nvSpPr>
            <p:cNvPr id="19" name="Text 16"/>
            <p:cNvSpPr/>
            <p:nvPr/>
          </p:nvSpPr>
          <p:spPr>
            <a:xfrm>
              <a:off x="2926080" y="4242816"/>
              <a:ext cx="1828800" cy="269748"/>
            </a:xfrm>
            <a:prstGeom prst="rect">
              <a:avLst/>
            </a:prstGeom>
            <a:noFill/>
            <a:ln/>
          </p:spPr>
          <p:txBody>
            <a:bodyPr wrap="square" lIns="127" tIns="127" rIns="127" bIns="127" rtlCol="0" anchor="ctr">
              <a:normAutofit lnSpcReduction="10000"/>
            </a:bodyPr>
            <a:lstStyle/>
            <a:p>
              <a:pPr algn="ctr" defTabSz="685783"/>
              <a:r>
                <a:rPr lang="en-US" sz="1400" b="1" dirty="0">
                  <a:solidFill>
                    <a:srgbClr val="FFFFFF"/>
                  </a:solidFill>
                  <a:ea typeface="Aptos" pitchFamily="34" charset="-122"/>
                  <a:cs typeface="Aptos" pitchFamily="34" charset="-120"/>
                </a:rPr>
                <a:t>Windows</a:t>
              </a:r>
              <a:endParaRPr lang="en-US" sz="1400" dirty="0">
                <a:solidFill>
                  <a:prstClr val="black"/>
                </a:solidFill>
              </a:endParaRPr>
            </a:p>
          </p:txBody>
        </p:sp>
        <p:sp>
          <p:nvSpPr>
            <p:cNvPr id="20" name="Text 17"/>
            <p:cNvSpPr/>
            <p:nvPr/>
          </p:nvSpPr>
          <p:spPr>
            <a:xfrm>
              <a:off x="822960" y="4585716"/>
              <a:ext cx="2011680" cy="269748"/>
            </a:xfrm>
            <a:prstGeom prst="rect">
              <a:avLst/>
            </a:prstGeom>
            <a:noFill/>
            <a:ln/>
          </p:spPr>
          <p:txBody>
            <a:bodyPr wrap="square" lIns="127" tIns="127" rIns="127" bIns="127" rtlCol="0" anchor="ctr">
              <a:normAutofit lnSpcReduction="10000"/>
            </a:bodyPr>
            <a:lstStyle/>
            <a:p>
              <a:pPr defTabSz="685783"/>
              <a:r>
                <a:rPr lang="en-US" sz="1400" dirty="0">
                  <a:solidFill>
                    <a:srgbClr val="1C2633"/>
                  </a:solidFill>
                  <a:ea typeface="Aptos" pitchFamily="34" charset="-122"/>
                  <a:cs typeface="Aptos" pitchFamily="34" charset="-120"/>
                </a:rPr>
                <a:t>Baseline</a:t>
              </a:r>
              <a:endParaRPr lang="en-US" sz="1400" dirty="0">
                <a:solidFill>
                  <a:prstClr val="black"/>
                </a:solidFill>
              </a:endParaRPr>
            </a:p>
          </p:txBody>
        </p:sp>
        <p:sp>
          <p:nvSpPr>
            <p:cNvPr id="21" name="Text 18"/>
            <p:cNvSpPr/>
            <p:nvPr/>
          </p:nvSpPr>
          <p:spPr>
            <a:xfrm>
              <a:off x="2926080" y="4585716"/>
              <a:ext cx="1828800" cy="269748"/>
            </a:xfrm>
            <a:prstGeom prst="rect">
              <a:avLst/>
            </a:prstGeom>
            <a:noFill/>
            <a:ln/>
          </p:spPr>
          <p:txBody>
            <a:bodyPr wrap="square" lIns="127" tIns="127" rIns="127" bIns="127" rtlCol="0" anchor="ctr">
              <a:normAutofit lnSpcReduction="10000"/>
            </a:bodyPr>
            <a:lstStyle/>
            <a:p>
              <a:pPr algn="ctr" defTabSz="685783"/>
              <a:r>
                <a:rPr lang="en-US" sz="1400" dirty="0">
                  <a:solidFill>
                    <a:srgbClr val="1C2633"/>
                  </a:solidFill>
                  <a:ea typeface="Aptos" pitchFamily="34" charset="-122"/>
                  <a:cs typeface="Aptos" pitchFamily="34" charset="-120"/>
                </a:rPr>
                <a:t>34,241</a:t>
              </a:r>
              <a:endParaRPr lang="en-US" sz="1400" dirty="0">
                <a:solidFill>
                  <a:prstClr val="black"/>
                </a:solidFill>
              </a:endParaRPr>
            </a:p>
          </p:txBody>
        </p:sp>
        <p:sp>
          <p:nvSpPr>
            <p:cNvPr id="22" name="Text 19"/>
            <p:cNvSpPr/>
            <p:nvPr/>
          </p:nvSpPr>
          <p:spPr>
            <a:xfrm>
              <a:off x="822960" y="4928616"/>
              <a:ext cx="2011680" cy="269748"/>
            </a:xfrm>
            <a:prstGeom prst="rect">
              <a:avLst/>
            </a:prstGeom>
            <a:noFill/>
            <a:ln/>
          </p:spPr>
          <p:txBody>
            <a:bodyPr wrap="square" lIns="127" tIns="127" rIns="127" bIns="127" rtlCol="0" anchor="ctr">
              <a:normAutofit lnSpcReduction="10000"/>
            </a:bodyPr>
            <a:lstStyle/>
            <a:p>
              <a:pPr defTabSz="685783"/>
              <a:r>
                <a:rPr lang="en-US" sz="1400" dirty="0">
                  <a:solidFill>
                    <a:srgbClr val="1C2633"/>
                  </a:solidFill>
                  <a:ea typeface="Aptos" pitchFamily="34" charset="-122"/>
                  <a:cs typeface="Aptos" pitchFamily="34" charset="-120"/>
                </a:rPr>
                <a:t>Preictal</a:t>
              </a:r>
              <a:endParaRPr lang="en-US" sz="1400" dirty="0">
                <a:solidFill>
                  <a:prstClr val="black"/>
                </a:solidFill>
              </a:endParaRPr>
            </a:p>
          </p:txBody>
        </p:sp>
        <p:sp>
          <p:nvSpPr>
            <p:cNvPr id="23" name="Text 20"/>
            <p:cNvSpPr/>
            <p:nvPr/>
          </p:nvSpPr>
          <p:spPr>
            <a:xfrm>
              <a:off x="2926080" y="4928616"/>
              <a:ext cx="1828800" cy="269748"/>
            </a:xfrm>
            <a:prstGeom prst="rect">
              <a:avLst/>
            </a:prstGeom>
            <a:noFill/>
            <a:ln/>
          </p:spPr>
          <p:txBody>
            <a:bodyPr wrap="square" lIns="127" tIns="127" rIns="127" bIns="127" rtlCol="0" anchor="ctr">
              <a:normAutofit lnSpcReduction="10000"/>
            </a:bodyPr>
            <a:lstStyle/>
            <a:p>
              <a:pPr algn="ctr" defTabSz="685783"/>
              <a:r>
                <a:rPr lang="en-US" sz="1400" dirty="0">
                  <a:solidFill>
                    <a:srgbClr val="1C2633"/>
                  </a:solidFill>
                  <a:ea typeface="Aptos" pitchFamily="34" charset="-122"/>
                  <a:cs typeface="Aptos" pitchFamily="34" charset="-120"/>
                </a:rPr>
                <a:t>1,143</a:t>
              </a:r>
              <a:endParaRPr lang="en-US" sz="1400" dirty="0">
                <a:solidFill>
                  <a:prstClr val="black"/>
                </a:solidFill>
              </a:endParaRPr>
            </a:p>
          </p:txBody>
        </p:sp>
        <p:sp>
          <p:nvSpPr>
            <p:cNvPr id="24" name="Text 21"/>
            <p:cNvSpPr/>
            <p:nvPr/>
          </p:nvSpPr>
          <p:spPr>
            <a:xfrm>
              <a:off x="822960" y="5271516"/>
              <a:ext cx="2011680" cy="269748"/>
            </a:xfrm>
            <a:prstGeom prst="rect">
              <a:avLst/>
            </a:prstGeom>
            <a:noFill/>
            <a:ln/>
          </p:spPr>
          <p:txBody>
            <a:bodyPr wrap="square" lIns="127" tIns="127" rIns="127" bIns="127" rtlCol="0" anchor="ctr">
              <a:normAutofit lnSpcReduction="10000"/>
            </a:bodyPr>
            <a:lstStyle/>
            <a:p>
              <a:pPr defTabSz="685783"/>
              <a:r>
                <a:rPr lang="en-US" sz="1400" dirty="0">
                  <a:solidFill>
                    <a:srgbClr val="1C2633"/>
                  </a:solidFill>
                  <a:ea typeface="Aptos" pitchFamily="34" charset="-122"/>
                  <a:cs typeface="Aptos" pitchFamily="34" charset="-120"/>
                </a:rPr>
                <a:t>Ictal</a:t>
              </a:r>
              <a:endParaRPr lang="en-US" sz="1400" dirty="0">
                <a:solidFill>
                  <a:prstClr val="black"/>
                </a:solidFill>
              </a:endParaRPr>
            </a:p>
          </p:txBody>
        </p:sp>
        <p:sp>
          <p:nvSpPr>
            <p:cNvPr id="25" name="Text 22"/>
            <p:cNvSpPr/>
            <p:nvPr/>
          </p:nvSpPr>
          <p:spPr>
            <a:xfrm>
              <a:off x="2926080" y="5271516"/>
              <a:ext cx="1828800" cy="269748"/>
            </a:xfrm>
            <a:prstGeom prst="rect">
              <a:avLst/>
            </a:prstGeom>
            <a:noFill/>
            <a:ln/>
          </p:spPr>
          <p:txBody>
            <a:bodyPr wrap="square" lIns="127" tIns="127" rIns="127" bIns="127" rtlCol="0" anchor="ctr">
              <a:normAutofit lnSpcReduction="10000"/>
            </a:bodyPr>
            <a:lstStyle/>
            <a:p>
              <a:pPr algn="ctr" defTabSz="685783"/>
              <a:r>
                <a:rPr lang="en-US" sz="1400" dirty="0">
                  <a:solidFill>
                    <a:srgbClr val="1C2633"/>
                  </a:solidFill>
                  <a:ea typeface="Aptos" pitchFamily="34" charset="-122"/>
                  <a:cs typeface="Aptos" pitchFamily="34" charset="-120"/>
                </a:rPr>
                <a:t>295</a:t>
              </a:r>
              <a:endParaRPr lang="en-US" sz="1400" dirty="0">
                <a:solidFill>
                  <a:prstClr val="black"/>
                </a:solidFill>
              </a:endParaRPr>
            </a:p>
          </p:txBody>
        </p:sp>
      </p:grpSp>
      <p:sp>
        <p:nvSpPr>
          <p:cNvPr id="26" name="Shape 23"/>
          <p:cNvSpPr/>
          <p:nvPr/>
        </p:nvSpPr>
        <p:spPr>
          <a:xfrm>
            <a:off x="3874770" y="3257550"/>
            <a:ext cx="4491990" cy="925830"/>
          </a:xfrm>
          <a:prstGeom prst="roundRect">
            <a:avLst>
              <a:gd name="adj" fmla="val 9412"/>
            </a:avLst>
          </a:prstGeom>
          <a:solidFill>
            <a:srgbClr val="F5FAFF"/>
          </a:solidFill>
          <a:ln w="15240">
            <a:solidFill>
              <a:srgbClr val="D6E6F5"/>
            </a:solidFill>
            <a:prstDash val="solid"/>
          </a:ln>
        </p:spPr>
        <p:txBody>
          <a:bodyPr/>
          <a:lstStyle/>
          <a:p>
            <a:endParaRPr lang="en-US"/>
          </a:p>
        </p:txBody>
      </p:sp>
      <p:sp>
        <p:nvSpPr>
          <p:cNvPr id="27" name="Text 24"/>
          <p:cNvSpPr/>
          <p:nvPr/>
        </p:nvSpPr>
        <p:spPr>
          <a:xfrm>
            <a:off x="3998214" y="3339847"/>
            <a:ext cx="4245102" cy="686204"/>
          </a:xfrm>
          <a:prstGeom prst="rect">
            <a:avLst/>
          </a:prstGeom>
          <a:noFill/>
          <a:ln/>
        </p:spPr>
        <p:txBody>
          <a:bodyPr wrap="square" lIns="191" tIns="191" rIns="191" bIns="191" rtlCol="0" anchor="ctr">
            <a:normAutofit/>
          </a:bodyPr>
          <a:lstStyle/>
          <a:p>
            <a:pPr defTabSz="685783">
              <a:lnSpc>
                <a:spcPct val="150000"/>
              </a:lnSpc>
            </a:pPr>
            <a:r>
              <a:rPr lang="en-US" sz="1400" b="1" dirty="0">
                <a:solidFill>
                  <a:srgbClr val="1C2633"/>
                </a:solidFill>
              </a:rPr>
              <a:t>The data are highly imbalanced: ictal windows are less than 1% of the extracted windows.</a:t>
            </a:r>
            <a:endParaRPr lang="en-US" sz="1400" dirty="0">
              <a:solidFill>
                <a:prstClr val="black"/>
              </a:solidFill>
            </a:endParaRPr>
          </a:p>
        </p:txBody>
      </p:sp>
    </p:spTree>
    <p:extLst>
      <p:ext uri="{BB962C8B-B14F-4D97-AF65-F5344CB8AC3E}">
        <p14:creationId xmlns:p14="http://schemas.microsoft.com/office/powerpoint/2010/main" val="1799295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Label design: detection, not prediction</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Data Pipeline</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13</a:t>
            </a:r>
            <a:endParaRPr lang="en-US" sz="1200" dirty="0">
              <a:solidFill>
                <a:prstClr val="black"/>
              </a:solidFill>
            </a:endParaRPr>
          </a:p>
        </p:txBody>
      </p:sp>
      <p:sp>
        <p:nvSpPr>
          <p:cNvPr id="8" name="Shape 6"/>
          <p:cNvSpPr/>
          <p:nvPr/>
        </p:nvSpPr>
        <p:spPr>
          <a:xfrm>
            <a:off x="720090" y="857250"/>
            <a:ext cx="7680960" cy="548640"/>
          </a:xfrm>
          <a:prstGeom prst="roundRect">
            <a:avLst>
              <a:gd name="adj" fmla="val 10000"/>
            </a:avLst>
          </a:prstGeom>
          <a:solidFill>
            <a:srgbClr val="EAF4FF"/>
          </a:solidFill>
          <a:ln w="15240">
            <a:solidFill>
              <a:srgbClr val="D6E6F5"/>
            </a:solidFill>
            <a:prstDash val="solid"/>
          </a:ln>
        </p:spPr>
        <p:txBody>
          <a:bodyPr/>
          <a:lstStyle/>
          <a:p>
            <a:endParaRPr lang="en-US"/>
          </a:p>
        </p:txBody>
      </p:sp>
      <p:sp>
        <p:nvSpPr>
          <p:cNvPr id="9" name="Text 7"/>
          <p:cNvSpPr/>
          <p:nvPr/>
        </p:nvSpPr>
        <p:spPr>
          <a:xfrm>
            <a:off x="843534" y="939546"/>
            <a:ext cx="7434072" cy="397764"/>
          </a:xfrm>
          <a:prstGeom prst="rect">
            <a:avLst/>
          </a:prstGeom>
          <a:noFill/>
          <a:ln/>
        </p:spPr>
        <p:txBody>
          <a:bodyPr wrap="square" lIns="191" tIns="191" rIns="191" bIns="191" rtlCol="0" anchor="ctr">
            <a:normAutofit/>
          </a:bodyPr>
          <a:lstStyle/>
          <a:p>
            <a:pPr defTabSz="685783"/>
            <a:r>
              <a:rPr lang="en-US" sz="1700" b="1" dirty="0">
                <a:solidFill>
                  <a:srgbClr val="1C2633"/>
                </a:solidFill>
              </a:rPr>
              <a:t>y = 1  if a window overlaps an annotated ictal interval</a:t>
            </a:r>
            <a:endParaRPr lang="en-US" sz="1700" dirty="0">
              <a:solidFill>
                <a:prstClr val="black"/>
              </a:solidFill>
            </a:endParaRPr>
          </a:p>
        </p:txBody>
      </p:sp>
      <p:sp>
        <p:nvSpPr>
          <p:cNvPr id="10" name="Shape 8"/>
          <p:cNvSpPr/>
          <p:nvPr/>
        </p:nvSpPr>
        <p:spPr>
          <a:xfrm>
            <a:off x="720090" y="1543050"/>
            <a:ext cx="7680960" cy="548640"/>
          </a:xfrm>
          <a:prstGeom prst="roundRect">
            <a:avLst>
              <a:gd name="adj" fmla="val 10000"/>
            </a:avLst>
          </a:prstGeom>
          <a:solidFill>
            <a:srgbClr val="FFFFFF"/>
          </a:solidFill>
          <a:ln w="15240">
            <a:solidFill>
              <a:srgbClr val="1F77B4"/>
            </a:solidFill>
            <a:prstDash val="solid"/>
          </a:ln>
        </p:spPr>
        <p:txBody>
          <a:bodyPr/>
          <a:lstStyle/>
          <a:p>
            <a:endParaRPr lang="en-US"/>
          </a:p>
        </p:txBody>
      </p:sp>
      <p:sp>
        <p:nvSpPr>
          <p:cNvPr id="11" name="Text 9"/>
          <p:cNvSpPr/>
          <p:nvPr/>
        </p:nvSpPr>
        <p:spPr>
          <a:xfrm>
            <a:off x="843534" y="1625346"/>
            <a:ext cx="7434072" cy="397764"/>
          </a:xfrm>
          <a:prstGeom prst="rect">
            <a:avLst/>
          </a:prstGeom>
          <a:noFill/>
          <a:ln/>
        </p:spPr>
        <p:txBody>
          <a:bodyPr wrap="square" lIns="191" tIns="191" rIns="191" bIns="191" rtlCol="0" anchor="ctr">
            <a:normAutofit/>
          </a:bodyPr>
          <a:lstStyle/>
          <a:p>
            <a:pPr defTabSz="685783"/>
            <a:r>
              <a:rPr lang="en-US" sz="1700" b="1" dirty="0">
                <a:solidFill>
                  <a:srgbClr val="1C2633"/>
                </a:solidFill>
              </a:rPr>
              <a:t>y = 0  for baseline and preictal windows</a:t>
            </a:r>
            <a:endParaRPr lang="en-US" sz="1700" dirty="0">
              <a:solidFill>
                <a:prstClr val="black"/>
              </a:solidFill>
            </a:endParaRPr>
          </a:p>
        </p:txBody>
      </p:sp>
      <p:sp>
        <p:nvSpPr>
          <p:cNvPr id="12" name="Text 10"/>
          <p:cNvSpPr/>
          <p:nvPr/>
        </p:nvSpPr>
        <p:spPr>
          <a:xfrm>
            <a:off x="617220" y="2503170"/>
            <a:ext cx="3086100" cy="240030"/>
          </a:xfrm>
          <a:prstGeom prst="rect">
            <a:avLst/>
          </a:prstGeom>
          <a:noFill/>
          <a:ln/>
        </p:spPr>
        <p:txBody>
          <a:bodyPr wrap="square" lIns="0" tIns="0" rIns="0" bIns="0" rtlCol="0" anchor="ctr"/>
          <a:lstStyle/>
          <a:p>
            <a:pPr defTabSz="685783"/>
            <a:r>
              <a:rPr lang="en-US" b="1" dirty="0">
                <a:solidFill>
                  <a:srgbClr val="0B2A4A"/>
                </a:solidFill>
              </a:rPr>
              <a:t>Important framing</a:t>
            </a:r>
            <a:endParaRPr lang="en-US" dirty="0">
              <a:solidFill>
                <a:prstClr val="black"/>
              </a:solidFill>
            </a:endParaRPr>
          </a:p>
        </p:txBody>
      </p:sp>
      <p:sp>
        <p:nvSpPr>
          <p:cNvPr id="13" name="Text 11"/>
          <p:cNvSpPr/>
          <p:nvPr/>
        </p:nvSpPr>
        <p:spPr>
          <a:xfrm>
            <a:off x="651510" y="2846071"/>
            <a:ext cx="4800600" cy="1654493"/>
          </a:xfrm>
          <a:prstGeom prst="rect">
            <a:avLst/>
          </a:prstGeom>
          <a:noFill/>
          <a:ln/>
        </p:spPr>
        <p:txBody>
          <a:bodyPr wrap="square" lIns="572" tIns="572" rIns="572" bIns="572" rtlCol="0" anchor="t">
            <a:normAutofit fontScale="92500"/>
          </a:bodyPr>
          <a:lstStyle/>
          <a:p>
            <a:pPr defTabSz="685783">
              <a:lnSpc>
                <a:spcPct val="150000"/>
              </a:lnSpc>
            </a:pPr>
            <a:r>
              <a:rPr lang="en-US" sz="1400" dirty="0">
                <a:solidFill>
                  <a:srgbClr val="1C2633"/>
                </a:solidFill>
                <a:ea typeface="Aptos" pitchFamily="34" charset="-122"/>
                <a:cs typeface="Aptos" pitchFamily="34" charset="-120"/>
              </a:rPr>
              <a:t>• The classifier detects seizure-overlapping windows.</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Preictal windows are included for descriptive context.</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Preictal windows are treated as negative examples during training.</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Therefore, this is not a validated seizure early-warning system.</a:t>
            </a:r>
            <a:endParaRPr lang="en-US" sz="1400" dirty="0">
              <a:solidFill>
                <a:prstClr val="black"/>
              </a:solidFill>
            </a:endParaRPr>
          </a:p>
        </p:txBody>
      </p:sp>
      <p:sp>
        <p:nvSpPr>
          <p:cNvPr id="14" name="Shape 12"/>
          <p:cNvSpPr/>
          <p:nvPr/>
        </p:nvSpPr>
        <p:spPr>
          <a:xfrm>
            <a:off x="5760720" y="2914650"/>
            <a:ext cx="2674620" cy="1485900"/>
          </a:xfrm>
          <a:prstGeom prst="roundRect">
            <a:avLst>
              <a:gd name="adj" fmla="val 6400"/>
            </a:avLst>
          </a:prstGeom>
          <a:solidFill>
            <a:srgbClr val="F5FAFF"/>
          </a:solidFill>
          <a:ln w="15240">
            <a:solidFill>
              <a:srgbClr val="D6E6F5"/>
            </a:solidFill>
            <a:prstDash val="solid"/>
          </a:ln>
        </p:spPr>
        <p:txBody>
          <a:bodyPr/>
          <a:lstStyle/>
          <a:p>
            <a:endParaRPr lang="en-US"/>
          </a:p>
        </p:txBody>
      </p:sp>
      <p:sp>
        <p:nvSpPr>
          <p:cNvPr id="15" name="Text 13"/>
          <p:cNvSpPr/>
          <p:nvPr/>
        </p:nvSpPr>
        <p:spPr>
          <a:xfrm>
            <a:off x="5884164" y="2996946"/>
            <a:ext cx="2427732" cy="1224382"/>
          </a:xfrm>
          <a:prstGeom prst="rect">
            <a:avLst/>
          </a:prstGeom>
          <a:noFill/>
          <a:ln/>
        </p:spPr>
        <p:txBody>
          <a:bodyPr wrap="square" lIns="191" tIns="191" rIns="191" bIns="191" rtlCol="0" anchor="ctr">
            <a:normAutofit/>
          </a:bodyPr>
          <a:lstStyle/>
          <a:p>
            <a:pPr defTabSz="685783">
              <a:lnSpc>
                <a:spcPct val="150000"/>
              </a:lnSpc>
            </a:pPr>
            <a:r>
              <a:rPr lang="en-US" sz="1400" b="1" dirty="0">
                <a:solidFill>
                  <a:srgbClr val="1C2633"/>
                </a:solidFill>
              </a:rPr>
              <a:t>“ictal-window detection” rather than “seizure prediction.”</a:t>
            </a:r>
            <a:endParaRPr lang="en-US" sz="1400" dirty="0">
              <a:solidFill>
                <a:prstClr val="black"/>
              </a:solidFill>
            </a:endParaRPr>
          </a:p>
        </p:txBody>
      </p:sp>
    </p:spTree>
    <p:extLst>
      <p:ext uri="{BB962C8B-B14F-4D97-AF65-F5344CB8AC3E}">
        <p14:creationId xmlns:p14="http://schemas.microsoft.com/office/powerpoint/2010/main" val="1200025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Feature extraction</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Data Pipeline</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14</a:t>
            </a:r>
            <a:endParaRPr lang="en-US" sz="1200" dirty="0">
              <a:solidFill>
                <a:prstClr val="black"/>
              </a:solidFill>
            </a:endParaRPr>
          </a:p>
        </p:txBody>
      </p:sp>
      <p:sp>
        <p:nvSpPr>
          <p:cNvPr id="8" name="Text 6"/>
          <p:cNvSpPr/>
          <p:nvPr/>
        </p:nvSpPr>
        <p:spPr>
          <a:xfrm>
            <a:off x="548640" y="857250"/>
            <a:ext cx="1028700" cy="192024"/>
          </a:xfrm>
          <a:prstGeom prst="rect">
            <a:avLst/>
          </a:prstGeom>
          <a:noFill/>
          <a:ln/>
        </p:spPr>
        <p:txBody>
          <a:bodyPr wrap="square" lIns="0" tIns="0" rIns="0" bIns="0" rtlCol="0" anchor="ctr"/>
          <a:lstStyle/>
          <a:p>
            <a:pPr defTabSz="685783"/>
            <a:r>
              <a:rPr lang="en-US" sz="1600" b="1" dirty="0">
                <a:solidFill>
                  <a:srgbClr val="1F77B4"/>
                </a:solidFill>
              </a:rPr>
              <a:t>INPUT</a:t>
            </a:r>
            <a:endParaRPr lang="en-US" sz="1600" dirty="0">
              <a:solidFill>
                <a:prstClr val="black"/>
              </a:solidFill>
            </a:endParaRPr>
          </a:p>
        </p:txBody>
      </p:sp>
      <p:sp>
        <p:nvSpPr>
          <p:cNvPr id="9" name="Shape 7"/>
          <p:cNvSpPr/>
          <p:nvPr/>
        </p:nvSpPr>
        <p:spPr>
          <a:xfrm>
            <a:off x="548640" y="1165860"/>
            <a:ext cx="4183380" cy="925830"/>
          </a:xfrm>
          <a:prstGeom prst="roundRect">
            <a:avLst>
              <a:gd name="adj" fmla="val 8000"/>
            </a:avLst>
          </a:prstGeom>
          <a:solidFill>
            <a:srgbClr val="EAF4FF"/>
          </a:solidFill>
          <a:ln w="15240">
            <a:solidFill>
              <a:srgbClr val="D6E6F5"/>
            </a:solidFill>
            <a:prstDash val="solid"/>
          </a:ln>
        </p:spPr>
        <p:txBody>
          <a:bodyPr/>
          <a:lstStyle/>
          <a:p>
            <a:endParaRPr lang="en-US"/>
          </a:p>
        </p:txBody>
      </p:sp>
      <p:sp>
        <p:nvSpPr>
          <p:cNvPr id="10" name="Text 8"/>
          <p:cNvSpPr/>
          <p:nvPr/>
        </p:nvSpPr>
        <p:spPr>
          <a:xfrm>
            <a:off x="672084" y="1248156"/>
            <a:ext cx="2839212" cy="534924"/>
          </a:xfrm>
          <a:prstGeom prst="rect">
            <a:avLst/>
          </a:prstGeom>
          <a:noFill/>
          <a:ln/>
        </p:spPr>
        <p:txBody>
          <a:bodyPr wrap="square" lIns="191" tIns="191" rIns="191" bIns="191" rtlCol="0" anchor="ctr">
            <a:normAutofit fontScale="92500"/>
          </a:bodyPr>
          <a:lstStyle/>
          <a:p>
            <a:pPr defTabSz="685783"/>
            <a:r>
              <a:rPr lang="en-US" sz="1400" b="1" dirty="0">
                <a:solidFill>
                  <a:srgbClr val="1C2633"/>
                </a:solidFill>
              </a:rPr>
              <a:t>8 bipolar EEG channels</a:t>
            </a:r>
            <a:endParaRPr lang="en-US" sz="1400" dirty="0">
              <a:solidFill>
                <a:prstClr val="black"/>
              </a:solidFill>
            </a:endParaRPr>
          </a:p>
          <a:p>
            <a:pPr defTabSz="685783"/>
            <a:r>
              <a:rPr lang="en-US" sz="1400" b="1" dirty="0">
                <a:solidFill>
                  <a:srgbClr val="1C2633"/>
                </a:solidFill>
              </a:rPr>
              <a:t>5-second non-overlapping windows</a:t>
            </a:r>
            <a:endParaRPr lang="en-US" sz="1400" dirty="0">
              <a:solidFill>
                <a:prstClr val="black"/>
              </a:solidFill>
            </a:endParaRPr>
          </a:p>
        </p:txBody>
      </p:sp>
      <p:sp>
        <p:nvSpPr>
          <p:cNvPr id="11" name="Text 9"/>
          <p:cNvSpPr/>
          <p:nvPr/>
        </p:nvSpPr>
        <p:spPr>
          <a:xfrm>
            <a:off x="548640" y="2338556"/>
            <a:ext cx="1783080" cy="192024"/>
          </a:xfrm>
          <a:prstGeom prst="rect">
            <a:avLst/>
          </a:prstGeom>
          <a:noFill/>
          <a:ln/>
        </p:spPr>
        <p:txBody>
          <a:bodyPr wrap="square" lIns="0" tIns="0" rIns="0" bIns="0" rtlCol="0" anchor="ctr"/>
          <a:lstStyle/>
          <a:p>
            <a:pPr defTabSz="685783"/>
            <a:r>
              <a:rPr lang="en-US" sz="1600" b="1" dirty="0">
                <a:solidFill>
                  <a:srgbClr val="1F77B4"/>
                </a:solidFill>
              </a:rPr>
              <a:t>FEATURE FAMILIES</a:t>
            </a:r>
            <a:endParaRPr lang="en-US" sz="1600" dirty="0">
              <a:solidFill>
                <a:prstClr val="black"/>
              </a:solidFill>
            </a:endParaRPr>
          </a:p>
        </p:txBody>
      </p:sp>
      <p:grpSp>
        <p:nvGrpSpPr>
          <p:cNvPr id="32" name="组合 31"/>
          <p:cNvGrpSpPr/>
          <p:nvPr/>
        </p:nvGrpSpPr>
        <p:grpSpPr>
          <a:xfrm>
            <a:off x="548640" y="2647166"/>
            <a:ext cx="4217670" cy="1508760"/>
            <a:chOff x="731520" y="3200400"/>
            <a:chExt cx="5623560" cy="2011680"/>
          </a:xfrm>
        </p:grpSpPr>
        <p:sp>
          <p:nvSpPr>
            <p:cNvPr id="12" name="Shape 10"/>
            <p:cNvSpPr/>
            <p:nvPr/>
          </p:nvSpPr>
          <p:spPr>
            <a:xfrm>
              <a:off x="731520" y="3200400"/>
              <a:ext cx="5623560" cy="402336"/>
            </a:xfrm>
            <a:prstGeom prst="rect">
              <a:avLst/>
            </a:prstGeom>
            <a:solidFill>
              <a:srgbClr val="1F77B4"/>
            </a:solidFill>
            <a:ln w="12700">
              <a:solidFill>
                <a:srgbClr val="1F77B4"/>
              </a:solidFill>
              <a:prstDash val="solid"/>
            </a:ln>
          </p:spPr>
          <p:txBody>
            <a:bodyPr/>
            <a:lstStyle/>
            <a:p>
              <a:endParaRPr lang="en-US"/>
            </a:p>
          </p:txBody>
        </p:sp>
        <p:sp>
          <p:nvSpPr>
            <p:cNvPr id="13" name="Shape 11"/>
            <p:cNvSpPr/>
            <p:nvPr/>
          </p:nvSpPr>
          <p:spPr>
            <a:xfrm>
              <a:off x="731520" y="3200400"/>
              <a:ext cx="5623560" cy="2011680"/>
            </a:xfrm>
            <a:prstGeom prst="rect">
              <a:avLst/>
            </a:prstGeom>
            <a:solidFill>
              <a:srgbClr val="FFFFFF">
                <a:alpha val="0"/>
              </a:srgbClr>
            </a:solidFill>
            <a:ln w="12700">
              <a:solidFill>
                <a:srgbClr val="D6E6F5"/>
              </a:solidFill>
              <a:prstDash val="solid"/>
            </a:ln>
          </p:spPr>
          <p:txBody>
            <a:bodyPr/>
            <a:lstStyle/>
            <a:p>
              <a:endParaRPr lang="en-US"/>
            </a:p>
          </p:txBody>
        </p:sp>
        <p:sp>
          <p:nvSpPr>
            <p:cNvPr id="14" name="Shape 12"/>
            <p:cNvSpPr/>
            <p:nvPr/>
          </p:nvSpPr>
          <p:spPr>
            <a:xfrm>
              <a:off x="731520" y="3602736"/>
              <a:ext cx="5623560" cy="0"/>
            </a:xfrm>
            <a:prstGeom prst="line">
              <a:avLst/>
            </a:prstGeom>
            <a:noFill/>
            <a:ln w="10160">
              <a:solidFill>
                <a:srgbClr val="D6E6F5"/>
              </a:solidFill>
              <a:prstDash val="solid"/>
            </a:ln>
          </p:spPr>
          <p:txBody>
            <a:bodyPr/>
            <a:lstStyle/>
            <a:p>
              <a:endParaRPr lang="en-US"/>
            </a:p>
          </p:txBody>
        </p:sp>
        <p:sp>
          <p:nvSpPr>
            <p:cNvPr id="15" name="Shape 13"/>
            <p:cNvSpPr/>
            <p:nvPr/>
          </p:nvSpPr>
          <p:spPr>
            <a:xfrm>
              <a:off x="731520" y="4005072"/>
              <a:ext cx="5623560" cy="0"/>
            </a:xfrm>
            <a:prstGeom prst="line">
              <a:avLst/>
            </a:prstGeom>
            <a:noFill/>
            <a:ln w="10160">
              <a:solidFill>
                <a:srgbClr val="D6E6F5"/>
              </a:solidFill>
              <a:prstDash val="solid"/>
            </a:ln>
          </p:spPr>
          <p:txBody>
            <a:bodyPr/>
            <a:lstStyle/>
            <a:p>
              <a:endParaRPr lang="en-US"/>
            </a:p>
          </p:txBody>
        </p:sp>
        <p:sp>
          <p:nvSpPr>
            <p:cNvPr id="16" name="Shape 14"/>
            <p:cNvSpPr/>
            <p:nvPr/>
          </p:nvSpPr>
          <p:spPr>
            <a:xfrm>
              <a:off x="731520" y="4407408"/>
              <a:ext cx="5623560" cy="0"/>
            </a:xfrm>
            <a:prstGeom prst="line">
              <a:avLst/>
            </a:prstGeom>
            <a:noFill/>
            <a:ln w="10160">
              <a:solidFill>
                <a:srgbClr val="D6E6F5"/>
              </a:solidFill>
              <a:prstDash val="solid"/>
            </a:ln>
          </p:spPr>
          <p:txBody>
            <a:bodyPr/>
            <a:lstStyle/>
            <a:p>
              <a:endParaRPr lang="en-US"/>
            </a:p>
          </p:txBody>
        </p:sp>
        <p:sp>
          <p:nvSpPr>
            <p:cNvPr id="17" name="Shape 15"/>
            <p:cNvSpPr/>
            <p:nvPr/>
          </p:nvSpPr>
          <p:spPr>
            <a:xfrm>
              <a:off x="731520" y="4809744"/>
              <a:ext cx="5623560" cy="0"/>
            </a:xfrm>
            <a:prstGeom prst="line">
              <a:avLst/>
            </a:prstGeom>
            <a:noFill/>
            <a:ln w="10160">
              <a:solidFill>
                <a:srgbClr val="D6E6F5"/>
              </a:solidFill>
              <a:prstDash val="solid"/>
            </a:ln>
          </p:spPr>
          <p:txBody>
            <a:bodyPr/>
            <a:lstStyle/>
            <a:p>
              <a:endParaRPr lang="en-US"/>
            </a:p>
          </p:txBody>
        </p:sp>
        <p:sp>
          <p:nvSpPr>
            <p:cNvPr id="18" name="Shape 16"/>
            <p:cNvSpPr/>
            <p:nvPr/>
          </p:nvSpPr>
          <p:spPr>
            <a:xfrm>
              <a:off x="2651760" y="3200400"/>
              <a:ext cx="0" cy="2011680"/>
            </a:xfrm>
            <a:prstGeom prst="line">
              <a:avLst/>
            </a:prstGeom>
            <a:noFill/>
            <a:ln w="10160">
              <a:solidFill>
                <a:srgbClr val="D6E6F5"/>
              </a:solidFill>
              <a:prstDash val="solid"/>
            </a:ln>
          </p:spPr>
          <p:txBody>
            <a:bodyPr/>
            <a:lstStyle/>
            <a:p>
              <a:endParaRPr lang="en-US"/>
            </a:p>
          </p:txBody>
        </p:sp>
        <p:sp>
          <p:nvSpPr>
            <p:cNvPr id="19" name="Text 17"/>
            <p:cNvSpPr/>
            <p:nvPr/>
          </p:nvSpPr>
          <p:spPr>
            <a:xfrm>
              <a:off x="777240" y="3236976"/>
              <a:ext cx="1828800" cy="329184"/>
            </a:xfrm>
            <a:prstGeom prst="rect">
              <a:avLst/>
            </a:prstGeom>
            <a:noFill/>
            <a:ln/>
          </p:spPr>
          <p:txBody>
            <a:bodyPr wrap="square" lIns="127" tIns="127" rIns="127" bIns="127" rtlCol="0" anchor="ctr">
              <a:normAutofit/>
            </a:bodyPr>
            <a:lstStyle/>
            <a:p>
              <a:pPr defTabSz="685783"/>
              <a:r>
                <a:rPr lang="en-US" sz="1300" b="1" dirty="0">
                  <a:solidFill>
                    <a:srgbClr val="FFFFFF"/>
                  </a:solidFill>
                  <a:ea typeface="Aptos" pitchFamily="34" charset="-122"/>
                  <a:cs typeface="Aptos" pitchFamily="34" charset="-120"/>
                </a:rPr>
                <a:t>Family</a:t>
              </a:r>
              <a:endParaRPr lang="en-US" sz="1300" dirty="0">
                <a:solidFill>
                  <a:prstClr val="black"/>
                </a:solidFill>
              </a:endParaRPr>
            </a:p>
          </p:txBody>
        </p:sp>
        <p:sp>
          <p:nvSpPr>
            <p:cNvPr id="20" name="Text 18"/>
            <p:cNvSpPr/>
            <p:nvPr/>
          </p:nvSpPr>
          <p:spPr>
            <a:xfrm>
              <a:off x="2697480" y="3236976"/>
              <a:ext cx="3611880" cy="329184"/>
            </a:xfrm>
            <a:prstGeom prst="rect">
              <a:avLst/>
            </a:prstGeom>
            <a:noFill/>
            <a:ln/>
          </p:spPr>
          <p:txBody>
            <a:bodyPr wrap="square" lIns="127" tIns="127" rIns="127" bIns="127" rtlCol="0" anchor="ctr">
              <a:normAutofit/>
            </a:bodyPr>
            <a:lstStyle/>
            <a:p>
              <a:pPr algn="ctr" defTabSz="685783"/>
              <a:r>
                <a:rPr lang="en-US" sz="1300" b="1" dirty="0">
                  <a:solidFill>
                    <a:srgbClr val="FFFFFF"/>
                  </a:solidFill>
                  <a:ea typeface="Aptos" pitchFamily="34" charset="-122"/>
                  <a:cs typeface="Aptos" pitchFamily="34" charset="-120"/>
                </a:rPr>
                <a:t>Examples</a:t>
              </a:r>
              <a:endParaRPr lang="en-US" sz="1300" dirty="0">
                <a:solidFill>
                  <a:prstClr val="black"/>
                </a:solidFill>
              </a:endParaRPr>
            </a:p>
          </p:txBody>
        </p:sp>
        <p:sp>
          <p:nvSpPr>
            <p:cNvPr id="21" name="Text 19"/>
            <p:cNvSpPr/>
            <p:nvPr/>
          </p:nvSpPr>
          <p:spPr>
            <a:xfrm>
              <a:off x="777240" y="3639312"/>
              <a:ext cx="1828800" cy="329184"/>
            </a:xfrm>
            <a:prstGeom prst="rect">
              <a:avLst/>
            </a:prstGeom>
            <a:noFill/>
            <a:ln/>
          </p:spPr>
          <p:txBody>
            <a:bodyPr wrap="square" lIns="127" tIns="127" rIns="127" bIns="127" rtlCol="0" anchor="ctr">
              <a:normAutofit/>
            </a:bodyPr>
            <a:lstStyle/>
            <a:p>
              <a:pPr defTabSz="685783"/>
              <a:r>
                <a:rPr lang="en-US" sz="1300" dirty="0">
                  <a:solidFill>
                    <a:srgbClr val="1C2633"/>
                  </a:solidFill>
                  <a:ea typeface="Aptos" pitchFamily="34" charset="-122"/>
                  <a:cs typeface="Aptos" pitchFamily="34" charset="-120"/>
                </a:rPr>
                <a:t>Amplitude</a:t>
              </a:r>
              <a:endParaRPr lang="en-US" sz="1300" dirty="0">
                <a:solidFill>
                  <a:prstClr val="black"/>
                </a:solidFill>
              </a:endParaRPr>
            </a:p>
          </p:txBody>
        </p:sp>
        <p:sp>
          <p:nvSpPr>
            <p:cNvPr id="22" name="Text 20"/>
            <p:cNvSpPr/>
            <p:nvPr/>
          </p:nvSpPr>
          <p:spPr>
            <a:xfrm>
              <a:off x="2697480" y="3639312"/>
              <a:ext cx="3611880" cy="329184"/>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RMS, line length</a:t>
              </a:r>
              <a:endParaRPr lang="en-US" sz="1300" dirty="0">
                <a:solidFill>
                  <a:prstClr val="black"/>
                </a:solidFill>
              </a:endParaRPr>
            </a:p>
          </p:txBody>
        </p:sp>
        <p:sp>
          <p:nvSpPr>
            <p:cNvPr id="23" name="Text 21"/>
            <p:cNvSpPr/>
            <p:nvPr/>
          </p:nvSpPr>
          <p:spPr>
            <a:xfrm>
              <a:off x="777240" y="4041648"/>
              <a:ext cx="1828800" cy="329184"/>
            </a:xfrm>
            <a:prstGeom prst="rect">
              <a:avLst/>
            </a:prstGeom>
            <a:noFill/>
            <a:ln/>
          </p:spPr>
          <p:txBody>
            <a:bodyPr wrap="square" lIns="127" tIns="127" rIns="127" bIns="127" rtlCol="0" anchor="ctr">
              <a:normAutofit/>
            </a:bodyPr>
            <a:lstStyle/>
            <a:p>
              <a:pPr defTabSz="685783"/>
              <a:r>
                <a:rPr lang="en-US" sz="1300" dirty="0">
                  <a:solidFill>
                    <a:srgbClr val="1C2633"/>
                  </a:solidFill>
                  <a:ea typeface="Aptos" pitchFamily="34" charset="-122"/>
                  <a:cs typeface="Aptos" pitchFamily="34" charset="-120"/>
                </a:rPr>
                <a:t>Spectral power</a:t>
              </a:r>
              <a:endParaRPr lang="en-US" sz="1300" dirty="0">
                <a:solidFill>
                  <a:prstClr val="black"/>
                </a:solidFill>
              </a:endParaRPr>
            </a:p>
          </p:txBody>
        </p:sp>
        <p:sp>
          <p:nvSpPr>
            <p:cNvPr id="24" name="Text 22"/>
            <p:cNvSpPr/>
            <p:nvPr/>
          </p:nvSpPr>
          <p:spPr>
            <a:xfrm>
              <a:off x="2697480" y="4041648"/>
              <a:ext cx="3611880" cy="329184"/>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delta, theta, alpha, beta power</a:t>
              </a:r>
              <a:endParaRPr lang="en-US" sz="1300" dirty="0">
                <a:solidFill>
                  <a:prstClr val="black"/>
                </a:solidFill>
              </a:endParaRPr>
            </a:p>
          </p:txBody>
        </p:sp>
        <p:sp>
          <p:nvSpPr>
            <p:cNvPr id="25" name="Text 23"/>
            <p:cNvSpPr/>
            <p:nvPr/>
          </p:nvSpPr>
          <p:spPr>
            <a:xfrm>
              <a:off x="777240" y="4443984"/>
              <a:ext cx="1828800" cy="329184"/>
            </a:xfrm>
            <a:prstGeom prst="rect">
              <a:avLst/>
            </a:prstGeom>
            <a:noFill/>
            <a:ln/>
          </p:spPr>
          <p:txBody>
            <a:bodyPr wrap="square" lIns="127" tIns="127" rIns="127" bIns="127" rtlCol="0" anchor="ctr">
              <a:normAutofit/>
            </a:bodyPr>
            <a:lstStyle/>
            <a:p>
              <a:pPr defTabSz="685783"/>
              <a:r>
                <a:rPr lang="en-US" sz="1300" dirty="0">
                  <a:solidFill>
                    <a:srgbClr val="1C2633"/>
                  </a:solidFill>
                  <a:ea typeface="Aptos" pitchFamily="34" charset="-122"/>
                  <a:cs typeface="Aptos" pitchFamily="34" charset="-120"/>
                </a:rPr>
                <a:t>Complexity</a:t>
              </a:r>
              <a:endParaRPr lang="en-US" sz="1300" dirty="0">
                <a:solidFill>
                  <a:prstClr val="black"/>
                </a:solidFill>
              </a:endParaRPr>
            </a:p>
          </p:txBody>
        </p:sp>
        <p:sp>
          <p:nvSpPr>
            <p:cNvPr id="26" name="Text 24"/>
            <p:cNvSpPr/>
            <p:nvPr/>
          </p:nvSpPr>
          <p:spPr>
            <a:xfrm>
              <a:off x="2697480" y="4443984"/>
              <a:ext cx="3611880" cy="329184"/>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entropy, Hjorth mobility/complexity</a:t>
              </a:r>
              <a:endParaRPr lang="en-US" sz="1300" dirty="0">
                <a:solidFill>
                  <a:prstClr val="black"/>
                </a:solidFill>
              </a:endParaRPr>
            </a:p>
          </p:txBody>
        </p:sp>
        <p:sp>
          <p:nvSpPr>
            <p:cNvPr id="27" name="Text 25"/>
            <p:cNvSpPr/>
            <p:nvPr/>
          </p:nvSpPr>
          <p:spPr>
            <a:xfrm>
              <a:off x="777240" y="4846320"/>
              <a:ext cx="1828800" cy="329184"/>
            </a:xfrm>
            <a:prstGeom prst="rect">
              <a:avLst/>
            </a:prstGeom>
            <a:noFill/>
            <a:ln/>
          </p:spPr>
          <p:txBody>
            <a:bodyPr wrap="square" lIns="127" tIns="127" rIns="127" bIns="127" rtlCol="0" anchor="ctr">
              <a:normAutofit fontScale="92500"/>
            </a:bodyPr>
            <a:lstStyle/>
            <a:p>
              <a:pPr defTabSz="685783"/>
              <a:r>
                <a:rPr lang="en-US" sz="1300" dirty="0">
                  <a:solidFill>
                    <a:srgbClr val="1C2633"/>
                  </a:solidFill>
                  <a:ea typeface="Aptos" pitchFamily="34" charset="-122"/>
                  <a:cs typeface="Aptos" pitchFamily="34" charset="-120"/>
                </a:rPr>
                <a:t>Channel summaries</a:t>
              </a:r>
              <a:endParaRPr lang="en-US" sz="1300" dirty="0">
                <a:solidFill>
                  <a:prstClr val="black"/>
                </a:solidFill>
              </a:endParaRPr>
            </a:p>
          </p:txBody>
        </p:sp>
        <p:sp>
          <p:nvSpPr>
            <p:cNvPr id="28" name="Text 26"/>
            <p:cNvSpPr/>
            <p:nvPr/>
          </p:nvSpPr>
          <p:spPr>
            <a:xfrm>
              <a:off x="2697480" y="4846320"/>
              <a:ext cx="3611880" cy="329184"/>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mean and maximum across channels</a:t>
              </a:r>
              <a:endParaRPr lang="en-US" sz="1300" dirty="0">
                <a:solidFill>
                  <a:prstClr val="black"/>
                </a:solidFill>
              </a:endParaRPr>
            </a:p>
          </p:txBody>
        </p:sp>
      </p:grpSp>
      <p:sp>
        <p:nvSpPr>
          <p:cNvPr id="29" name="Shape 27"/>
          <p:cNvSpPr/>
          <p:nvPr/>
        </p:nvSpPr>
        <p:spPr>
          <a:xfrm>
            <a:off x="5177790" y="1165860"/>
            <a:ext cx="3498666" cy="925830"/>
          </a:xfrm>
          <a:prstGeom prst="roundRect">
            <a:avLst>
              <a:gd name="adj" fmla="val 5926"/>
            </a:avLst>
          </a:prstGeom>
          <a:solidFill>
            <a:srgbClr val="F5FAFF"/>
          </a:solidFill>
          <a:ln w="15240">
            <a:solidFill>
              <a:srgbClr val="D6E6F5"/>
            </a:solidFill>
            <a:prstDash val="solid"/>
          </a:ln>
        </p:spPr>
        <p:txBody>
          <a:bodyPr/>
          <a:lstStyle/>
          <a:p>
            <a:endParaRPr lang="en-US"/>
          </a:p>
        </p:txBody>
      </p:sp>
      <p:sp>
        <p:nvSpPr>
          <p:cNvPr id="30" name="Text 28"/>
          <p:cNvSpPr/>
          <p:nvPr/>
        </p:nvSpPr>
        <p:spPr>
          <a:xfrm>
            <a:off x="5301234" y="1248156"/>
            <a:ext cx="2942082" cy="774954"/>
          </a:xfrm>
          <a:prstGeom prst="rect">
            <a:avLst/>
          </a:prstGeom>
          <a:noFill/>
          <a:ln/>
        </p:spPr>
        <p:txBody>
          <a:bodyPr wrap="square" lIns="191" tIns="191" rIns="191" bIns="191" rtlCol="0" anchor="ctr">
            <a:normAutofit lnSpcReduction="10000"/>
          </a:bodyPr>
          <a:lstStyle/>
          <a:p>
            <a:pPr defTabSz="685783"/>
            <a:r>
              <a:rPr lang="en-US" sz="1700" b="1" dirty="0">
                <a:solidFill>
                  <a:srgbClr val="1C2633"/>
                </a:solidFill>
              </a:rPr>
              <a:t>Total feature set:</a:t>
            </a:r>
            <a:endParaRPr lang="en-US" sz="1700" dirty="0">
              <a:solidFill>
                <a:prstClr val="black"/>
              </a:solidFill>
            </a:endParaRPr>
          </a:p>
          <a:p>
            <a:pPr defTabSz="685783"/>
            <a:r>
              <a:rPr lang="en-US" sz="1700" b="1" dirty="0">
                <a:solidFill>
                  <a:srgbClr val="1C2633"/>
                </a:solidFill>
              </a:rPr>
              <a:t>25 base features × 2 channel summaries = 50 features</a:t>
            </a:r>
            <a:endParaRPr lang="en-US" sz="1700" dirty="0">
              <a:solidFill>
                <a:prstClr val="black"/>
              </a:solidFill>
            </a:endParaRPr>
          </a:p>
        </p:txBody>
      </p:sp>
      <p:sp>
        <p:nvSpPr>
          <p:cNvPr id="31" name="Text 29"/>
          <p:cNvSpPr/>
          <p:nvPr/>
        </p:nvSpPr>
        <p:spPr>
          <a:xfrm>
            <a:off x="5177790" y="2571751"/>
            <a:ext cx="3600450" cy="1743075"/>
          </a:xfrm>
          <a:prstGeom prst="rect">
            <a:avLst/>
          </a:prstGeom>
          <a:noFill/>
          <a:ln/>
        </p:spPr>
        <p:txBody>
          <a:bodyPr wrap="square" lIns="572" tIns="572" rIns="572" bIns="572" rtlCol="0" anchor="t">
            <a:normAutofit/>
          </a:bodyPr>
          <a:lstStyle/>
          <a:p>
            <a:pPr defTabSz="685783">
              <a:lnSpc>
                <a:spcPct val="150000"/>
              </a:lnSpc>
            </a:pPr>
            <a:r>
              <a:rPr lang="en-US" sz="1400" dirty="0">
                <a:solidFill>
                  <a:srgbClr val="1C2633"/>
                </a:solidFill>
                <a:ea typeface="Aptos" pitchFamily="34" charset="-122"/>
                <a:cs typeface="Aptos" pitchFamily="34" charset="-120"/>
              </a:rPr>
              <a:t>• The EEG features are empirical observables.</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They are not direct measurements of the ODE variables E and I.</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The comparison with the ODE is qualitative, not a direct model fit.</a:t>
            </a:r>
            <a:endParaRPr lang="en-US" sz="1400" dirty="0">
              <a:solidFill>
                <a:prstClr val="black"/>
              </a:solidFill>
            </a:endParaRPr>
          </a:p>
        </p:txBody>
      </p:sp>
    </p:spTree>
    <p:extLst>
      <p:ext uri="{BB962C8B-B14F-4D97-AF65-F5344CB8AC3E}">
        <p14:creationId xmlns:p14="http://schemas.microsoft.com/office/powerpoint/2010/main" val="3235112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Feature behavior by phase</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Results</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15</a:t>
            </a:r>
            <a:endParaRPr lang="en-US" sz="1200" dirty="0">
              <a:solidFill>
                <a:prstClr val="black"/>
              </a:solidFill>
            </a:endParaRPr>
          </a:p>
        </p:txBody>
      </p:sp>
      <p:grpSp>
        <p:nvGrpSpPr>
          <p:cNvPr id="40" name="组合 39"/>
          <p:cNvGrpSpPr/>
          <p:nvPr/>
        </p:nvGrpSpPr>
        <p:grpSpPr>
          <a:xfrm>
            <a:off x="445770" y="925830"/>
            <a:ext cx="8229600" cy="1440180"/>
            <a:chOff x="594360" y="1234440"/>
            <a:chExt cx="10972800" cy="1920240"/>
          </a:xfrm>
        </p:grpSpPr>
        <p:sp>
          <p:nvSpPr>
            <p:cNvPr id="8" name="Shape 6"/>
            <p:cNvSpPr/>
            <p:nvPr/>
          </p:nvSpPr>
          <p:spPr>
            <a:xfrm>
              <a:off x="594360" y="1234440"/>
              <a:ext cx="10972800" cy="480060"/>
            </a:xfrm>
            <a:prstGeom prst="rect">
              <a:avLst/>
            </a:prstGeom>
            <a:solidFill>
              <a:srgbClr val="1F77B4"/>
            </a:solidFill>
            <a:ln w="12700">
              <a:solidFill>
                <a:srgbClr val="1F77B4"/>
              </a:solidFill>
              <a:prstDash val="solid"/>
            </a:ln>
          </p:spPr>
          <p:txBody>
            <a:bodyPr/>
            <a:lstStyle/>
            <a:p>
              <a:endParaRPr lang="en-US"/>
            </a:p>
          </p:txBody>
        </p:sp>
        <p:sp>
          <p:nvSpPr>
            <p:cNvPr id="9" name="Shape 7"/>
            <p:cNvSpPr/>
            <p:nvPr/>
          </p:nvSpPr>
          <p:spPr>
            <a:xfrm>
              <a:off x="594360" y="1234440"/>
              <a:ext cx="10972800" cy="1920240"/>
            </a:xfrm>
            <a:prstGeom prst="rect">
              <a:avLst/>
            </a:prstGeom>
            <a:solidFill>
              <a:srgbClr val="FFFFFF">
                <a:alpha val="0"/>
              </a:srgbClr>
            </a:solidFill>
            <a:ln w="12700">
              <a:solidFill>
                <a:srgbClr val="D6E6F5"/>
              </a:solidFill>
              <a:prstDash val="solid"/>
            </a:ln>
          </p:spPr>
          <p:txBody>
            <a:bodyPr/>
            <a:lstStyle/>
            <a:p>
              <a:endParaRPr lang="en-US"/>
            </a:p>
          </p:txBody>
        </p:sp>
        <p:sp>
          <p:nvSpPr>
            <p:cNvPr id="10" name="Shape 8"/>
            <p:cNvSpPr/>
            <p:nvPr/>
          </p:nvSpPr>
          <p:spPr>
            <a:xfrm>
              <a:off x="594360" y="1714500"/>
              <a:ext cx="10972800" cy="0"/>
            </a:xfrm>
            <a:prstGeom prst="line">
              <a:avLst/>
            </a:prstGeom>
            <a:noFill/>
            <a:ln w="10160">
              <a:solidFill>
                <a:srgbClr val="D6E6F5"/>
              </a:solidFill>
              <a:prstDash val="solid"/>
            </a:ln>
          </p:spPr>
          <p:txBody>
            <a:bodyPr/>
            <a:lstStyle/>
            <a:p>
              <a:endParaRPr lang="en-US"/>
            </a:p>
          </p:txBody>
        </p:sp>
        <p:sp>
          <p:nvSpPr>
            <p:cNvPr id="11" name="Shape 9"/>
            <p:cNvSpPr/>
            <p:nvPr/>
          </p:nvSpPr>
          <p:spPr>
            <a:xfrm>
              <a:off x="594360" y="2194560"/>
              <a:ext cx="10972800" cy="0"/>
            </a:xfrm>
            <a:prstGeom prst="line">
              <a:avLst/>
            </a:prstGeom>
            <a:noFill/>
            <a:ln w="10160">
              <a:solidFill>
                <a:srgbClr val="D6E6F5"/>
              </a:solidFill>
              <a:prstDash val="solid"/>
            </a:ln>
          </p:spPr>
          <p:txBody>
            <a:bodyPr/>
            <a:lstStyle/>
            <a:p>
              <a:endParaRPr lang="en-US"/>
            </a:p>
          </p:txBody>
        </p:sp>
        <p:sp>
          <p:nvSpPr>
            <p:cNvPr id="12" name="Shape 10"/>
            <p:cNvSpPr/>
            <p:nvPr/>
          </p:nvSpPr>
          <p:spPr>
            <a:xfrm>
              <a:off x="594360" y="2674620"/>
              <a:ext cx="10972800" cy="0"/>
            </a:xfrm>
            <a:prstGeom prst="line">
              <a:avLst/>
            </a:prstGeom>
            <a:noFill/>
            <a:ln w="10160">
              <a:solidFill>
                <a:srgbClr val="D6E6F5"/>
              </a:solidFill>
              <a:prstDash val="solid"/>
            </a:ln>
          </p:spPr>
          <p:txBody>
            <a:bodyPr/>
            <a:lstStyle/>
            <a:p>
              <a:endParaRPr lang="en-US"/>
            </a:p>
          </p:txBody>
        </p:sp>
        <p:sp>
          <p:nvSpPr>
            <p:cNvPr id="13" name="Shape 11"/>
            <p:cNvSpPr/>
            <p:nvPr/>
          </p:nvSpPr>
          <p:spPr>
            <a:xfrm>
              <a:off x="2423160" y="1234440"/>
              <a:ext cx="0" cy="1920240"/>
            </a:xfrm>
            <a:prstGeom prst="line">
              <a:avLst/>
            </a:prstGeom>
            <a:noFill/>
            <a:ln w="10160">
              <a:solidFill>
                <a:srgbClr val="D6E6F5"/>
              </a:solidFill>
              <a:prstDash val="solid"/>
            </a:ln>
          </p:spPr>
          <p:txBody>
            <a:bodyPr/>
            <a:lstStyle/>
            <a:p>
              <a:endParaRPr lang="en-US"/>
            </a:p>
          </p:txBody>
        </p:sp>
        <p:sp>
          <p:nvSpPr>
            <p:cNvPr id="14" name="Shape 12"/>
            <p:cNvSpPr/>
            <p:nvPr/>
          </p:nvSpPr>
          <p:spPr>
            <a:xfrm>
              <a:off x="4251960" y="1234440"/>
              <a:ext cx="0" cy="1920240"/>
            </a:xfrm>
            <a:prstGeom prst="line">
              <a:avLst/>
            </a:prstGeom>
            <a:noFill/>
            <a:ln w="10160">
              <a:solidFill>
                <a:srgbClr val="D6E6F5"/>
              </a:solidFill>
              <a:prstDash val="solid"/>
            </a:ln>
          </p:spPr>
          <p:txBody>
            <a:bodyPr/>
            <a:lstStyle/>
            <a:p>
              <a:endParaRPr lang="en-US"/>
            </a:p>
          </p:txBody>
        </p:sp>
        <p:sp>
          <p:nvSpPr>
            <p:cNvPr id="15" name="Shape 13"/>
            <p:cNvSpPr/>
            <p:nvPr/>
          </p:nvSpPr>
          <p:spPr>
            <a:xfrm>
              <a:off x="6629400" y="1234440"/>
              <a:ext cx="0" cy="1920240"/>
            </a:xfrm>
            <a:prstGeom prst="line">
              <a:avLst/>
            </a:prstGeom>
            <a:noFill/>
            <a:ln w="10160">
              <a:solidFill>
                <a:srgbClr val="D6E6F5"/>
              </a:solidFill>
              <a:prstDash val="solid"/>
            </a:ln>
          </p:spPr>
          <p:txBody>
            <a:bodyPr/>
            <a:lstStyle/>
            <a:p>
              <a:endParaRPr lang="en-US"/>
            </a:p>
          </p:txBody>
        </p:sp>
        <p:sp>
          <p:nvSpPr>
            <p:cNvPr id="16" name="Shape 14"/>
            <p:cNvSpPr/>
            <p:nvPr/>
          </p:nvSpPr>
          <p:spPr>
            <a:xfrm>
              <a:off x="9098280" y="1234440"/>
              <a:ext cx="0" cy="1920240"/>
            </a:xfrm>
            <a:prstGeom prst="line">
              <a:avLst/>
            </a:prstGeom>
            <a:noFill/>
            <a:ln w="10160">
              <a:solidFill>
                <a:srgbClr val="D6E6F5"/>
              </a:solidFill>
              <a:prstDash val="solid"/>
            </a:ln>
          </p:spPr>
          <p:txBody>
            <a:bodyPr/>
            <a:lstStyle/>
            <a:p>
              <a:endParaRPr lang="en-US"/>
            </a:p>
          </p:txBody>
        </p:sp>
        <p:sp>
          <p:nvSpPr>
            <p:cNvPr id="17" name="Text 15"/>
            <p:cNvSpPr/>
            <p:nvPr/>
          </p:nvSpPr>
          <p:spPr>
            <a:xfrm>
              <a:off x="640080" y="1271016"/>
              <a:ext cx="1737360" cy="406908"/>
            </a:xfrm>
            <a:prstGeom prst="rect">
              <a:avLst/>
            </a:prstGeom>
            <a:noFill/>
            <a:ln/>
          </p:spPr>
          <p:txBody>
            <a:bodyPr wrap="square" lIns="127" tIns="127" rIns="127" bIns="127" rtlCol="0" anchor="ctr">
              <a:normAutofit/>
            </a:bodyPr>
            <a:lstStyle/>
            <a:p>
              <a:pPr defTabSz="685783"/>
              <a:r>
                <a:rPr lang="en-US" sz="1200" b="1" dirty="0">
                  <a:solidFill>
                    <a:srgbClr val="FFFFFF"/>
                  </a:solidFill>
                  <a:ea typeface="Aptos" pitchFamily="34" charset="-122"/>
                  <a:cs typeface="Aptos" pitchFamily="34" charset="-120"/>
                </a:rPr>
                <a:t>Phase</a:t>
              </a:r>
              <a:endParaRPr lang="en-US" sz="1200" dirty="0">
                <a:solidFill>
                  <a:prstClr val="black"/>
                </a:solidFill>
              </a:endParaRPr>
            </a:p>
          </p:txBody>
        </p:sp>
        <p:sp>
          <p:nvSpPr>
            <p:cNvPr id="18" name="Text 16"/>
            <p:cNvSpPr/>
            <p:nvPr/>
          </p:nvSpPr>
          <p:spPr>
            <a:xfrm>
              <a:off x="2468880" y="1271016"/>
              <a:ext cx="1737360" cy="406908"/>
            </a:xfrm>
            <a:prstGeom prst="rect">
              <a:avLst/>
            </a:prstGeom>
            <a:noFill/>
            <a:ln/>
          </p:spPr>
          <p:txBody>
            <a:bodyPr wrap="square" lIns="127" tIns="127" rIns="127" bIns="127" rtlCol="0" anchor="ctr">
              <a:normAutofit/>
            </a:bodyPr>
            <a:lstStyle/>
            <a:p>
              <a:pPr algn="ctr" defTabSz="685783"/>
              <a:r>
                <a:rPr lang="en-US" sz="1200" b="1" dirty="0">
                  <a:solidFill>
                    <a:srgbClr val="FFFFFF"/>
                  </a:solidFill>
                  <a:ea typeface="Aptos" pitchFamily="34" charset="-122"/>
                  <a:cs typeface="Aptos" pitchFamily="34" charset="-120"/>
                </a:rPr>
                <a:t>Mean RMS</a:t>
              </a:r>
              <a:endParaRPr lang="en-US" sz="1200" dirty="0">
                <a:solidFill>
                  <a:prstClr val="black"/>
                </a:solidFill>
              </a:endParaRPr>
            </a:p>
          </p:txBody>
        </p:sp>
        <p:sp>
          <p:nvSpPr>
            <p:cNvPr id="19" name="Text 17"/>
            <p:cNvSpPr/>
            <p:nvPr/>
          </p:nvSpPr>
          <p:spPr>
            <a:xfrm>
              <a:off x="4297680" y="1271016"/>
              <a:ext cx="2286000" cy="406908"/>
            </a:xfrm>
            <a:prstGeom prst="rect">
              <a:avLst/>
            </a:prstGeom>
            <a:noFill/>
            <a:ln/>
          </p:spPr>
          <p:txBody>
            <a:bodyPr wrap="square" lIns="127" tIns="127" rIns="127" bIns="127" rtlCol="0" anchor="ctr">
              <a:normAutofit/>
            </a:bodyPr>
            <a:lstStyle/>
            <a:p>
              <a:pPr algn="ctr" defTabSz="685783"/>
              <a:r>
                <a:rPr lang="en-US" sz="1200" b="1" dirty="0">
                  <a:solidFill>
                    <a:srgbClr val="FFFFFF"/>
                  </a:solidFill>
                  <a:ea typeface="Aptos" pitchFamily="34" charset="-122"/>
                  <a:cs typeface="Aptos" pitchFamily="34" charset="-120"/>
                </a:rPr>
                <a:t>Mean theta power</a:t>
              </a:r>
              <a:endParaRPr lang="en-US" sz="1200" dirty="0">
                <a:solidFill>
                  <a:prstClr val="black"/>
                </a:solidFill>
              </a:endParaRPr>
            </a:p>
          </p:txBody>
        </p:sp>
        <p:sp>
          <p:nvSpPr>
            <p:cNvPr id="20" name="Text 18"/>
            <p:cNvSpPr/>
            <p:nvPr/>
          </p:nvSpPr>
          <p:spPr>
            <a:xfrm>
              <a:off x="6675120" y="1271016"/>
              <a:ext cx="2377440" cy="406908"/>
            </a:xfrm>
            <a:prstGeom prst="rect">
              <a:avLst/>
            </a:prstGeom>
            <a:noFill/>
            <a:ln/>
          </p:spPr>
          <p:txBody>
            <a:bodyPr wrap="square" lIns="127" tIns="127" rIns="127" bIns="127" rtlCol="0" anchor="ctr">
              <a:normAutofit/>
            </a:bodyPr>
            <a:lstStyle/>
            <a:p>
              <a:pPr algn="ctr" defTabSz="685783"/>
              <a:r>
                <a:rPr lang="en-US" sz="1200" b="1" dirty="0">
                  <a:solidFill>
                    <a:srgbClr val="FFFFFF"/>
                  </a:solidFill>
                  <a:ea typeface="Aptos" pitchFamily="34" charset="-122"/>
                  <a:cs typeface="Aptos" pitchFamily="34" charset="-120"/>
                </a:rPr>
                <a:t>Mean Hjorth activity</a:t>
              </a:r>
              <a:endParaRPr lang="en-US" sz="1200" dirty="0">
                <a:solidFill>
                  <a:prstClr val="black"/>
                </a:solidFill>
              </a:endParaRPr>
            </a:p>
          </p:txBody>
        </p:sp>
        <p:sp>
          <p:nvSpPr>
            <p:cNvPr id="21" name="Text 19"/>
            <p:cNvSpPr/>
            <p:nvPr/>
          </p:nvSpPr>
          <p:spPr>
            <a:xfrm>
              <a:off x="9144000" y="1271016"/>
              <a:ext cx="2377440" cy="406908"/>
            </a:xfrm>
            <a:prstGeom prst="rect">
              <a:avLst/>
            </a:prstGeom>
            <a:noFill/>
            <a:ln/>
          </p:spPr>
          <p:txBody>
            <a:bodyPr wrap="square" lIns="127" tIns="127" rIns="127" bIns="127" rtlCol="0" anchor="ctr">
              <a:normAutofit/>
            </a:bodyPr>
            <a:lstStyle/>
            <a:p>
              <a:pPr algn="ctr" defTabSz="685783"/>
              <a:r>
                <a:rPr lang="en-US" sz="1200" b="1" dirty="0">
                  <a:solidFill>
                    <a:srgbClr val="FFFFFF"/>
                  </a:solidFill>
                  <a:ea typeface="Aptos" pitchFamily="34" charset="-122"/>
                  <a:cs typeface="Aptos" pitchFamily="34" charset="-120"/>
                </a:rPr>
                <a:t>Mean total power</a:t>
              </a:r>
              <a:endParaRPr lang="en-US" sz="1200" dirty="0">
                <a:solidFill>
                  <a:prstClr val="black"/>
                </a:solidFill>
              </a:endParaRPr>
            </a:p>
          </p:txBody>
        </p:sp>
        <p:sp>
          <p:nvSpPr>
            <p:cNvPr id="22" name="Text 20"/>
            <p:cNvSpPr/>
            <p:nvPr/>
          </p:nvSpPr>
          <p:spPr>
            <a:xfrm>
              <a:off x="640080" y="1751076"/>
              <a:ext cx="1737360" cy="406908"/>
            </a:xfrm>
            <a:prstGeom prst="rect">
              <a:avLst/>
            </a:prstGeom>
            <a:noFill/>
            <a:ln/>
          </p:spPr>
          <p:txBody>
            <a:bodyPr wrap="square" lIns="127" tIns="127" rIns="127" bIns="127" rtlCol="0" anchor="ctr">
              <a:normAutofit/>
            </a:bodyPr>
            <a:lstStyle/>
            <a:p>
              <a:pPr defTabSz="685783"/>
              <a:r>
                <a:rPr lang="en-US" sz="1200" dirty="0">
                  <a:solidFill>
                    <a:srgbClr val="1C2633"/>
                  </a:solidFill>
                  <a:ea typeface="Aptos" pitchFamily="34" charset="-122"/>
                  <a:cs typeface="Aptos" pitchFamily="34" charset="-120"/>
                </a:rPr>
                <a:t>Baseline</a:t>
              </a:r>
              <a:endParaRPr lang="en-US" sz="1200" dirty="0">
                <a:solidFill>
                  <a:prstClr val="black"/>
                </a:solidFill>
              </a:endParaRPr>
            </a:p>
          </p:txBody>
        </p:sp>
        <p:sp>
          <p:nvSpPr>
            <p:cNvPr id="23" name="Text 21"/>
            <p:cNvSpPr/>
            <p:nvPr/>
          </p:nvSpPr>
          <p:spPr>
            <a:xfrm>
              <a:off x="2468880" y="1751076"/>
              <a:ext cx="173736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38.93</a:t>
              </a:r>
              <a:endParaRPr lang="en-US" sz="1200" dirty="0">
                <a:solidFill>
                  <a:prstClr val="black"/>
                </a:solidFill>
              </a:endParaRPr>
            </a:p>
          </p:txBody>
        </p:sp>
        <p:sp>
          <p:nvSpPr>
            <p:cNvPr id="24" name="Text 22"/>
            <p:cNvSpPr/>
            <p:nvPr/>
          </p:nvSpPr>
          <p:spPr>
            <a:xfrm>
              <a:off x="4297680" y="1751076"/>
              <a:ext cx="228600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93.58</a:t>
              </a:r>
              <a:endParaRPr lang="en-US" sz="1200" dirty="0">
                <a:solidFill>
                  <a:prstClr val="black"/>
                </a:solidFill>
              </a:endParaRPr>
            </a:p>
          </p:txBody>
        </p:sp>
        <p:sp>
          <p:nvSpPr>
            <p:cNvPr id="25" name="Text 23"/>
            <p:cNvSpPr/>
            <p:nvPr/>
          </p:nvSpPr>
          <p:spPr>
            <a:xfrm>
              <a:off x="6675120" y="1751076"/>
              <a:ext cx="237744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1,733</a:t>
              </a:r>
              <a:endParaRPr lang="en-US" sz="1200" dirty="0">
                <a:solidFill>
                  <a:prstClr val="black"/>
                </a:solidFill>
              </a:endParaRPr>
            </a:p>
          </p:txBody>
        </p:sp>
        <p:sp>
          <p:nvSpPr>
            <p:cNvPr id="26" name="Text 24"/>
            <p:cNvSpPr/>
            <p:nvPr/>
          </p:nvSpPr>
          <p:spPr>
            <a:xfrm>
              <a:off x="9144000" y="1751076"/>
              <a:ext cx="237744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696.9</a:t>
              </a:r>
              <a:endParaRPr lang="en-US" sz="1200" dirty="0">
                <a:solidFill>
                  <a:prstClr val="black"/>
                </a:solidFill>
              </a:endParaRPr>
            </a:p>
          </p:txBody>
        </p:sp>
        <p:sp>
          <p:nvSpPr>
            <p:cNvPr id="27" name="Text 25"/>
            <p:cNvSpPr/>
            <p:nvPr/>
          </p:nvSpPr>
          <p:spPr>
            <a:xfrm>
              <a:off x="640080" y="2231136"/>
              <a:ext cx="1737360" cy="406908"/>
            </a:xfrm>
            <a:prstGeom prst="rect">
              <a:avLst/>
            </a:prstGeom>
            <a:noFill/>
            <a:ln/>
          </p:spPr>
          <p:txBody>
            <a:bodyPr wrap="square" lIns="127" tIns="127" rIns="127" bIns="127" rtlCol="0" anchor="ctr">
              <a:normAutofit/>
            </a:bodyPr>
            <a:lstStyle/>
            <a:p>
              <a:pPr defTabSz="685783"/>
              <a:r>
                <a:rPr lang="en-US" sz="1200" dirty="0">
                  <a:solidFill>
                    <a:srgbClr val="1C2633"/>
                  </a:solidFill>
                  <a:ea typeface="Aptos" pitchFamily="34" charset="-122"/>
                  <a:cs typeface="Aptos" pitchFamily="34" charset="-120"/>
                </a:rPr>
                <a:t>Preictal</a:t>
              </a:r>
              <a:endParaRPr lang="en-US" sz="1200" dirty="0">
                <a:solidFill>
                  <a:prstClr val="black"/>
                </a:solidFill>
              </a:endParaRPr>
            </a:p>
          </p:txBody>
        </p:sp>
        <p:sp>
          <p:nvSpPr>
            <p:cNvPr id="28" name="Text 26"/>
            <p:cNvSpPr/>
            <p:nvPr/>
          </p:nvSpPr>
          <p:spPr>
            <a:xfrm>
              <a:off x="2468880" y="2231136"/>
              <a:ext cx="173736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39.57</a:t>
              </a:r>
              <a:endParaRPr lang="en-US" sz="1200" dirty="0">
                <a:solidFill>
                  <a:prstClr val="black"/>
                </a:solidFill>
              </a:endParaRPr>
            </a:p>
          </p:txBody>
        </p:sp>
        <p:sp>
          <p:nvSpPr>
            <p:cNvPr id="29" name="Text 27"/>
            <p:cNvSpPr/>
            <p:nvPr/>
          </p:nvSpPr>
          <p:spPr>
            <a:xfrm>
              <a:off x="4297680" y="2231136"/>
              <a:ext cx="228600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85.80</a:t>
              </a:r>
              <a:endParaRPr lang="en-US" sz="1200" dirty="0">
                <a:solidFill>
                  <a:prstClr val="black"/>
                </a:solidFill>
              </a:endParaRPr>
            </a:p>
          </p:txBody>
        </p:sp>
        <p:sp>
          <p:nvSpPr>
            <p:cNvPr id="30" name="Text 28"/>
            <p:cNvSpPr/>
            <p:nvPr/>
          </p:nvSpPr>
          <p:spPr>
            <a:xfrm>
              <a:off x="6675120" y="2231136"/>
              <a:ext cx="237744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1,790</a:t>
              </a:r>
              <a:endParaRPr lang="en-US" sz="1200" dirty="0">
                <a:solidFill>
                  <a:prstClr val="black"/>
                </a:solidFill>
              </a:endParaRPr>
            </a:p>
          </p:txBody>
        </p:sp>
        <p:sp>
          <p:nvSpPr>
            <p:cNvPr id="31" name="Text 29"/>
            <p:cNvSpPr/>
            <p:nvPr/>
          </p:nvSpPr>
          <p:spPr>
            <a:xfrm>
              <a:off x="9144000" y="2231136"/>
              <a:ext cx="237744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686.9</a:t>
              </a:r>
              <a:endParaRPr lang="en-US" sz="1200" dirty="0">
                <a:solidFill>
                  <a:prstClr val="black"/>
                </a:solidFill>
              </a:endParaRPr>
            </a:p>
          </p:txBody>
        </p:sp>
        <p:sp>
          <p:nvSpPr>
            <p:cNvPr id="32" name="Text 30"/>
            <p:cNvSpPr/>
            <p:nvPr/>
          </p:nvSpPr>
          <p:spPr>
            <a:xfrm>
              <a:off x="640080" y="2711196"/>
              <a:ext cx="1737360" cy="406908"/>
            </a:xfrm>
            <a:prstGeom prst="rect">
              <a:avLst/>
            </a:prstGeom>
            <a:noFill/>
            <a:ln/>
          </p:spPr>
          <p:txBody>
            <a:bodyPr wrap="square" lIns="127" tIns="127" rIns="127" bIns="127" rtlCol="0" anchor="ctr">
              <a:normAutofit/>
            </a:bodyPr>
            <a:lstStyle/>
            <a:p>
              <a:pPr defTabSz="685783"/>
              <a:r>
                <a:rPr lang="en-US" sz="1200" dirty="0">
                  <a:solidFill>
                    <a:srgbClr val="1C2633"/>
                  </a:solidFill>
                  <a:ea typeface="Aptos" pitchFamily="34" charset="-122"/>
                  <a:cs typeface="Aptos" pitchFamily="34" charset="-120"/>
                </a:rPr>
                <a:t>Ictal</a:t>
              </a:r>
              <a:endParaRPr lang="en-US" sz="1200" dirty="0">
                <a:solidFill>
                  <a:prstClr val="black"/>
                </a:solidFill>
              </a:endParaRPr>
            </a:p>
          </p:txBody>
        </p:sp>
        <p:sp>
          <p:nvSpPr>
            <p:cNvPr id="33" name="Text 31"/>
            <p:cNvSpPr/>
            <p:nvPr/>
          </p:nvSpPr>
          <p:spPr>
            <a:xfrm>
              <a:off x="2468880" y="2711196"/>
              <a:ext cx="173736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119.50</a:t>
              </a:r>
              <a:endParaRPr lang="en-US" sz="1200" dirty="0">
                <a:solidFill>
                  <a:prstClr val="black"/>
                </a:solidFill>
              </a:endParaRPr>
            </a:p>
          </p:txBody>
        </p:sp>
        <p:sp>
          <p:nvSpPr>
            <p:cNvPr id="34" name="Text 32"/>
            <p:cNvSpPr/>
            <p:nvPr/>
          </p:nvSpPr>
          <p:spPr>
            <a:xfrm>
              <a:off x="4297680" y="2711196"/>
              <a:ext cx="228600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1,057.88</a:t>
              </a:r>
              <a:endParaRPr lang="en-US" sz="1200" dirty="0">
                <a:solidFill>
                  <a:prstClr val="black"/>
                </a:solidFill>
              </a:endParaRPr>
            </a:p>
          </p:txBody>
        </p:sp>
        <p:sp>
          <p:nvSpPr>
            <p:cNvPr id="35" name="Text 33"/>
            <p:cNvSpPr/>
            <p:nvPr/>
          </p:nvSpPr>
          <p:spPr>
            <a:xfrm>
              <a:off x="6675120" y="2711196"/>
              <a:ext cx="237744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15,469</a:t>
              </a:r>
              <a:endParaRPr lang="en-US" sz="1200" dirty="0">
                <a:solidFill>
                  <a:prstClr val="black"/>
                </a:solidFill>
              </a:endParaRPr>
            </a:p>
          </p:txBody>
        </p:sp>
        <p:sp>
          <p:nvSpPr>
            <p:cNvPr id="36" name="Text 34"/>
            <p:cNvSpPr/>
            <p:nvPr/>
          </p:nvSpPr>
          <p:spPr>
            <a:xfrm>
              <a:off x="9144000" y="2711196"/>
              <a:ext cx="2377440" cy="406908"/>
            </a:xfrm>
            <a:prstGeom prst="rect">
              <a:avLst/>
            </a:prstGeom>
            <a:noFill/>
            <a:ln/>
          </p:spPr>
          <p:txBody>
            <a:bodyPr wrap="square" lIns="127" tIns="127" rIns="127" bIns="127" rtlCol="0" anchor="ctr">
              <a:normAutofit/>
            </a:bodyPr>
            <a:lstStyle/>
            <a:p>
              <a:pPr algn="ctr" defTabSz="685783"/>
              <a:r>
                <a:rPr lang="en-US" sz="1200" dirty="0">
                  <a:solidFill>
                    <a:srgbClr val="1C2633"/>
                  </a:solidFill>
                  <a:ea typeface="Aptos" pitchFamily="34" charset="-122"/>
                  <a:cs typeface="Aptos" pitchFamily="34" charset="-120"/>
                </a:rPr>
                <a:t>6,918.0</a:t>
              </a:r>
              <a:endParaRPr lang="en-US" sz="1200" dirty="0">
                <a:solidFill>
                  <a:prstClr val="black"/>
                </a:solidFill>
              </a:endParaRPr>
            </a:p>
          </p:txBody>
        </p:sp>
      </p:grpSp>
      <p:sp>
        <p:nvSpPr>
          <p:cNvPr id="37" name="Shape 35"/>
          <p:cNvSpPr/>
          <p:nvPr/>
        </p:nvSpPr>
        <p:spPr>
          <a:xfrm>
            <a:off x="685800" y="3231833"/>
            <a:ext cx="2468880" cy="548640"/>
          </a:xfrm>
          <a:prstGeom prst="roundRect">
            <a:avLst>
              <a:gd name="adj" fmla="val 10000"/>
            </a:avLst>
          </a:prstGeom>
          <a:solidFill>
            <a:srgbClr val="EAF4FF"/>
          </a:solidFill>
          <a:ln w="15240">
            <a:solidFill>
              <a:srgbClr val="D6E6F5"/>
            </a:solidFill>
            <a:prstDash val="solid"/>
          </a:ln>
        </p:spPr>
        <p:txBody>
          <a:bodyPr/>
          <a:lstStyle/>
          <a:p>
            <a:endParaRPr lang="en-US"/>
          </a:p>
        </p:txBody>
      </p:sp>
      <p:sp>
        <p:nvSpPr>
          <p:cNvPr id="38" name="Text 36"/>
          <p:cNvSpPr/>
          <p:nvPr/>
        </p:nvSpPr>
        <p:spPr>
          <a:xfrm>
            <a:off x="809244" y="3314129"/>
            <a:ext cx="2221992" cy="397764"/>
          </a:xfrm>
          <a:prstGeom prst="rect">
            <a:avLst/>
          </a:prstGeom>
          <a:noFill/>
          <a:ln/>
        </p:spPr>
        <p:txBody>
          <a:bodyPr wrap="square" lIns="191" tIns="191" rIns="191" bIns="191" rtlCol="0" anchor="ctr">
            <a:normAutofit fontScale="85000" lnSpcReduction="10000"/>
          </a:bodyPr>
          <a:lstStyle/>
          <a:p>
            <a:pPr algn="ctr" defTabSz="685783"/>
            <a:r>
              <a:rPr lang="en-US" sz="1700" b="1" dirty="0">
                <a:solidFill>
                  <a:srgbClr val="1C2633"/>
                </a:solidFill>
              </a:rPr>
              <a:t>Main separation: ictal vs. non-ictal</a:t>
            </a:r>
            <a:endParaRPr lang="en-US" sz="1700" dirty="0">
              <a:solidFill>
                <a:prstClr val="black"/>
              </a:solidFill>
            </a:endParaRPr>
          </a:p>
        </p:txBody>
      </p:sp>
      <p:sp>
        <p:nvSpPr>
          <p:cNvPr id="39" name="Text 37"/>
          <p:cNvSpPr/>
          <p:nvPr/>
        </p:nvSpPr>
        <p:spPr>
          <a:xfrm>
            <a:off x="3429000" y="2640331"/>
            <a:ext cx="4937760" cy="1731645"/>
          </a:xfrm>
          <a:prstGeom prst="rect">
            <a:avLst/>
          </a:prstGeom>
          <a:noFill/>
          <a:ln/>
        </p:spPr>
        <p:txBody>
          <a:bodyPr wrap="square" lIns="572" tIns="572" rIns="572" bIns="572" rtlCol="0" anchor="t">
            <a:normAutofit/>
          </a:bodyPr>
          <a:lstStyle/>
          <a:p>
            <a:pPr defTabSz="685783">
              <a:lnSpc>
                <a:spcPct val="150000"/>
              </a:lnSpc>
            </a:pPr>
            <a:r>
              <a:rPr lang="en-US" sz="1400" dirty="0">
                <a:solidFill>
                  <a:srgbClr val="1C2633"/>
                </a:solidFill>
                <a:ea typeface="Aptos" pitchFamily="34" charset="-122"/>
                <a:cs typeface="Aptos" pitchFamily="34" charset="-120"/>
              </a:rPr>
              <a:t>• Ictal windows show much larger amplitude and power summaries.</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Baseline and preictal medians are much closer to each other.</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This supports ictal separability more strongly than gradual preictal separation.</a:t>
            </a:r>
            <a:endParaRPr lang="en-US" sz="1400" dirty="0">
              <a:solidFill>
                <a:prstClr val="black"/>
              </a:solidFill>
            </a:endParaRPr>
          </a:p>
        </p:txBody>
      </p:sp>
    </p:spTree>
    <p:extLst>
      <p:ext uri="{BB962C8B-B14F-4D97-AF65-F5344CB8AC3E}">
        <p14:creationId xmlns:p14="http://schemas.microsoft.com/office/powerpoint/2010/main" val="3046505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 y="0"/>
            <a:ext cx="9143771" cy="5143500"/>
          </a:xfrm>
          <a:prstGeom prst="rect">
            <a:avLst/>
          </a:prstGeom>
          <a:solidFill>
            <a:srgbClr val="F7F9FC"/>
          </a:solidFill>
          <a:ln w="12700">
            <a:solidFill>
              <a:srgbClr val="F7F9FC"/>
            </a:solidFill>
            <a:prstDash val="solid"/>
          </a:ln>
        </p:spPr>
        <p:txBody>
          <a:bodyPr/>
          <a:lstStyle/>
          <a:p>
            <a:endParaRPr lang="en-US"/>
          </a:p>
        </p:txBody>
      </p:sp>
      <p:pic>
        <p:nvPicPr>
          <p:cNvPr id="7" name="Image 0" descr="/mnt/data/chbmit_feature_trajectories.png"/>
          <p:cNvPicPr>
            <a:picLocks noChangeAspect="1"/>
          </p:cNvPicPr>
          <p:nvPr/>
        </p:nvPicPr>
        <p:blipFill>
          <a:blip r:embed="rId3"/>
          <a:stretch>
            <a:fillRect/>
          </a:stretch>
        </p:blipFill>
        <p:spPr>
          <a:xfrm>
            <a:off x="467544" y="720090"/>
            <a:ext cx="4752528" cy="3442716"/>
          </a:xfrm>
          <a:prstGeom prst="rect">
            <a:avLst/>
          </a:prstGeom>
        </p:spPr>
      </p:pic>
      <p:sp>
        <p:nvSpPr>
          <p:cNvPr id="8" name="Text 5"/>
          <p:cNvSpPr/>
          <p:nvPr/>
        </p:nvSpPr>
        <p:spPr>
          <a:xfrm>
            <a:off x="5486400" y="822960"/>
            <a:ext cx="3223260" cy="205740"/>
          </a:xfrm>
          <a:prstGeom prst="rect">
            <a:avLst/>
          </a:prstGeom>
          <a:noFill/>
          <a:ln/>
        </p:spPr>
        <p:txBody>
          <a:bodyPr wrap="square" lIns="0" tIns="0" rIns="0" bIns="0" rtlCol="0" anchor="ctr"/>
          <a:lstStyle/>
          <a:p>
            <a:pPr defTabSz="685783"/>
            <a:r>
              <a:rPr lang="en-US" sz="1300" b="1" dirty="0">
                <a:solidFill>
                  <a:srgbClr val="102033"/>
                </a:solidFill>
              </a:rPr>
              <a:t>Median feature pattern</a:t>
            </a:r>
            <a:endParaRPr lang="en-US" sz="1300" dirty="0">
              <a:solidFill>
                <a:prstClr val="black"/>
              </a:solidFill>
            </a:endParaRPr>
          </a:p>
        </p:txBody>
      </p:sp>
      <p:sp>
        <p:nvSpPr>
          <p:cNvPr id="9" name="Text 6"/>
          <p:cNvSpPr/>
          <p:nvPr/>
        </p:nvSpPr>
        <p:spPr>
          <a:xfrm>
            <a:off x="5520690" y="1179576"/>
            <a:ext cx="171450" cy="192024"/>
          </a:xfrm>
          <a:prstGeom prst="rect">
            <a:avLst/>
          </a:prstGeom>
          <a:noFill/>
          <a:ln/>
        </p:spPr>
        <p:txBody>
          <a:bodyPr wrap="square" lIns="0" tIns="0" rIns="0" bIns="0" rtlCol="0" anchor="ctr"/>
          <a:lstStyle/>
          <a:p>
            <a:pPr defTabSz="685783"/>
            <a:r>
              <a:rPr lang="en-US" sz="1100" dirty="0">
                <a:solidFill>
                  <a:srgbClr val="1D5F99"/>
                </a:solidFill>
              </a:rPr>
              <a:t>•</a:t>
            </a:r>
            <a:endParaRPr lang="en-US" sz="1100" dirty="0">
              <a:solidFill>
                <a:prstClr val="black"/>
              </a:solidFill>
            </a:endParaRPr>
          </a:p>
        </p:txBody>
      </p:sp>
      <p:sp>
        <p:nvSpPr>
          <p:cNvPr id="10" name="Text 7"/>
          <p:cNvSpPr/>
          <p:nvPr/>
        </p:nvSpPr>
        <p:spPr>
          <a:xfrm>
            <a:off x="5740146" y="1165860"/>
            <a:ext cx="3106674" cy="288036"/>
          </a:xfrm>
          <a:prstGeom prst="rect">
            <a:avLst/>
          </a:prstGeom>
          <a:noFill/>
          <a:ln/>
        </p:spPr>
        <p:txBody>
          <a:bodyPr wrap="square" lIns="0" tIns="0" rIns="0" bIns="0" rtlCol="0" anchor="ctr">
            <a:normAutofit fontScale="92500" lnSpcReduction="10000"/>
          </a:bodyPr>
          <a:lstStyle/>
          <a:p>
            <a:pPr defTabSz="685783"/>
            <a:r>
              <a:rPr lang="en-US" sz="1100" dirty="0">
                <a:solidFill>
                  <a:srgbClr val="102033"/>
                </a:solidFill>
              </a:rPr>
              <a:t>RMS, theta power, line length, and transition index rise near onset.</a:t>
            </a:r>
            <a:endParaRPr lang="en-US" sz="1100" dirty="0">
              <a:solidFill>
                <a:prstClr val="black"/>
              </a:solidFill>
            </a:endParaRPr>
          </a:p>
        </p:txBody>
      </p:sp>
      <p:sp>
        <p:nvSpPr>
          <p:cNvPr id="11" name="Text 8"/>
          <p:cNvSpPr/>
          <p:nvPr/>
        </p:nvSpPr>
        <p:spPr>
          <a:xfrm>
            <a:off x="5520690" y="1522476"/>
            <a:ext cx="171450" cy="192024"/>
          </a:xfrm>
          <a:prstGeom prst="rect">
            <a:avLst/>
          </a:prstGeom>
          <a:noFill/>
          <a:ln/>
        </p:spPr>
        <p:txBody>
          <a:bodyPr wrap="square" lIns="0" tIns="0" rIns="0" bIns="0" rtlCol="0" anchor="ctr"/>
          <a:lstStyle/>
          <a:p>
            <a:pPr defTabSz="685783"/>
            <a:r>
              <a:rPr lang="en-US" sz="1100" dirty="0">
                <a:solidFill>
                  <a:srgbClr val="1D5F99"/>
                </a:solidFill>
              </a:rPr>
              <a:t>•</a:t>
            </a:r>
            <a:endParaRPr lang="en-US" sz="1100" dirty="0">
              <a:solidFill>
                <a:prstClr val="black"/>
              </a:solidFill>
            </a:endParaRPr>
          </a:p>
        </p:txBody>
      </p:sp>
      <p:sp>
        <p:nvSpPr>
          <p:cNvPr id="12" name="Text 9"/>
          <p:cNvSpPr/>
          <p:nvPr/>
        </p:nvSpPr>
        <p:spPr>
          <a:xfrm>
            <a:off x="5740146" y="1508760"/>
            <a:ext cx="3106674" cy="288036"/>
          </a:xfrm>
          <a:prstGeom prst="rect">
            <a:avLst/>
          </a:prstGeom>
          <a:noFill/>
          <a:ln/>
        </p:spPr>
        <p:txBody>
          <a:bodyPr wrap="square" lIns="0" tIns="0" rIns="0" bIns="0" rtlCol="0" anchor="ctr">
            <a:normAutofit fontScale="92500" lnSpcReduction="10000"/>
          </a:bodyPr>
          <a:lstStyle/>
          <a:p>
            <a:pPr defTabSz="685783"/>
            <a:r>
              <a:rPr lang="en-US" sz="1100" dirty="0">
                <a:solidFill>
                  <a:srgbClr val="102033"/>
                </a:solidFill>
              </a:rPr>
              <a:t>Spectral entropy and Hjorth complexity change in a different direction after onset.</a:t>
            </a:r>
            <a:endParaRPr lang="en-US" sz="1100" dirty="0">
              <a:solidFill>
                <a:prstClr val="black"/>
              </a:solidFill>
            </a:endParaRPr>
          </a:p>
        </p:txBody>
      </p:sp>
      <p:sp>
        <p:nvSpPr>
          <p:cNvPr id="13" name="Text 10"/>
          <p:cNvSpPr/>
          <p:nvPr/>
        </p:nvSpPr>
        <p:spPr>
          <a:xfrm>
            <a:off x="5520690" y="1865376"/>
            <a:ext cx="171450" cy="192024"/>
          </a:xfrm>
          <a:prstGeom prst="rect">
            <a:avLst/>
          </a:prstGeom>
          <a:noFill/>
          <a:ln/>
        </p:spPr>
        <p:txBody>
          <a:bodyPr wrap="square" lIns="0" tIns="0" rIns="0" bIns="0" rtlCol="0" anchor="ctr"/>
          <a:lstStyle/>
          <a:p>
            <a:pPr defTabSz="685783"/>
            <a:r>
              <a:rPr lang="en-US" sz="1100" dirty="0">
                <a:solidFill>
                  <a:srgbClr val="1D5F99"/>
                </a:solidFill>
              </a:rPr>
              <a:t>•</a:t>
            </a:r>
            <a:endParaRPr lang="en-US" sz="1100" dirty="0">
              <a:solidFill>
                <a:prstClr val="black"/>
              </a:solidFill>
            </a:endParaRPr>
          </a:p>
        </p:txBody>
      </p:sp>
      <p:sp>
        <p:nvSpPr>
          <p:cNvPr id="14" name="Text 11"/>
          <p:cNvSpPr/>
          <p:nvPr/>
        </p:nvSpPr>
        <p:spPr>
          <a:xfrm>
            <a:off x="5740146" y="1851660"/>
            <a:ext cx="3106674" cy="288036"/>
          </a:xfrm>
          <a:prstGeom prst="rect">
            <a:avLst/>
          </a:prstGeom>
          <a:noFill/>
          <a:ln/>
        </p:spPr>
        <p:txBody>
          <a:bodyPr wrap="square" lIns="0" tIns="0" rIns="0" bIns="0" rtlCol="0" anchor="ctr">
            <a:normAutofit fontScale="92500" lnSpcReduction="10000"/>
          </a:bodyPr>
          <a:lstStyle/>
          <a:p>
            <a:pPr defTabSz="685783"/>
            <a:r>
              <a:rPr lang="en-US" sz="1100" dirty="0">
                <a:solidFill>
                  <a:srgbClr val="102033"/>
                </a:solidFill>
              </a:rPr>
              <a:t>The strongest visual evidence is ictal separability, not gradual preictal warning.</a:t>
            </a:r>
            <a:endParaRPr lang="en-US" sz="1100" dirty="0">
              <a:solidFill>
                <a:prstClr val="black"/>
              </a:solidFill>
            </a:endParaRPr>
          </a:p>
        </p:txBody>
      </p:sp>
      <p:grpSp>
        <p:nvGrpSpPr>
          <p:cNvPr id="55" name="组合 54"/>
          <p:cNvGrpSpPr/>
          <p:nvPr/>
        </p:nvGrpSpPr>
        <p:grpSpPr>
          <a:xfrm>
            <a:off x="5520690" y="2357438"/>
            <a:ext cx="3360420" cy="1531049"/>
            <a:chOff x="7360920" y="3794760"/>
            <a:chExt cx="4480560" cy="1389888"/>
          </a:xfrm>
        </p:grpSpPr>
        <p:sp>
          <p:nvSpPr>
            <p:cNvPr id="15" name="Shape 12"/>
            <p:cNvSpPr/>
            <p:nvPr/>
          </p:nvSpPr>
          <p:spPr>
            <a:xfrm>
              <a:off x="7360920" y="3794760"/>
              <a:ext cx="1478585" cy="347472"/>
            </a:xfrm>
            <a:prstGeom prst="rect">
              <a:avLst/>
            </a:prstGeom>
            <a:solidFill>
              <a:srgbClr val="2E7D67"/>
            </a:solidFill>
            <a:ln w="6350">
              <a:solidFill>
                <a:srgbClr val="CDD6E0"/>
              </a:solidFill>
              <a:prstDash val="solid"/>
            </a:ln>
          </p:spPr>
          <p:txBody>
            <a:bodyPr/>
            <a:lstStyle/>
            <a:p>
              <a:endParaRPr lang="en-US"/>
            </a:p>
          </p:txBody>
        </p:sp>
        <p:sp>
          <p:nvSpPr>
            <p:cNvPr id="16" name="Text 13"/>
            <p:cNvSpPr/>
            <p:nvPr/>
          </p:nvSpPr>
          <p:spPr>
            <a:xfrm>
              <a:off x="7415784" y="3849624"/>
              <a:ext cx="1368857" cy="237744"/>
            </a:xfrm>
            <a:prstGeom prst="rect">
              <a:avLst/>
            </a:prstGeom>
            <a:noFill/>
            <a:ln/>
          </p:spPr>
          <p:txBody>
            <a:bodyPr wrap="square" lIns="0" tIns="0" rIns="0" bIns="0" rtlCol="0" anchor="ctr">
              <a:normAutofit/>
            </a:bodyPr>
            <a:lstStyle/>
            <a:p>
              <a:pPr defTabSz="685783"/>
              <a:r>
                <a:rPr lang="en-US" sz="800" b="1" dirty="0">
                  <a:solidFill>
                    <a:srgbClr val="FFFFFF"/>
                  </a:solidFill>
                </a:rPr>
                <a:t>Phase</a:t>
              </a:r>
              <a:endParaRPr lang="en-US" sz="800" dirty="0">
                <a:solidFill>
                  <a:prstClr val="black"/>
                </a:solidFill>
              </a:endParaRPr>
            </a:p>
          </p:txBody>
        </p:sp>
        <p:sp>
          <p:nvSpPr>
            <p:cNvPr id="17" name="Shape 14"/>
            <p:cNvSpPr/>
            <p:nvPr/>
          </p:nvSpPr>
          <p:spPr>
            <a:xfrm>
              <a:off x="8839505" y="3794760"/>
              <a:ext cx="985723" cy="347472"/>
            </a:xfrm>
            <a:prstGeom prst="rect">
              <a:avLst/>
            </a:prstGeom>
            <a:solidFill>
              <a:srgbClr val="2E7D67"/>
            </a:solidFill>
            <a:ln w="6350">
              <a:solidFill>
                <a:srgbClr val="CDD6E0"/>
              </a:solidFill>
              <a:prstDash val="solid"/>
            </a:ln>
          </p:spPr>
          <p:txBody>
            <a:bodyPr/>
            <a:lstStyle/>
            <a:p>
              <a:endParaRPr lang="en-US"/>
            </a:p>
          </p:txBody>
        </p:sp>
        <p:sp>
          <p:nvSpPr>
            <p:cNvPr id="18" name="Text 15"/>
            <p:cNvSpPr/>
            <p:nvPr/>
          </p:nvSpPr>
          <p:spPr>
            <a:xfrm>
              <a:off x="8894369" y="3849624"/>
              <a:ext cx="875995" cy="237744"/>
            </a:xfrm>
            <a:prstGeom prst="rect">
              <a:avLst/>
            </a:prstGeom>
            <a:noFill/>
            <a:ln/>
          </p:spPr>
          <p:txBody>
            <a:bodyPr wrap="square" lIns="0" tIns="0" rIns="0" bIns="0" rtlCol="0" anchor="ctr">
              <a:normAutofit/>
            </a:bodyPr>
            <a:lstStyle/>
            <a:p>
              <a:pPr algn="ctr" defTabSz="685783"/>
              <a:r>
                <a:rPr lang="en-US" sz="800" b="1" dirty="0">
                  <a:solidFill>
                    <a:srgbClr val="FFFFFF"/>
                  </a:solidFill>
                </a:rPr>
                <a:t>RMS</a:t>
              </a:r>
              <a:endParaRPr lang="en-US" sz="800" dirty="0">
                <a:solidFill>
                  <a:prstClr val="black"/>
                </a:solidFill>
              </a:endParaRPr>
            </a:p>
          </p:txBody>
        </p:sp>
        <p:sp>
          <p:nvSpPr>
            <p:cNvPr id="19" name="Shape 16"/>
            <p:cNvSpPr/>
            <p:nvPr/>
          </p:nvSpPr>
          <p:spPr>
            <a:xfrm>
              <a:off x="9825228" y="3794760"/>
              <a:ext cx="985723" cy="347472"/>
            </a:xfrm>
            <a:prstGeom prst="rect">
              <a:avLst/>
            </a:prstGeom>
            <a:solidFill>
              <a:srgbClr val="2E7D67"/>
            </a:solidFill>
            <a:ln w="6350">
              <a:solidFill>
                <a:srgbClr val="CDD6E0"/>
              </a:solidFill>
              <a:prstDash val="solid"/>
            </a:ln>
          </p:spPr>
          <p:txBody>
            <a:bodyPr/>
            <a:lstStyle/>
            <a:p>
              <a:endParaRPr lang="en-US"/>
            </a:p>
          </p:txBody>
        </p:sp>
        <p:sp>
          <p:nvSpPr>
            <p:cNvPr id="20" name="Text 17"/>
            <p:cNvSpPr/>
            <p:nvPr/>
          </p:nvSpPr>
          <p:spPr>
            <a:xfrm>
              <a:off x="9880092" y="3849624"/>
              <a:ext cx="875995" cy="237744"/>
            </a:xfrm>
            <a:prstGeom prst="rect">
              <a:avLst/>
            </a:prstGeom>
            <a:noFill/>
            <a:ln/>
          </p:spPr>
          <p:txBody>
            <a:bodyPr wrap="square" lIns="0" tIns="0" rIns="0" bIns="0" rtlCol="0" anchor="ctr">
              <a:normAutofit/>
            </a:bodyPr>
            <a:lstStyle/>
            <a:p>
              <a:pPr algn="ctr" defTabSz="685783"/>
              <a:r>
                <a:rPr lang="en-US" sz="800" b="1" dirty="0">
                  <a:solidFill>
                    <a:srgbClr val="FFFFFF"/>
                  </a:solidFill>
                </a:rPr>
                <a:t>θ power</a:t>
              </a:r>
              <a:endParaRPr lang="en-US" sz="800" dirty="0">
                <a:solidFill>
                  <a:prstClr val="black"/>
                </a:solidFill>
              </a:endParaRPr>
            </a:p>
          </p:txBody>
        </p:sp>
        <p:sp>
          <p:nvSpPr>
            <p:cNvPr id="21" name="Shape 18"/>
            <p:cNvSpPr/>
            <p:nvPr/>
          </p:nvSpPr>
          <p:spPr>
            <a:xfrm>
              <a:off x="10810951" y="3794760"/>
              <a:ext cx="1030529" cy="347472"/>
            </a:xfrm>
            <a:prstGeom prst="rect">
              <a:avLst/>
            </a:prstGeom>
            <a:solidFill>
              <a:srgbClr val="2E7D67"/>
            </a:solidFill>
            <a:ln w="6350">
              <a:solidFill>
                <a:srgbClr val="CDD6E0"/>
              </a:solidFill>
              <a:prstDash val="solid"/>
            </a:ln>
          </p:spPr>
          <p:txBody>
            <a:bodyPr/>
            <a:lstStyle/>
            <a:p>
              <a:endParaRPr lang="en-US"/>
            </a:p>
          </p:txBody>
        </p:sp>
        <p:sp>
          <p:nvSpPr>
            <p:cNvPr id="22" name="Text 19"/>
            <p:cNvSpPr/>
            <p:nvPr/>
          </p:nvSpPr>
          <p:spPr>
            <a:xfrm>
              <a:off x="10865815" y="3849624"/>
              <a:ext cx="920801" cy="237744"/>
            </a:xfrm>
            <a:prstGeom prst="rect">
              <a:avLst/>
            </a:prstGeom>
            <a:noFill/>
            <a:ln/>
          </p:spPr>
          <p:txBody>
            <a:bodyPr wrap="square" lIns="0" tIns="0" rIns="0" bIns="0" rtlCol="0" anchor="ctr">
              <a:normAutofit/>
            </a:bodyPr>
            <a:lstStyle/>
            <a:p>
              <a:pPr algn="ctr" defTabSz="685783"/>
              <a:r>
                <a:rPr lang="en-US" sz="800" b="1" dirty="0">
                  <a:solidFill>
                    <a:srgbClr val="FFFFFF"/>
                  </a:solidFill>
                </a:rPr>
                <a:t>Hjorth activity</a:t>
              </a:r>
              <a:endParaRPr lang="en-US" sz="800" dirty="0">
                <a:solidFill>
                  <a:prstClr val="black"/>
                </a:solidFill>
              </a:endParaRPr>
            </a:p>
          </p:txBody>
        </p:sp>
        <p:sp>
          <p:nvSpPr>
            <p:cNvPr id="23" name="Shape 20"/>
            <p:cNvSpPr/>
            <p:nvPr/>
          </p:nvSpPr>
          <p:spPr>
            <a:xfrm>
              <a:off x="7360920" y="4142232"/>
              <a:ext cx="1478585" cy="347472"/>
            </a:xfrm>
            <a:prstGeom prst="rect">
              <a:avLst/>
            </a:prstGeom>
            <a:solidFill>
              <a:srgbClr val="FFFFFF"/>
            </a:solidFill>
            <a:ln w="6350">
              <a:solidFill>
                <a:srgbClr val="CDD6E0"/>
              </a:solidFill>
              <a:prstDash val="solid"/>
            </a:ln>
          </p:spPr>
          <p:txBody>
            <a:bodyPr/>
            <a:lstStyle/>
            <a:p>
              <a:endParaRPr lang="en-US"/>
            </a:p>
          </p:txBody>
        </p:sp>
        <p:sp>
          <p:nvSpPr>
            <p:cNvPr id="24" name="Text 21"/>
            <p:cNvSpPr/>
            <p:nvPr/>
          </p:nvSpPr>
          <p:spPr>
            <a:xfrm>
              <a:off x="7415784" y="4197096"/>
              <a:ext cx="1368857" cy="237744"/>
            </a:xfrm>
            <a:prstGeom prst="rect">
              <a:avLst/>
            </a:prstGeom>
            <a:noFill/>
            <a:ln/>
          </p:spPr>
          <p:txBody>
            <a:bodyPr wrap="square" lIns="0" tIns="0" rIns="0" bIns="0" rtlCol="0" anchor="ctr">
              <a:normAutofit/>
            </a:bodyPr>
            <a:lstStyle/>
            <a:p>
              <a:pPr defTabSz="685783"/>
              <a:r>
                <a:rPr lang="en-US" sz="800" dirty="0">
                  <a:solidFill>
                    <a:srgbClr val="102033"/>
                  </a:solidFill>
                </a:rPr>
                <a:t>Baseline</a:t>
              </a:r>
              <a:endParaRPr lang="en-US" sz="800" dirty="0">
                <a:solidFill>
                  <a:prstClr val="black"/>
                </a:solidFill>
              </a:endParaRPr>
            </a:p>
          </p:txBody>
        </p:sp>
        <p:sp>
          <p:nvSpPr>
            <p:cNvPr id="25" name="Shape 22"/>
            <p:cNvSpPr/>
            <p:nvPr/>
          </p:nvSpPr>
          <p:spPr>
            <a:xfrm>
              <a:off x="8839505" y="4142232"/>
              <a:ext cx="985723" cy="347472"/>
            </a:xfrm>
            <a:prstGeom prst="rect">
              <a:avLst/>
            </a:prstGeom>
            <a:solidFill>
              <a:srgbClr val="FFFFFF"/>
            </a:solidFill>
            <a:ln w="6350">
              <a:solidFill>
                <a:srgbClr val="CDD6E0"/>
              </a:solidFill>
              <a:prstDash val="solid"/>
            </a:ln>
          </p:spPr>
          <p:txBody>
            <a:bodyPr/>
            <a:lstStyle/>
            <a:p>
              <a:endParaRPr lang="en-US"/>
            </a:p>
          </p:txBody>
        </p:sp>
        <p:sp>
          <p:nvSpPr>
            <p:cNvPr id="26" name="Text 23"/>
            <p:cNvSpPr/>
            <p:nvPr/>
          </p:nvSpPr>
          <p:spPr>
            <a:xfrm>
              <a:off x="8894369" y="4197096"/>
              <a:ext cx="875995" cy="237744"/>
            </a:xfrm>
            <a:prstGeom prst="rect">
              <a:avLst/>
            </a:prstGeom>
            <a:noFill/>
            <a:ln/>
          </p:spPr>
          <p:txBody>
            <a:bodyPr wrap="square" lIns="0" tIns="0" rIns="0" bIns="0" rtlCol="0" anchor="ctr">
              <a:normAutofit/>
            </a:bodyPr>
            <a:lstStyle/>
            <a:p>
              <a:pPr algn="ctr" defTabSz="685783"/>
              <a:r>
                <a:rPr lang="en-US" sz="800" dirty="0">
                  <a:solidFill>
                    <a:srgbClr val="102033"/>
                  </a:solidFill>
                </a:rPr>
                <a:t>38.93</a:t>
              </a:r>
              <a:endParaRPr lang="en-US" sz="800" dirty="0">
                <a:solidFill>
                  <a:prstClr val="black"/>
                </a:solidFill>
              </a:endParaRPr>
            </a:p>
          </p:txBody>
        </p:sp>
        <p:sp>
          <p:nvSpPr>
            <p:cNvPr id="27" name="Shape 24"/>
            <p:cNvSpPr/>
            <p:nvPr/>
          </p:nvSpPr>
          <p:spPr>
            <a:xfrm>
              <a:off x="9825228" y="4142232"/>
              <a:ext cx="985723" cy="347472"/>
            </a:xfrm>
            <a:prstGeom prst="rect">
              <a:avLst/>
            </a:prstGeom>
            <a:solidFill>
              <a:srgbClr val="FFFFFF"/>
            </a:solidFill>
            <a:ln w="6350">
              <a:solidFill>
                <a:srgbClr val="CDD6E0"/>
              </a:solidFill>
              <a:prstDash val="solid"/>
            </a:ln>
          </p:spPr>
          <p:txBody>
            <a:bodyPr/>
            <a:lstStyle/>
            <a:p>
              <a:endParaRPr lang="en-US"/>
            </a:p>
          </p:txBody>
        </p:sp>
        <p:sp>
          <p:nvSpPr>
            <p:cNvPr id="28" name="Text 25"/>
            <p:cNvSpPr/>
            <p:nvPr/>
          </p:nvSpPr>
          <p:spPr>
            <a:xfrm>
              <a:off x="9880092" y="4197096"/>
              <a:ext cx="875995" cy="237744"/>
            </a:xfrm>
            <a:prstGeom prst="rect">
              <a:avLst/>
            </a:prstGeom>
            <a:noFill/>
            <a:ln/>
          </p:spPr>
          <p:txBody>
            <a:bodyPr wrap="square" lIns="0" tIns="0" rIns="0" bIns="0" rtlCol="0" anchor="ctr">
              <a:normAutofit/>
            </a:bodyPr>
            <a:lstStyle/>
            <a:p>
              <a:pPr algn="ctr" defTabSz="685783"/>
              <a:r>
                <a:rPr lang="en-US" sz="800" dirty="0">
                  <a:solidFill>
                    <a:srgbClr val="102033"/>
                  </a:solidFill>
                </a:rPr>
                <a:t>93.58</a:t>
              </a:r>
              <a:endParaRPr lang="en-US" sz="800" dirty="0">
                <a:solidFill>
                  <a:prstClr val="black"/>
                </a:solidFill>
              </a:endParaRPr>
            </a:p>
          </p:txBody>
        </p:sp>
        <p:sp>
          <p:nvSpPr>
            <p:cNvPr id="29" name="Shape 26"/>
            <p:cNvSpPr/>
            <p:nvPr/>
          </p:nvSpPr>
          <p:spPr>
            <a:xfrm>
              <a:off x="10810951" y="4142232"/>
              <a:ext cx="1030529" cy="347472"/>
            </a:xfrm>
            <a:prstGeom prst="rect">
              <a:avLst/>
            </a:prstGeom>
            <a:solidFill>
              <a:srgbClr val="FFFFFF"/>
            </a:solidFill>
            <a:ln w="6350">
              <a:solidFill>
                <a:srgbClr val="CDD6E0"/>
              </a:solidFill>
              <a:prstDash val="solid"/>
            </a:ln>
          </p:spPr>
          <p:txBody>
            <a:bodyPr/>
            <a:lstStyle/>
            <a:p>
              <a:endParaRPr lang="en-US"/>
            </a:p>
          </p:txBody>
        </p:sp>
        <p:sp>
          <p:nvSpPr>
            <p:cNvPr id="30" name="Text 27"/>
            <p:cNvSpPr/>
            <p:nvPr/>
          </p:nvSpPr>
          <p:spPr>
            <a:xfrm>
              <a:off x="10865815" y="4197096"/>
              <a:ext cx="920801" cy="237744"/>
            </a:xfrm>
            <a:prstGeom prst="rect">
              <a:avLst/>
            </a:prstGeom>
            <a:noFill/>
            <a:ln/>
          </p:spPr>
          <p:txBody>
            <a:bodyPr wrap="square" lIns="0" tIns="0" rIns="0" bIns="0" rtlCol="0" anchor="ctr">
              <a:normAutofit/>
            </a:bodyPr>
            <a:lstStyle/>
            <a:p>
              <a:pPr algn="ctr" defTabSz="685783"/>
              <a:r>
                <a:rPr lang="en-US" sz="800" dirty="0">
                  <a:solidFill>
                    <a:srgbClr val="102033"/>
                  </a:solidFill>
                </a:rPr>
                <a:t>1,733</a:t>
              </a:r>
              <a:endParaRPr lang="en-US" sz="800" dirty="0">
                <a:solidFill>
                  <a:prstClr val="black"/>
                </a:solidFill>
              </a:endParaRPr>
            </a:p>
          </p:txBody>
        </p:sp>
        <p:sp>
          <p:nvSpPr>
            <p:cNvPr id="31" name="Shape 28"/>
            <p:cNvSpPr/>
            <p:nvPr/>
          </p:nvSpPr>
          <p:spPr>
            <a:xfrm>
              <a:off x="7360920" y="4489704"/>
              <a:ext cx="1478585" cy="347472"/>
            </a:xfrm>
            <a:prstGeom prst="rect">
              <a:avLst/>
            </a:prstGeom>
            <a:solidFill>
              <a:srgbClr val="FFFFFF"/>
            </a:solidFill>
            <a:ln w="6350">
              <a:solidFill>
                <a:srgbClr val="CDD6E0"/>
              </a:solidFill>
              <a:prstDash val="solid"/>
            </a:ln>
          </p:spPr>
          <p:txBody>
            <a:bodyPr/>
            <a:lstStyle/>
            <a:p>
              <a:endParaRPr lang="en-US"/>
            </a:p>
          </p:txBody>
        </p:sp>
        <p:sp>
          <p:nvSpPr>
            <p:cNvPr id="32" name="Text 29"/>
            <p:cNvSpPr/>
            <p:nvPr/>
          </p:nvSpPr>
          <p:spPr>
            <a:xfrm>
              <a:off x="7415784" y="4544568"/>
              <a:ext cx="1368857" cy="237744"/>
            </a:xfrm>
            <a:prstGeom prst="rect">
              <a:avLst/>
            </a:prstGeom>
            <a:noFill/>
            <a:ln/>
          </p:spPr>
          <p:txBody>
            <a:bodyPr wrap="square" lIns="0" tIns="0" rIns="0" bIns="0" rtlCol="0" anchor="ctr">
              <a:normAutofit/>
            </a:bodyPr>
            <a:lstStyle/>
            <a:p>
              <a:pPr defTabSz="685783"/>
              <a:r>
                <a:rPr lang="en-US" sz="800" dirty="0">
                  <a:solidFill>
                    <a:srgbClr val="102033"/>
                  </a:solidFill>
                </a:rPr>
                <a:t>Preictal</a:t>
              </a:r>
              <a:endParaRPr lang="en-US" sz="800" dirty="0">
                <a:solidFill>
                  <a:prstClr val="black"/>
                </a:solidFill>
              </a:endParaRPr>
            </a:p>
          </p:txBody>
        </p:sp>
        <p:sp>
          <p:nvSpPr>
            <p:cNvPr id="33" name="Shape 30"/>
            <p:cNvSpPr/>
            <p:nvPr/>
          </p:nvSpPr>
          <p:spPr>
            <a:xfrm>
              <a:off x="8839505" y="4489704"/>
              <a:ext cx="985723" cy="347472"/>
            </a:xfrm>
            <a:prstGeom prst="rect">
              <a:avLst/>
            </a:prstGeom>
            <a:solidFill>
              <a:srgbClr val="FFFFFF"/>
            </a:solidFill>
            <a:ln w="6350">
              <a:solidFill>
                <a:srgbClr val="CDD6E0"/>
              </a:solidFill>
              <a:prstDash val="solid"/>
            </a:ln>
          </p:spPr>
          <p:txBody>
            <a:bodyPr/>
            <a:lstStyle/>
            <a:p>
              <a:endParaRPr lang="en-US"/>
            </a:p>
          </p:txBody>
        </p:sp>
        <p:sp>
          <p:nvSpPr>
            <p:cNvPr id="34" name="Text 31"/>
            <p:cNvSpPr/>
            <p:nvPr/>
          </p:nvSpPr>
          <p:spPr>
            <a:xfrm>
              <a:off x="8894369" y="4544568"/>
              <a:ext cx="875995" cy="237744"/>
            </a:xfrm>
            <a:prstGeom prst="rect">
              <a:avLst/>
            </a:prstGeom>
            <a:noFill/>
            <a:ln/>
          </p:spPr>
          <p:txBody>
            <a:bodyPr wrap="square" lIns="0" tIns="0" rIns="0" bIns="0" rtlCol="0" anchor="ctr">
              <a:normAutofit/>
            </a:bodyPr>
            <a:lstStyle/>
            <a:p>
              <a:pPr algn="ctr" defTabSz="685783"/>
              <a:r>
                <a:rPr lang="en-US" sz="800" dirty="0">
                  <a:solidFill>
                    <a:srgbClr val="102033"/>
                  </a:solidFill>
                </a:rPr>
                <a:t>39.57</a:t>
              </a:r>
              <a:endParaRPr lang="en-US" sz="800" dirty="0">
                <a:solidFill>
                  <a:prstClr val="black"/>
                </a:solidFill>
              </a:endParaRPr>
            </a:p>
          </p:txBody>
        </p:sp>
        <p:sp>
          <p:nvSpPr>
            <p:cNvPr id="35" name="Shape 32"/>
            <p:cNvSpPr/>
            <p:nvPr/>
          </p:nvSpPr>
          <p:spPr>
            <a:xfrm>
              <a:off x="9825228" y="4489704"/>
              <a:ext cx="985723" cy="347472"/>
            </a:xfrm>
            <a:prstGeom prst="rect">
              <a:avLst/>
            </a:prstGeom>
            <a:solidFill>
              <a:srgbClr val="FFFFFF"/>
            </a:solidFill>
            <a:ln w="6350">
              <a:solidFill>
                <a:srgbClr val="CDD6E0"/>
              </a:solidFill>
              <a:prstDash val="solid"/>
            </a:ln>
          </p:spPr>
          <p:txBody>
            <a:bodyPr/>
            <a:lstStyle/>
            <a:p>
              <a:endParaRPr lang="en-US"/>
            </a:p>
          </p:txBody>
        </p:sp>
        <p:sp>
          <p:nvSpPr>
            <p:cNvPr id="36" name="Text 33"/>
            <p:cNvSpPr/>
            <p:nvPr/>
          </p:nvSpPr>
          <p:spPr>
            <a:xfrm>
              <a:off x="9880092" y="4544568"/>
              <a:ext cx="875995" cy="237744"/>
            </a:xfrm>
            <a:prstGeom prst="rect">
              <a:avLst/>
            </a:prstGeom>
            <a:noFill/>
            <a:ln/>
          </p:spPr>
          <p:txBody>
            <a:bodyPr wrap="square" lIns="0" tIns="0" rIns="0" bIns="0" rtlCol="0" anchor="ctr">
              <a:normAutofit/>
            </a:bodyPr>
            <a:lstStyle/>
            <a:p>
              <a:pPr algn="ctr" defTabSz="685783"/>
              <a:r>
                <a:rPr lang="en-US" sz="800" dirty="0">
                  <a:solidFill>
                    <a:srgbClr val="102033"/>
                  </a:solidFill>
                </a:rPr>
                <a:t>85.80</a:t>
              </a:r>
              <a:endParaRPr lang="en-US" sz="800" dirty="0">
                <a:solidFill>
                  <a:prstClr val="black"/>
                </a:solidFill>
              </a:endParaRPr>
            </a:p>
          </p:txBody>
        </p:sp>
        <p:sp>
          <p:nvSpPr>
            <p:cNvPr id="37" name="Shape 34"/>
            <p:cNvSpPr/>
            <p:nvPr/>
          </p:nvSpPr>
          <p:spPr>
            <a:xfrm>
              <a:off x="10810951" y="4489704"/>
              <a:ext cx="1030529" cy="347472"/>
            </a:xfrm>
            <a:prstGeom prst="rect">
              <a:avLst/>
            </a:prstGeom>
            <a:solidFill>
              <a:srgbClr val="FFFFFF"/>
            </a:solidFill>
            <a:ln w="6350">
              <a:solidFill>
                <a:srgbClr val="CDD6E0"/>
              </a:solidFill>
              <a:prstDash val="solid"/>
            </a:ln>
          </p:spPr>
          <p:txBody>
            <a:bodyPr/>
            <a:lstStyle/>
            <a:p>
              <a:endParaRPr lang="en-US"/>
            </a:p>
          </p:txBody>
        </p:sp>
        <p:sp>
          <p:nvSpPr>
            <p:cNvPr id="38" name="Text 35"/>
            <p:cNvSpPr/>
            <p:nvPr/>
          </p:nvSpPr>
          <p:spPr>
            <a:xfrm>
              <a:off x="10865815" y="4544568"/>
              <a:ext cx="920801" cy="237744"/>
            </a:xfrm>
            <a:prstGeom prst="rect">
              <a:avLst/>
            </a:prstGeom>
            <a:noFill/>
            <a:ln/>
          </p:spPr>
          <p:txBody>
            <a:bodyPr wrap="square" lIns="0" tIns="0" rIns="0" bIns="0" rtlCol="0" anchor="ctr">
              <a:normAutofit/>
            </a:bodyPr>
            <a:lstStyle/>
            <a:p>
              <a:pPr algn="ctr" defTabSz="685783"/>
              <a:r>
                <a:rPr lang="en-US" sz="800" dirty="0">
                  <a:solidFill>
                    <a:srgbClr val="102033"/>
                  </a:solidFill>
                </a:rPr>
                <a:t>1,790</a:t>
              </a:r>
              <a:endParaRPr lang="en-US" sz="800" dirty="0">
                <a:solidFill>
                  <a:prstClr val="black"/>
                </a:solidFill>
              </a:endParaRPr>
            </a:p>
          </p:txBody>
        </p:sp>
        <p:sp>
          <p:nvSpPr>
            <p:cNvPr id="39" name="Shape 36"/>
            <p:cNvSpPr/>
            <p:nvPr/>
          </p:nvSpPr>
          <p:spPr>
            <a:xfrm>
              <a:off x="7360920" y="4837176"/>
              <a:ext cx="1478585" cy="347472"/>
            </a:xfrm>
            <a:prstGeom prst="rect">
              <a:avLst/>
            </a:prstGeom>
            <a:solidFill>
              <a:srgbClr val="FFFFFF"/>
            </a:solidFill>
            <a:ln w="6350">
              <a:solidFill>
                <a:srgbClr val="CDD6E0"/>
              </a:solidFill>
              <a:prstDash val="solid"/>
            </a:ln>
          </p:spPr>
          <p:txBody>
            <a:bodyPr/>
            <a:lstStyle/>
            <a:p>
              <a:endParaRPr lang="en-US"/>
            </a:p>
          </p:txBody>
        </p:sp>
        <p:sp>
          <p:nvSpPr>
            <p:cNvPr id="40" name="Text 37"/>
            <p:cNvSpPr/>
            <p:nvPr/>
          </p:nvSpPr>
          <p:spPr>
            <a:xfrm>
              <a:off x="7415784" y="4892040"/>
              <a:ext cx="1368857" cy="237744"/>
            </a:xfrm>
            <a:prstGeom prst="rect">
              <a:avLst/>
            </a:prstGeom>
            <a:noFill/>
            <a:ln/>
          </p:spPr>
          <p:txBody>
            <a:bodyPr wrap="square" lIns="0" tIns="0" rIns="0" bIns="0" rtlCol="0" anchor="ctr">
              <a:normAutofit/>
            </a:bodyPr>
            <a:lstStyle/>
            <a:p>
              <a:pPr defTabSz="685783"/>
              <a:r>
                <a:rPr lang="en-US" sz="800" dirty="0">
                  <a:solidFill>
                    <a:srgbClr val="102033"/>
                  </a:solidFill>
                </a:rPr>
                <a:t>Ictal</a:t>
              </a:r>
              <a:endParaRPr lang="en-US" sz="800" dirty="0">
                <a:solidFill>
                  <a:prstClr val="black"/>
                </a:solidFill>
              </a:endParaRPr>
            </a:p>
          </p:txBody>
        </p:sp>
        <p:sp>
          <p:nvSpPr>
            <p:cNvPr id="41" name="Shape 38"/>
            <p:cNvSpPr/>
            <p:nvPr/>
          </p:nvSpPr>
          <p:spPr>
            <a:xfrm>
              <a:off x="8839505" y="4837176"/>
              <a:ext cx="985723" cy="347472"/>
            </a:xfrm>
            <a:prstGeom prst="rect">
              <a:avLst/>
            </a:prstGeom>
            <a:solidFill>
              <a:srgbClr val="FFFFFF"/>
            </a:solidFill>
            <a:ln w="6350">
              <a:solidFill>
                <a:srgbClr val="CDD6E0"/>
              </a:solidFill>
              <a:prstDash val="solid"/>
            </a:ln>
          </p:spPr>
          <p:txBody>
            <a:bodyPr/>
            <a:lstStyle/>
            <a:p>
              <a:endParaRPr lang="en-US"/>
            </a:p>
          </p:txBody>
        </p:sp>
        <p:sp>
          <p:nvSpPr>
            <p:cNvPr id="42" name="Text 39"/>
            <p:cNvSpPr/>
            <p:nvPr/>
          </p:nvSpPr>
          <p:spPr>
            <a:xfrm>
              <a:off x="8894369" y="4892040"/>
              <a:ext cx="875995" cy="237744"/>
            </a:xfrm>
            <a:prstGeom prst="rect">
              <a:avLst/>
            </a:prstGeom>
            <a:noFill/>
            <a:ln/>
          </p:spPr>
          <p:txBody>
            <a:bodyPr wrap="square" lIns="0" tIns="0" rIns="0" bIns="0" rtlCol="0" anchor="ctr">
              <a:normAutofit/>
            </a:bodyPr>
            <a:lstStyle/>
            <a:p>
              <a:pPr algn="ctr" defTabSz="685783"/>
              <a:r>
                <a:rPr lang="en-US" sz="800" dirty="0">
                  <a:solidFill>
                    <a:srgbClr val="102033"/>
                  </a:solidFill>
                </a:rPr>
                <a:t>119.50</a:t>
              </a:r>
              <a:endParaRPr lang="en-US" sz="800" dirty="0">
                <a:solidFill>
                  <a:prstClr val="black"/>
                </a:solidFill>
              </a:endParaRPr>
            </a:p>
          </p:txBody>
        </p:sp>
        <p:sp>
          <p:nvSpPr>
            <p:cNvPr id="43" name="Shape 40"/>
            <p:cNvSpPr/>
            <p:nvPr/>
          </p:nvSpPr>
          <p:spPr>
            <a:xfrm>
              <a:off x="9825228" y="4837176"/>
              <a:ext cx="985723" cy="347472"/>
            </a:xfrm>
            <a:prstGeom prst="rect">
              <a:avLst/>
            </a:prstGeom>
            <a:solidFill>
              <a:srgbClr val="FFFFFF"/>
            </a:solidFill>
            <a:ln w="6350">
              <a:solidFill>
                <a:srgbClr val="CDD6E0"/>
              </a:solidFill>
              <a:prstDash val="solid"/>
            </a:ln>
          </p:spPr>
          <p:txBody>
            <a:bodyPr/>
            <a:lstStyle/>
            <a:p>
              <a:endParaRPr lang="en-US"/>
            </a:p>
          </p:txBody>
        </p:sp>
        <p:sp>
          <p:nvSpPr>
            <p:cNvPr id="44" name="Text 41"/>
            <p:cNvSpPr/>
            <p:nvPr/>
          </p:nvSpPr>
          <p:spPr>
            <a:xfrm>
              <a:off x="9880092" y="4892040"/>
              <a:ext cx="875995" cy="237744"/>
            </a:xfrm>
            <a:prstGeom prst="rect">
              <a:avLst/>
            </a:prstGeom>
            <a:noFill/>
            <a:ln/>
          </p:spPr>
          <p:txBody>
            <a:bodyPr wrap="square" lIns="0" tIns="0" rIns="0" bIns="0" rtlCol="0" anchor="ctr">
              <a:normAutofit/>
            </a:bodyPr>
            <a:lstStyle/>
            <a:p>
              <a:pPr algn="ctr" defTabSz="685783"/>
              <a:r>
                <a:rPr lang="en-US" sz="800" dirty="0">
                  <a:solidFill>
                    <a:srgbClr val="102033"/>
                  </a:solidFill>
                </a:rPr>
                <a:t>1,057.88</a:t>
              </a:r>
              <a:endParaRPr lang="en-US" sz="800" dirty="0">
                <a:solidFill>
                  <a:prstClr val="black"/>
                </a:solidFill>
              </a:endParaRPr>
            </a:p>
          </p:txBody>
        </p:sp>
        <p:sp>
          <p:nvSpPr>
            <p:cNvPr id="45" name="Shape 42"/>
            <p:cNvSpPr/>
            <p:nvPr/>
          </p:nvSpPr>
          <p:spPr>
            <a:xfrm>
              <a:off x="10810951" y="4837176"/>
              <a:ext cx="1030529" cy="347472"/>
            </a:xfrm>
            <a:prstGeom prst="rect">
              <a:avLst/>
            </a:prstGeom>
            <a:solidFill>
              <a:srgbClr val="FFFFFF"/>
            </a:solidFill>
            <a:ln w="6350">
              <a:solidFill>
                <a:srgbClr val="CDD6E0"/>
              </a:solidFill>
              <a:prstDash val="solid"/>
            </a:ln>
          </p:spPr>
          <p:txBody>
            <a:bodyPr/>
            <a:lstStyle/>
            <a:p>
              <a:endParaRPr lang="en-US"/>
            </a:p>
          </p:txBody>
        </p:sp>
        <p:sp>
          <p:nvSpPr>
            <p:cNvPr id="46" name="Text 43"/>
            <p:cNvSpPr/>
            <p:nvPr/>
          </p:nvSpPr>
          <p:spPr>
            <a:xfrm>
              <a:off x="10865815" y="4892040"/>
              <a:ext cx="920801" cy="237744"/>
            </a:xfrm>
            <a:prstGeom prst="rect">
              <a:avLst/>
            </a:prstGeom>
            <a:noFill/>
            <a:ln/>
          </p:spPr>
          <p:txBody>
            <a:bodyPr wrap="square" lIns="0" tIns="0" rIns="0" bIns="0" rtlCol="0" anchor="ctr">
              <a:normAutofit/>
            </a:bodyPr>
            <a:lstStyle/>
            <a:p>
              <a:pPr algn="ctr" defTabSz="685783"/>
              <a:r>
                <a:rPr lang="en-US" sz="800" dirty="0">
                  <a:solidFill>
                    <a:srgbClr val="102033"/>
                  </a:solidFill>
                </a:rPr>
                <a:t>15,469</a:t>
              </a:r>
              <a:endParaRPr lang="en-US" sz="800" dirty="0">
                <a:solidFill>
                  <a:prstClr val="black"/>
                </a:solidFill>
              </a:endParaRPr>
            </a:p>
          </p:txBody>
        </p:sp>
      </p:grpSp>
      <p:sp>
        <p:nvSpPr>
          <p:cNvPr id="47" name="Shape 44"/>
          <p:cNvSpPr/>
          <p:nvPr/>
        </p:nvSpPr>
        <p:spPr>
          <a:xfrm>
            <a:off x="5520690" y="4080510"/>
            <a:ext cx="3360420" cy="493776"/>
          </a:xfrm>
          <a:prstGeom prst="roundRect">
            <a:avLst>
              <a:gd name="adj" fmla="val 11111"/>
            </a:avLst>
          </a:prstGeom>
          <a:solidFill>
            <a:srgbClr val="FFFFFF"/>
          </a:solidFill>
          <a:ln w="13970">
            <a:solidFill>
              <a:srgbClr val="CDD6E0">
                <a:alpha val="85000"/>
              </a:srgbClr>
            </a:solidFill>
            <a:prstDash val="solid"/>
          </a:ln>
        </p:spPr>
        <p:txBody>
          <a:bodyPr/>
          <a:lstStyle/>
          <a:p>
            <a:endParaRPr lang="en-US"/>
          </a:p>
        </p:txBody>
      </p:sp>
      <p:sp>
        <p:nvSpPr>
          <p:cNvPr id="48" name="Text 45"/>
          <p:cNvSpPr/>
          <p:nvPr/>
        </p:nvSpPr>
        <p:spPr>
          <a:xfrm>
            <a:off x="5644134" y="4162806"/>
            <a:ext cx="3113532" cy="329184"/>
          </a:xfrm>
          <a:prstGeom prst="rect">
            <a:avLst/>
          </a:prstGeom>
          <a:noFill/>
          <a:ln/>
        </p:spPr>
        <p:txBody>
          <a:bodyPr wrap="square" lIns="0" tIns="0" rIns="0" bIns="0" rtlCol="0" anchor="ctr">
            <a:normAutofit/>
          </a:bodyPr>
          <a:lstStyle/>
          <a:p>
            <a:pPr defTabSz="685783"/>
            <a:r>
              <a:rPr lang="en-US" sz="1000" dirty="0">
                <a:solidFill>
                  <a:srgbClr val="102033"/>
                </a:solidFill>
              </a:rPr>
              <a:t>Preictal medians stay close to baseline, while ictal medians are much larger.</a:t>
            </a:r>
            <a:endParaRPr lang="en-US" sz="1000" dirty="0">
              <a:solidFill>
                <a:prstClr val="black"/>
              </a:solidFill>
            </a:endParaRPr>
          </a:p>
        </p:txBody>
      </p:sp>
      <p:sp>
        <p:nvSpPr>
          <p:cNvPr id="49"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50"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Feature trajectories around seizure onset</a:t>
            </a:r>
            <a:endParaRPr lang="en-US" sz="2200" dirty="0">
              <a:solidFill>
                <a:prstClr val="black"/>
              </a:solidFill>
            </a:endParaRPr>
          </a:p>
        </p:txBody>
      </p:sp>
      <p:sp>
        <p:nvSpPr>
          <p:cNvPr id="51"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Results</a:t>
            </a:r>
            <a:endParaRPr lang="en-US" sz="1200" dirty="0">
              <a:solidFill>
                <a:prstClr val="black"/>
              </a:solidFill>
            </a:endParaRPr>
          </a:p>
        </p:txBody>
      </p:sp>
      <p:sp>
        <p:nvSpPr>
          <p:cNvPr id="52"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53"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54"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16</a:t>
            </a:r>
            <a:endParaRPr lang="en-US" sz="1200" dirty="0">
              <a:solidFill>
                <a:prstClr val="black"/>
              </a:solidFill>
            </a:endParaRPr>
          </a:p>
        </p:txBody>
      </p:sp>
      <p:sp>
        <p:nvSpPr>
          <p:cNvPr id="3" name="Rectangle 1"/>
          <p:cNvSpPr>
            <a:spLocks noChangeArrowheads="1"/>
          </p:cNvSpPr>
          <p:nvPr/>
        </p:nvSpPr>
        <p:spPr bwMode="auto">
          <a:xfrm>
            <a:off x="377190" y="4227934"/>
            <a:ext cx="4986898"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zh-CN" sz="1050" dirty="0">
                <a:solidFill>
                  <a:srgbClr val="1C2633"/>
                </a:solidFill>
                <a:ea typeface="Aptos" pitchFamily="34" charset="-122"/>
                <a:cs typeface="Aptos" pitchFamily="34" charset="-120"/>
              </a:rPr>
              <a:t>Visualization only: Features are robust-z scaled and clipped to [−8, 8].</a:t>
            </a:r>
            <a:br>
              <a:rPr lang="zh-CN" altLang="zh-CN" sz="1050" dirty="0">
                <a:solidFill>
                  <a:srgbClr val="1C2633"/>
                </a:solidFill>
                <a:ea typeface="Aptos" pitchFamily="34" charset="-122"/>
                <a:cs typeface="Aptos" pitchFamily="34" charset="-120"/>
              </a:rPr>
            </a:br>
            <a:r>
              <a:rPr lang="zh-CN" altLang="zh-CN" sz="1050" dirty="0">
                <a:solidFill>
                  <a:srgbClr val="1C2633"/>
                </a:solidFill>
                <a:ea typeface="Aptos" pitchFamily="34" charset="-122"/>
                <a:cs typeface="Aptos" pitchFamily="34" charset="-120"/>
              </a:rPr>
              <a:t>The transition index is a heuristic visualization, not a clinical score.</a:t>
            </a:r>
          </a:p>
        </p:txBody>
      </p:sp>
    </p:spTree>
    <p:extLst>
      <p:ext uri="{BB962C8B-B14F-4D97-AF65-F5344CB8AC3E}">
        <p14:creationId xmlns:p14="http://schemas.microsoft.com/office/powerpoint/2010/main" val="3987009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5" name="Image 0" descr="/mnt/data/chbmit_all_model_confusion_matrices.png"/>
          <p:cNvPicPr>
            <a:picLocks noChangeAspect="1"/>
          </p:cNvPicPr>
          <p:nvPr/>
        </p:nvPicPr>
        <p:blipFill>
          <a:blip r:embed="rId3"/>
          <a:stretch>
            <a:fillRect/>
          </a:stretch>
        </p:blipFill>
        <p:spPr>
          <a:xfrm>
            <a:off x="545883" y="483518"/>
            <a:ext cx="7554509" cy="2157904"/>
          </a:xfrm>
          <a:prstGeom prst="rect">
            <a:avLst/>
          </a:prstGeom>
        </p:spPr>
      </p:pic>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Classifier performance</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Results</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17</a:t>
            </a:r>
            <a:endParaRPr lang="en-US" sz="1200" dirty="0">
              <a:solidFill>
                <a:prstClr val="black"/>
              </a:solidFill>
            </a:endParaRPr>
          </a:p>
        </p:txBody>
      </p:sp>
      <p:sp>
        <p:nvSpPr>
          <p:cNvPr id="41" name="Shape 1"/>
          <p:cNvSpPr/>
          <p:nvPr/>
        </p:nvSpPr>
        <p:spPr>
          <a:xfrm>
            <a:off x="2" y="0"/>
            <a:ext cx="9143771" cy="82296"/>
          </a:xfrm>
          <a:prstGeom prst="rect">
            <a:avLst/>
          </a:prstGeom>
          <a:solidFill>
            <a:srgbClr val="1D5F99"/>
          </a:solidFill>
          <a:ln w="12700">
            <a:solidFill>
              <a:srgbClr val="1D5F99"/>
            </a:solidFill>
            <a:prstDash val="solid"/>
          </a:ln>
        </p:spPr>
        <p:txBody>
          <a:bodyPr/>
          <a:lstStyle/>
          <a:p>
            <a:endParaRPr lang="en-US"/>
          </a:p>
        </p:txBody>
      </p:sp>
      <p:grpSp>
        <p:nvGrpSpPr>
          <p:cNvPr id="88" name="组合 87"/>
          <p:cNvGrpSpPr/>
          <p:nvPr/>
        </p:nvGrpSpPr>
        <p:grpSpPr>
          <a:xfrm>
            <a:off x="971600" y="2715766"/>
            <a:ext cx="6912768" cy="934356"/>
            <a:chOff x="914400" y="4315968"/>
            <a:chExt cx="10378440" cy="1353312"/>
          </a:xfrm>
        </p:grpSpPr>
        <p:sp>
          <p:nvSpPr>
            <p:cNvPr id="46" name="Shape 5"/>
            <p:cNvSpPr/>
            <p:nvPr/>
          </p:nvSpPr>
          <p:spPr>
            <a:xfrm>
              <a:off x="914400" y="4315968"/>
              <a:ext cx="3528670" cy="338328"/>
            </a:xfrm>
            <a:prstGeom prst="rect">
              <a:avLst/>
            </a:prstGeom>
            <a:solidFill>
              <a:srgbClr val="0B2745"/>
            </a:solidFill>
            <a:ln w="6350">
              <a:solidFill>
                <a:srgbClr val="CDD6E0"/>
              </a:solidFill>
              <a:prstDash val="solid"/>
            </a:ln>
          </p:spPr>
          <p:txBody>
            <a:bodyPr/>
            <a:lstStyle/>
            <a:p>
              <a:endParaRPr lang="en-US"/>
            </a:p>
          </p:txBody>
        </p:sp>
        <p:sp>
          <p:nvSpPr>
            <p:cNvPr id="47" name="Text 6"/>
            <p:cNvSpPr/>
            <p:nvPr/>
          </p:nvSpPr>
          <p:spPr>
            <a:xfrm>
              <a:off x="969264" y="4370832"/>
              <a:ext cx="3418942" cy="228600"/>
            </a:xfrm>
            <a:prstGeom prst="rect">
              <a:avLst/>
            </a:prstGeom>
            <a:noFill/>
            <a:ln/>
          </p:spPr>
          <p:txBody>
            <a:bodyPr wrap="square" lIns="0" tIns="0" rIns="0" bIns="0" rtlCol="0" anchor="ctr">
              <a:normAutofit/>
            </a:bodyPr>
            <a:lstStyle/>
            <a:p>
              <a:pPr defTabSz="685783"/>
              <a:r>
                <a:rPr lang="en-US" sz="900" b="1" dirty="0">
                  <a:solidFill>
                    <a:srgbClr val="FFFFFF"/>
                  </a:solidFill>
                </a:rPr>
                <a:t>Model</a:t>
              </a:r>
              <a:endParaRPr lang="en-US" sz="900" dirty="0">
                <a:solidFill>
                  <a:prstClr val="black"/>
                </a:solidFill>
              </a:endParaRPr>
            </a:p>
          </p:txBody>
        </p:sp>
        <p:sp>
          <p:nvSpPr>
            <p:cNvPr id="48" name="Shape 7"/>
            <p:cNvSpPr/>
            <p:nvPr/>
          </p:nvSpPr>
          <p:spPr>
            <a:xfrm>
              <a:off x="4443070" y="4315968"/>
              <a:ext cx="1868119" cy="338328"/>
            </a:xfrm>
            <a:prstGeom prst="rect">
              <a:avLst/>
            </a:prstGeom>
            <a:solidFill>
              <a:srgbClr val="0B2745"/>
            </a:solidFill>
            <a:ln w="6350">
              <a:solidFill>
                <a:srgbClr val="CDD6E0"/>
              </a:solidFill>
              <a:prstDash val="solid"/>
            </a:ln>
          </p:spPr>
          <p:txBody>
            <a:bodyPr/>
            <a:lstStyle/>
            <a:p>
              <a:endParaRPr lang="en-US"/>
            </a:p>
          </p:txBody>
        </p:sp>
        <p:sp>
          <p:nvSpPr>
            <p:cNvPr id="49" name="Text 8"/>
            <p:cNvSpPr/>
            <p:nvPr/>
          </p:nvSpPr>
          <p:spPr>
            <a:xfrm>
              <a:off x="4497934" y="4370832"/>
              <a:ext cx="1758391" cy="228600"/>
            </a:xfrm>
            <a:prstGeom prst="rect">
              <a:avLst/>
            </a:prstGeom>
            <a:noFill/>
            <a:ln/>
          </p:spPr>
          <p:txBody>
            <a:bodyPr wrap="square" lIns="0" tIns="0" rIns="0" bIns="0" rtlCol="0" anchor="ctr">
              <a:normAutofit/>
            </a:bodyPr>
            <a:lstStyle/>
            <a:p>
              <a:pPr algn="ctr" defTabSz="685783"/>
              <a:r>
                <a:rPr lang="en-US" sz="900" b="1" dirty="0">
                  <a:solidFill>
                    <a:srgbClr val="FFFFFF"/>
                  </a:solidFill>
                </a:rPr>
                <a:t>Balanced acc.</a:t>
              </a:r>
              <a:endParaRPr lang="en-US" sz="900" dirty="0">
                <a:solidFill>
                  <a:prstClr val="black"/>
                </a:solidFill>
              </a:endParaRPr>
            </a:p>
          </p:txBody>
        </p:sp>
        <p:sp>
          <p:nvSpPr>
            <p:cNvPr id="50" name="Shape 9"/>
            <p:cNvSpPr/>
            <p:nvPr/>
          </p:nvSpPr>
          <p:spPr>
            <a:xfrm>
              <a:off x="6311189" y="4315968"/>
              <a:ext cx="1556766" cy="338328"/>
            </a:xfrm>
            <a:prstGeom prst="rect">
              <a:avLst/>
            </a:prstGeom>
            <a:solidFill>
              <a:srgbClr val="0B2745"/>
            </a:solidFill>
            <a:ln w="6350">
              <a:solidFill>
                <a:srgbClr val="CDD6E0"/>
              </a:solidFill>
              <a:prstDash val="solid"/>
            </a:ln>
          </p:spPr>
          <p:txBody>
            <a:bodyPr/>
            <a:lstStyle/>
            <a:p>
              <a:endParaRPr lang="en-US"/>
            </a:p>
          </p:txBody>
        </p:sp>
        <p:sp>
          <p:nvSpPr>
            <p:cNvPr id="51" name="Text 10"/>
            <p:cNvSpPr/>
            <p:nvPr/>
          </p:nvSpPr>
          <p:spPr>
            <a:xfrm>
              <a:off x="6366053" y="4370832"/>
              <a:ext cx="1447038" cy="228600"/>
            </a:xfrm>
            <a:prstGeom prst="rect">
              <a:avLst/>
            </a:prstGeom>
            <a:noFill/>
            <a:ln/>
          </p:spPr>
          <p:txBody>
            <a:bodyPr wrap="square" lIns="0" tIns="0" rIns="0" bIns="0" rtlCol="0" anchor="ctr">
              <a:normAutofit/>
            </a:bodyPr>
            <a:lstStyle/>
            <a:p>
              <a:pPr algn="ctr" defTabSz="685783"/>
              <a:r>
                <a:rPr lang="en-US" sz="900" b="1" dirty="0">
                  <a:solidFill>
                    <a:srgbClr val="FFFFFF"/>
                  </a:solidFill>
                </a:rPr>
                <a:t>Recall</a:t>
              </a:r>
              <a:endParaRPr lang="en-US" sz="900" dirty="0">
                <a:solidFill>
                  <a:prstClr val="black"/>
                </a:solidFill>
              </a:endParaRPr>
            </a:p>
          </p:txBody>
        </p:sp>
        <p:sp>
          <p:nvSpPr>
            <p:cNvPr id="52" name="Shape 11"/>
            <p:cNvSpPr/>
            <p:nvPr/>
          </p:nvSpPr>
          <p:spPr>
            <a:xfrm>
              <a:off x="7867955" y="4315968"/>
              <a:ext cx="1660550" cy="338328"/>
            </a:xfrm>
            <a:prstGeom prst="rect">
              <a:avLst/>
            </a:prstGeom>
            <a:solidFill>
              <a:srgbClr val="0B2745"/>
            </a:solidFill>
            <a:ln w="6350">
              <a:solidFill>
                <a:srgbClr val="CDD6E0"/>
              </a:solidFill>
              <a:prstDash val="solid"/>
            </a:ln>
          </p:spPr>
          <p:txBody>
            <a:bodyPr/>
            <a:lstStyle/>
            <a:p>
              <a:endParaRPr lang="en-US"/>
            </a:p>
          </p:txBody>
        </p:sp>
        <p:sp>
          <p:nvSpPr>
            <p:cNvPr id="53" name="Text 12"/>
            <p:cNvSpPr/>
            <p:nvPr/>
          </p:nvSpPr>
          <p:spPr>
            <a:xfrm>
              <a:off x="7922819" y="4370832"/>
              <a:ext cx="1550822" cy="228600"/>
            </a:xfrm>
            <a:prstGeom prst="rect">
              <a:avLst/>
            </a:prstGeom>
            <a:noFill/>
            <a:ln/>
          </p:spPr>
          <p:txBody>
            <a:bodyPr wrap="square" lIns="0" tIns="0" rIns="0" bIns="0" rtlCol="0" anchor="ctr">
              <a:normAutofit/>
            </a:bodyPr>
            <a:lstStyle/>
            <a:p>
              <a:pPr algn="ctr" defTabSz="685783"/>
              <a:r>
                <a:rPr lang="en-US" sz="900" b="1" dirty="0">
                  <a:solidFill>
                    <a:srgbClr val="FFFFFF"/>
                  </a:solidFill>
                </a:rPr>
                <a:t>Precision</a:t>
              </a:r>
              <a:endParaRPr lang="en-US" sz="900" dirty="0">
                <a:solidFill>
                  <a:prstClr val="black"/>
                </a:solidFill>
              </a:endParaRPr>
            </a:p>
          </p:txBody>
        </p:sp>
        <p:sp>
          <p:nvSpPr>
            <p:cNvPr id="54" name="Shape 13"/>
            <p:cNvSpPr/>
            <p:nvPr/>
          </p:nvSpPr>
          <p:spPr>
            <a:xfrm>
              <a:off x="9528505" y="4315968"/>
              <a:ext cx="1764335" cy="338328"/>
            </a:xfrm>
            <a:prstGeom prst="rect">
              <a:avLst/>
            </a:prstGeom>
            <a:solidFill>
              <a:srgbClr val="0B2745"/>
            </a:solidFill>
            <a:ln w="6350">
              <a:solidFill>
                <a:srgbClr val="CDD6E0"/>
              </a:solidFill>
              <a:prstDash val="solid"/>
            </a:ln>
          </p:spPr>
          <p:txBody>
            <a:bodyPr/>
            <a:lstStyle/>
            <a:p>
              <a:endParaRPr lang="en-US"/>
            </a:p>
          </p:txBody>
        </p:sp>
        <p:sp>
          <p:nvSpPr>
            <p:cNvPr id="55" name="Text 14"/>
            <p:cNvSpPr/>
            <p:nvPr/>
          </p:nvSpPr>
          <p:spPr>
            <a:xfrm>
              <a:off x="9583369" y="4370832"/>
              <a:ext cx="1654607" cy="228600"/>
            </a:xfrm>
            <a:prstGeom prst="rect">
              <a:avLst/>
            </a:prstGeom>
            <a:noFill/>
            <a:ln/>
          </p:spPr>
          <p:txBody>
            <a:bodyPr wrap="square" lIns="0" tIns="0" rIns="0" bIns="0" rtlCol="0" anchor="ctr">
              <a:normAutofit/>
            </a:bodyPr>
            <a:lstStyle/>
            <a:p>
              <a:pPr algn="ctr" defTabSz="685783"/>
              <a:r>
                <a:rPr lang="en-US" sz="900" b="1" dirty="0">
                  <a:solidFill>
                    <a:srgbClr val="FFFFFF"/>
                  </a:solidFill>
                </a:rPr>
                <a:t>FP win/hr</a:t>
              </a:r>
              <a:endParaRPr lang="en-US" sz="900" dirty="0">
                <a:solidFill>
                  <a:prstClr val="black"/>
                </a:solidFill>
              </a:endParaRPr>
            </a:p>
          </p:txBody>
        </p:sp>
        <p:sp>
          <p:nvSpPr>
            <p:cNvPr id="56" name="Shape 15"/>
            <p:cNvSpPr/>
            <p:nvPr/>
          </p:nvSpPr>
          <p:spPr>
            <a:xfrm>
              <a:off x="914400" y="4654296"/>
              <a:ext cx="3528670" cy="338328"/>
            </a:xfrm>
            <a:prstGeom prst="rect">
              <a:avLst/>
            </a:prstGeom>
            <a:solidFill>
              <a:srgbClr val="FFFFFF"/>
            </a:solidFill>
            <a:ln w="6350">
              <a:solidFill>
                <a:srgbClr val="CDD6E0"/>
              </a:solidFill>
              <a:prstDash val="solid"/>
            </a:ln>
          </p:spPr>
          <p:txBody>
            <a:bodyPr/>
            <a:lstStyle/>
            <a:p>
              <a:endParaRPr lang="en-US"/>
            </a:p>
          </p:txBody>
        </p:sp>
        <p:sp>
          <p:nvSpPr>
            <p:cNvPr id="57" name="Text 16"/>
            <p:cNvSpPr/>
            <p:nvPr/>
          </p:nvSpPr>
          <p:spPr>
            <a:xfrm>
              <a:off x="969264" y="4709160"/>
              <a:ext cx="3418942" cy="228600"/>
            </a:xfrm>
            <a:prstGeom prst="rect">
              <a:avLst/>
            </a:prstGeom>
            <a:noFill/>
            <a:ln/>
          </p:spPr>
          <p:txBody>
            <a:bodyPr wrap="square" lIns="0" tIns="0" rIns="0" bIns="0" rtlCol="0" anchor="ctr">
              <a:normAutofit/>
            </a:bodyPr>
            <a:lstStyle/>
            <a:p>
              <a:pPr defTabSz="685783"/>
              <a:r>
                <a:rPr lang="en-US" sz="900" dirty="0">
                  <a:solidFill>
                    <a:srgbClr val="102033"/>
                  </a:solidFill>
                </a:rPr>
                <a:t>Logistic regression</a:t>
              </a:r>
              <a:endParaRPr lang="en-US" sz="900" dirty="0">
                <a:solidFill>
                  <a:prstClr val="black"/>
                </a:solidFill>
              </a:endParaRPr>
            </a:p>
          </p:txBody>
        </p:sp>
        <p:sp>
          <p:nvSpPr>
            <p:cNvPr id="58" name="Shape 17"/>
            <p:cNvSpPr/>
            <p:nvPr/>
          </p:nvSpPr>
          <p:spPr>
            <a:xfrm>
              <a:off x="4443070" y="4654296"/>
              <a:ext cx="1868119" cy="338328"/>
            </a:xfrm>
            <a:prstGeom prst="rect">
              <a:avLst/>
            </a:prstGeom>
            <a:solidFill>
              <a:srgbClr val="FFFFFF"/>
            </a:solidFill>
            <a:ln w="6350">
              <a:solidFill>
                <a:srgbClr val="CDD6E0"/>
              </a:solidFill>
              <a:prstDash val="solid"/>
            </a:ln>
          </p:spPr>
          <p:txBody>
            <a:bodyPr/>
            <a:lstStyle/>
            <a:p>
              <a:endParaRPr lang="en-US"/>
            </a:p>
          </p:txBody>
        </p:sp>
        <p:sp>
          <p:nvSpPr>
            <p:cNvPr id="59" name="Text 18"/>
            <p:cNvSpPr/>
            <p:nvPr/>
          </p:nvSpPr>
          <p:spPr>
            <a:xfrm>
              <a:off x="4497934" y="4709160"/>
              <a:ext cx="1758391" cy="228600"/>
            </a:xfrm>
            <a:prstGeom prst="rect">
              <a:avLst/>
            </a:prstGeom>
            <a:noFill/>
            <a:ln/>
          </p:spPr>
          <p:txBody>
            <a:bodyPr wrap="square" lIns="0" tIns="0" rIns="0" bIns="0" rtlCol="0" anchor="ctr">
              <a:normAutofit/>
            </a:bodyPr>
            <a:lstStyle/>
            <a:p>
              <a:pPr algn="ctr" defTabSz="685783"/>
              <a:r>
                <a:rPr lang="en-US" sz="900" dirty="0">
                  <a:solidFill>
                    <a:srgbClr val="102033"/>
                  </a:solidFill>
                </a:rPr>
                <a:t>0.915</a:t>
              </a:r>
              <a:endParaRPr lang="en-US" sz="900" dirty="0">
                <a:solidFill>
                  <a:prstClr val="black"/>
                </a:solidFill>
              </a:endParaRPr>
            </a:p>
          </p:txBody>
        </p:sp>
        <p:sp>
          <p:nvSpPr>
            <p:cNvPr id="60" name="Shape 19"/>
            <p:cNvSpPr/>
            <p:nvPr/>
          </p:nvSpPr>
          <p:spPr>
            <a:xfrm>
              <a:off x="6311189" y="4654296"/>
              <a:ext cx="1556766" cy="338328"/>
            </a:xfrm>
            <a:prstGeom prst="rect">
              <a:avLst/>
            </a:prstGeom>
            <a:solidFill>
              <a:srgbClr val="FFFFFF"/>
            </a:solidFill>
            <a:ln w="6350">
              <a:solidFill>
                <a:srgbClr val="CDD6E0"/>
              </a:solidFill>
              <a:prstDash val="solid"/>
            </a:ln>
          </p:spPr>
          <p:txBody>
            <a:bodyPr/>
            <a:lstStyle/>
            <a:p>
              <a:endParaRPr lang="en-US"/>
            </a:p>
          </p:txBody>
        </p:sp>
        <p:sp>
          <p:nvSpPr>
            <p:cNvPr id="61" name="Text 20"/>
            <p:cNvSpPr/>
            <p:nvPr/>
          </p:nvSpPr>
          <p:spPr>
            <a:xfrm>
              <a:off x="6366053" y="4709160"/>
              <a:ext cx="1447038" cy="228600"/>
            </a:xfrm>
            <a:prstGeom prst="rect">
              <a:avLst/>
            </a:prstGeom>
            <a:noFill/>
            <a:ln/>
          </p:spPr>
          <p:txBody>
            <a:bodyPr wrap="square" lIns="0" tIns="0" rIns="0" bIns="0" rtlCol="0" anchor="ctr">
              <a:normAutofit/>
            </a:bodyPr>
            <a:lstStyle/>
            <a:p>
              <a:pPr algn="ctr" defTabSz="685783"/>
              <a:r>
                <a:rPr lang="en-US" sz="900" dirty="0">
                  <a:solidFill>
                    <a:srgbClr val="102033"/>
                  </a:solidFill>
                </a:rPr>
                <a:t>0.875</a:t>
              </a:r>
              <a:endParaRPr lang="en-US" sz="900" dirty="0">
                <a:solidFill>
                  <a:prstClr val="black"/>
                </a:solidFill>
              </a:endParaRPr>
            </a:p>
          </p:txBody>
        </p:sp>
        <p:sp>
          <p:nvSpPr>
            <p:cNvPr id="62" name="Shape 21"/>
            <p:cNvSpPr/>
            <p:nvPr/>
          </p:nvSpPr>
          <p:spPr>
            <a:xfrm>
              <a:off x="7867955" y="4654296"/>
              <a:ext cx="1660550" cy="338328"/>
            </a:xfrm>
            <a:prstGeom prst="rect">
              <a:avLst/>
            </a:prstGeom>
            <a:solidFill>
              <a:srgbClr val="FFFFFF"/>
            </a:solidFill>
            <a:ln w="6350">
              <a:solidFill>
                <a:srgbClr val="CDD6E0"/>
              </a:solidFill>
              <a:prstDash val="solid"/>
            </a:ln>
          </p:spPr>
          <p:txBody>
            <a:bodyPr/>
            <a:lstStyle/>
            <a:p>
              <a:endParaRPr lang="en-US"/>
            </a:p>
          </p:txBody>
        </p:sp>
        <p:sp>
          <p:nvSpPr>
            <p:cNvPr id="63" name="Text 22"/>
            <p:cNvSpPr/>
            <p:nvPr/>
          </p:nvSpPr>
          <p:spPr>
            <a:xfrm>
              <a:off x="7922819" y="4709160"/>
              <a:ext cx="1550822" cy="228600"/>
            </a:xfrm>
            <a:prstGeom prst="rect">
              <a:avLst/>
            </a:prstGeom>
            <a:noFill/>
            <a:ln/>
          </p:spPr>
          <p:txBody>
            <a:bodyPr wrap="square" lIns="0" tIns="0" rIns="0" bIns="0" rtlCol="0" anchor="ctr">
              <a:normAutofit/>
            </a:bodyPr>
            <a:lstStyle/>
            <a:p>
              <a:pPr algn="ctr" defTabSz="685783"/>
              <a:r>
                <a:rPr lang="en-US" sz="900" dirty="0">
                  <a:solidFill>
                    <a:srgbClr val="102033"/>
                  </a:solidFill>
                </a:rPr>
                <a:t>0.115</a:t>
              </a:r>
              <a:endParaRPr lang="en-US" sz="900" dirty="0">
                <a:solidFill>
                  <a:prstClr val="black"/>
                </a:solidFill>
              </a:endParaRPr>
            </a:p>
          </p:txBody>
        </p:sp>
        <p:sp>
          <p:nvSpPr>
            <p:cNvPr id="64" name="Shape 23"/>
            <p:cNvSpPr/>
            <p:nvPr/>
          </p:nvSpPr>
          <p:spPr>
            <a:xfrm>
              <a:off x="9528505" y="4654296"/>
              <a:ext cx="1764335" cy="338328"/>
            </a:xfrm>
            <a:prstGeom prst="rect">
              <a:avLst/>
            </a:prstGeom>
            <a:solidFill>
              <a:srgbClr val="FFFFFF"/>
            </a:solidFill>
            <a:ln w="6350">
              <a:solidFill>
                <a:srgbClr val="CDD6E0"/>
              </a:solidFill>
              <a:prstDash val="solid"/>
            </a:ln>
          </p:spPr>
          <p:txBody>
            <a:bodyPr/>
            <a:lstStyle/>
            <a:p>
              <a:endParaRPr lang="en-US"/>
            </a:p>
          </p:txBody>
        </p:sp>
        <p:sp>
          <p:nvSpPr>
            <p:cNvPr id="65" name="Text 24"/>
            <p:cNvSpPr/>
            <p:nvPr/>
          </p:nvSpPr>
          <p:spPr>
            <a:xfrm>
              <a:off x="9583369" y="4709160"/>
              <a:ext cx="1654607" cy="228600"/>
            </a:xfrm>
            <a:prstGeom prst="rect">
              <a:avLst/>
            </a:prstGeom>
            <a:noFill/>
            <a:ln/>
          </p:spPr>
          <p:txBody>
            <a:bodyPr wrap="square" lIns="0" tIns="0" rIns="0" bIns="0" rtlCol="0" anchor="ctr">
              <a:normAutofit/>
            </a:bodyPr>
            <a:lstStyle/>
            <a:p>
              <a:pPr algn="ctr" defTabSz="685783"/>
              <a:r>
                <a:rPr lang="en-US" sz="900" dirty="0">
                  <a:solidFill>
                    <a:srgbClr val="102033"/>
                  </a:solidFill>
                </a:rPr>
                <a:t>32.26</a:t>
              </a:r>
              <a:endParaRPr lang="en-US" sz="900" dirty="0">
                <a:solidFill>
                  <a:prstClr val="black"/>
                </a:solidFill>
              </a:endParaRPr>
            </a:p>
          </p:txBody>
        </p:sp>
        <p:sp>
          <p:nvSpPr>
            <p:cNvPr id="66" name="Shape 25"/>
            <p:cNvSpPr/>
            <p:nvPr/>
          </p:nvSpPr>
          <p:spPr>
            <a:xfrm>
              <a:off x="914400" y="4992624"/>
              <a:ext cx="3528670" cy="338328"/>
            </a:xfrm>
            <a:prstGeom prst="rect">
              <a:avLst/>
            </a:prstGeom>
            <a:solidFill>
              <a:srgbClr val="FFFFFF"/>
            </a:solidFill>
            <a:ln w="6350">
              <a:solidFill>
                <a:srgbClr val="CDD6E0"/>
              </a:solidFill>
              <a:prstDash val="solid"/>
            </a:ln>
          </p:spPr>
          <p:txBody>
            <a:bodyPr/>
            <a:lstStyle/>
            <a:p>
              <a:endParaRPr lang="en-US"/>
            </a:p>
          </p:txBody>
        </p:sp>
        <p:sp>
          <p:nvSpPr>
            <p:cNvPr id="67" name="Text 26"/>
            <p:cNvSpPr/>
            <p:nvPr/>
          </p:nvSpPr>
          <p:spPr>
            <a:xfrm>
              <a:off x="969264" y="5047488"/>
              <a:ext cx="3418942" cy="228600"/>
            </a:xfrm>
            <a:prstGeom prst="rect">
              <a:avLst/>
            </a:prstGeom>
            <a:noFill/>
            <a:ln/>
          </p:spPr>
          <p:txBody>
            <a:bodyPr wrap="square" lIns="0" tIns="0" rIns="0" bIns="0" rtlCol="0" anchor="ctr">
              <a:normAutofit/>
            </a:bodyPr>
            <a:lstStyle/>
            <a:p>
              <a:pPr defTabSz="685783"/>
              <a:r>
                <a:rPr lang="en-US" sz="900" dirty="0">
                  <a:solidFill>
                    <a:srgbClr val="102033"/>
                  </a:solidFill>
                </a:rPr>
                <a:t>Random forest</a:t>
              </a:r>
              <a:endParaRPr lang="en-US" sz="900" dirty="0">
                <a:solidFill>
                  <a:prstClr val="black"/>
                </a:solidFill>
              </a:endParaRPr>
            </a:p>
          </p:txBody>
        </p:sp>
        <p:sp>
          <p:nvSpPr>
            <p:cNvPr id="68" name="Shape 27"/>
            <p:cNvSpPr/>
            <p:nvPr/>
          </p:nvSpPr>
          <p:spPr>
            <a:xfrm>
              <a:off x="4443070" y="4992624"/>
              <a:ext cx="1868119" cy="338328"/>
            </a:xfrm>
            <a:prstGeom prst="rect">
              <a:avLst/>
            </a:prstGeom>
            <a:solidFill>
              <a:srgbClr val="FFFFFF"/>
            </a:solidFill>
            <a:ln w="6350">
              <a:solidFill>
                <a:srgbClr val="CDD6E0"/>
              </a:solidFill>
              <a:prstDash val="solid"/>
            </a:ln>
          </p:spPr>
          <p:txBody>
            <a:bodyPr/>
            <a:lstStyle/>
            <a:p>
              <a:endParaRPr lang="en-US"/>
            </a:p>
          </p:txBody>
        </p:sp>
        <p:sp>
          <p:nvSpPr>
            <p:cNvPr id="69" name="Text 28"/>
            <p:cNvSpPr/>
            <p:nvPr/>
          </p:nvSpPr>
          <p:spPr>
            <a:xfrm>
              <a:off x="4497934" y="5047488"/>
              <a:ext cx="1758391" cy="228600"/>
            </a:xfrm>
            <a:prstGeom prst="rect">
              <a:avLst/>
            </a:prstGeom>
            <a:noFill/>
            <a:ln/>
          </p:spPr>
          <p:txBody>
            <a:bodyPr wrap="square" lIns="0" tIns="0" rIns="0" bIns="0" rtlCol="0" anchor="ctr">
              <a:normAutofit/>
            </a:bodyPr>
            <a:lstStyle/>
            <a:p>
              <a:pPr algn="ctr" defTabSz="685783"/>
              <a:r>
                <a:rPr lang="en-US" sz="900" dirty="0">
                  <a:solidFill>
                    <a:srgbClr val="102033"/>
                  </a:solidFill>
                </a:rPr>
                <a:t>0.905</a:t>
              </a:r>
              <a:endParaRPr lang="en-US" sz="900" dirty="0">
                <a:solidFill>
                  <a:prstClr val="black"/>
                </a:solidFill>
              </a:endParaRPr>
            </a:p>
          </p:txBody>
        </p:sp>
        <p:sp>
          <p:nvSpPr>
            <p:cNvPr id="70" name="Shape 29"/>
            <p:cNvSpPr/>
            <p:nvPr/>
          </p:nvSpPr>
          <p:spPr>
            <a:xfrm>
              <a:off x="6311189" y="4992624"/>
              <a:ext cx="1556766" cy="338328"/>
            </a:xfrm>
            <a:prstGeom prst="rect">
              <a:avLst/>
            </a:prstGeom>
            <a:solidFill>
              <a:srgbClr val="FFFFFF"/>
            </a:solidFill>
            <a:ln w="6350">
              <a:solidFill>
                <a:srgbClr val="CDD6E0"/>
              </a:solidFill>
              <a:prstDash val="solid"/>
            </a:ln>
          </p:spPr>
          <p:txBody>
            <a:bodyPr/>
            <a:lstStyle/>
            <a:p>
              <a:endParaRPr lang="en-US"/>
            </a:p>
          </p:txBody>
        </p:sp>
        <p:sp>
          <p:nvSpPr>
            <p:cNvPr id="71" name="Text 30"/>
            <p:cNvSpPr/>
            <p:nvPr/>
          </p:nvSpPr>
          <p:spPr>
            <a:xfrm>
              <a:off x="6366053" y="5047488"/>
              <a:ext cx="1447038" cy="228600"/>
            </a:xfrm>
            <a:prstGeom prst="rect">
              <a:avLst/>
            </a:prstGeom>
            <a:noFill/>
            <a:ln/>
          </p:spPr>
          <p:txBody>
            <a:bodyPr wrap="square" lIns="0" tIns="0" rIns="0" bIns="0" rtlCol="0" anchor="ctr">
              <a:normAutofit/>
            </a:bodyPr>
            <a:lstStyle/>
            <a:p>
              <a:pPr algn="ctr" defTabSz="685783"/>
              <a:r>
                <a:rPr lang="en-US" sz="900" dirty="0">
                  <a:solidFill>
                    <a:srgbClr val="102033"/>
                  </a:solidFill>
                </a:rPr>
                <a:t>0.833</a:t>
              </a:r>
              <a:endParaRPr lang="en-US" sz="900" dirty="0">
                <a:solidFill>
                  <a:prstClr val="black"/>
                </a:solidFill>
              </a:endParaRPr>
            </a:p>
          </p:txBody>
        </p:sp>
        <p:sp>
          <p:nvSpPr>
            <p:cNvPr id="72" name="Shape 31"/>
            <p:cNvSpPr/>
            <p:nvPr/>
          </p:nvSpPr>
          <p:spPr>
            <a:xfrm>
              <a:off x="7867955" y="4992624"/>
              <a:ext cx="1660550" cy="338328"/>
            </a:xfrm>
            <a:prstGeom prst="rect">
              <a:avLst/>
            </a:prstGeom>
            <a:solidFill>
              <a:srgbClr val="FFFFFF"/>
            </a:solidFill>
            <a:ln w="6350">
              <a:solidFill>
                <a:srgbClr val="CDD6E0"/>
              </a:solidFill>
              <a:prstDash val="solid"/>
            </a:ln>
          </p:spPr>
          <p:txBody>
            <a:bodyPr/>
            <a:lstStyle/>
            <a:p>
              <a:endParaRPr lang="en-US"/>
            </a:p>
          </p:txBody>
        </p:sp>
        <p:sp>
          <p:nvSpPr>
            <p:cNvPr id="73" name="Text 32"/>
            <p:cNvSpPr/>
            <p:nvPr/>
          </p:nvSpPr>
          <p:spPr>
            <a:xfrm>
              <a:off x="7922819" y="5047488"/>
              <a:ext cx="1550822" cy="228600"/>
            </a:xfrm>
            <a:prstGeom prst="rect">
              <a:avLst/>
            </a:prstGeom>
            <a:noFill/>
            <a:ln/>
          </p:spPr>
          <p:txBody>
            <a:bodyPr wrap="square" lIns="0" tIns="0" rIns="0" bIns="0" rtlCol="0" anchor="ctr">
              <a:normAutofit/>
            </a:bodyPr>
            <a:lstStyle/>
            <a:p>
              <a:pPr algn="ctr" defTabSz="685783"/>
              <a:r>
                <a:rPr lang="en-US" sz="900" dirty="0">
                  <a:solidFill>
                    <a:srgbClr val="102033"/>
                  </a:solidFill>
                </a:rPr>
                <a:t>0.190</a:t>
              </a:r>
              <a:endParaRPr lang="en-US" sz="900" dirty="0">
                <a:solidFill>
                  <a:prstClr val="black"/>
                </a:solidFill>
              </a:endParaRPr>
            </a:p>
          </p:txBody>
        </p:sp>
        <p:sp>
          <p:nvSpPr>
            <p:cNvPr id="74" name="Shape 33"/>
            <p:cNvSpPr/>
            <p:nvPr/>
          </p:nvSpPr>
          <p:spPr>
            <a:xfrm>
              <a:off x="9528505" y="4992624"/>
              <a:ext cx="1764335" cy="338328"/>
            </a:xfrm>
            <a:prstGeom prst="rect">
              <a:avLst/>
            </a:prstGeom>
            <a:solidFill>
              <a:srgbClr val="FFFFFF"/>
            </a:solidFill>
            <a:ln w="6350">
              <a:solidFill>
                <a:srgbClr val="CDD6E0"/>
              </a:solidFill>
              <a:prstDash val="solid"/>
            </a:ln>
          </p:spPr>
          <p:txBody>
            <a:bodyPr/>
            <a:lstStyle/>
            <a:p>
              <a:endParaRPr lang="en-US"/>
            </a:p>
          </p:txBody>
        </p:sp>
        <p:sp>
          <p:nvSpPr>
            <p:cNvPr id="75" name="Text 34"/>
            <p:cNvSpPr/>
            <p:nvPr/>
          </p:nvSpPr>
          <p:spPr>
            <a:xfrm>
              <a:off x="9583369" y="5047488"/>
              <a:ext cx="1654607" cy="228600"/>
            </a:xfrm>
            <a:prstGeom prst="rect">
              <a:avLst/>
            </a:prstGeom>
            <a:noFill/>
            <a:ln/>
          </p:spPr>
          <p:txBody>
            <a:bodyPr wrap="square" lIns="0" tIns="0" rIns="0" bIns="0" rtlCol="0" anchor="ctr">
              <a:normAutofit/>
            </a:bodyPr>
            <a:lstStyle/>
            <a:p>
              <a:pPr algn="ctr" defTabSz="685783"/>
              <a:r>
                <a:rPr lang="en-US" sz="900" dirty="0">
                  <a:solidFill>
                    <a:srgbClr val="102033"/>
                  </a:solidFill>
                </a:rPr>
                <a:t>16.99</a:t>
              </a:r>
              <a:endParaRPr lang="en-US" sz="900" dirty="0">
                <a:solidFill>
                  <a:prstClr val="black"/>
                </a:solidFill>
              </a:endParaRPr>
            </a:p>
          </p:txBody>
        </p:sp>
        <p:sp>
          <p:nvSpPr>
            <p:cNvPr id="76" name="Shape 35"/>
            <p:cNvSpPr/>
            <p:nvPr/>
          </p:nvSpPr>
          <p:spPr>
            <a:xfrm>
              <a:off x="914400" y="5330952"/>
              <a:ext cx="3528670" cy="338328"/>
            </a:xfrm>
            <a:prstGeom prst="rect">
              <a:avLst/>
            </a:prstGeom>
            <a:solidFill>
              <a:srgbClr val="FFFFFF"/>
            </a:solidFill>
            <a:ln w="6350">
              <a:solidFill>
                <a:srgbClr val="CDD6E0"/>
              </a:solidFill>
              <a:prstDash val="solid"/>
            </a:ln>
          </p:spPr>
          <p:txBody>
            <a:bodyPr/>
            <a:lstStyle/>
            <a:p>
              <a:endParaRPr lang="en-US"/>
            </a:p>
          </p:txBody>
        </p:sp>
        <p:sp>
          <p:nvSpPr>
            <p:cNvPr id="77" name="Text 36"/>
            <p:cNvSpPr/>
            <p:nvPr/>
          </p:nvSpPr>
          <p:spPr>
            <a:xfrm>
              <a:off x="969264" y="5385816"/>
              <a:ext cx="3418942" cy="228600"/>
            </a:xfrm>
            <a:prstGeom prst="rect">
              <a:avLst/>
            </a:prstGeom>
            <a:noFill/>
            <a:ln/>
          </p:spPr>
          <p:txBody>
            <a:bodyPr wrap="square" lIns="0" tIns="0" rIns="0" bIns="0" rtlCol="0" anchor="ctr">
              <a:normAutofit/>
            </a:bodyPr>
            <a:lstStyle/>
            <a:p>
              <a:pPr defTabSz="685783"/>
              <a:r>
                <a:rPr lang="en-US" sz="900" dirty="0">
                  <a:solidFill>
                    <a:srgbClr val="102033"/>
                  </a:solidFill>
                </a:rPr>
                <a:t>RFECV logistic</a:t>
              </a:r>
              <a:endParaRPr lang="en-US" sz="900" dirty="0">
                <a:solidFill>
                  <a:prstClr val="black"/>
                </a:solidFill>
              </a:endParaRPr>
            </a:p>
          </p:txBody>
        </p:sp>
        <p:sp>
          <p:nvSpPr>
            <p:cNvPr id="78" name="Shape 37"/>
            <p:cNvSpPr/>
            <p:nvPr/>
          </p:nvSpPr>
          <p:spPr>
            <a:xfrm>
              <a:off x="4443070" y="5330952"/>
              <a:ext cx="1868119" cy="338328"/>
            </a:xfrm>
            <a:prstGeom prst="rect">
              <a:avLst/>
            </a:prstGeom>
            <a:solidFill>
              <a:srgbClr val="FFFFFF"/>
            </a:solidFill>
            <a:ln w="6350">
              <a:solidFill>
                <a:srgbClr val="CDD6E0"/>
              </a:solidFill>
              <a:prstDash val="solid"/>
            </a:ln>
          </p:spPr>
          <p:txBody>
            <a:bodyPr/>
            <a:lstStyle/>
            <a:p>
              <a:endParaRPr lang="en-US"/>
            </a:p>
          </p:txBody>
        </p:sp>
        <p:sp>
          <p:nvSpPr>
            <p:cNvPr id="79" name="Text 38"/>
            <p:cNvSpPr/>
            <p:nvPr/>
          </p:nvSpPr>
          <p:spPr>
            <a:xfrm>
              <a:off x="4497934" y="5385816"/>
              <a:ext cx="1758391" cy="228600"/>
            </a:xfrm>
            <a:prstGeom prst="rect">
              <a:avLst/>
            </a:prstGeom>
            <a:noFill/>
            <a:ln/>
          </p:spPr>
          <p:txBody>
            <a:bodyPr wrap="square" lIns="0" tIns="0" rIns="0" bIns="0" rtlCol="0" anchor="ctr">
              <a:normAutofit/>
            </a:bodyPr>
            <a:lstStyle/>
            <a:p>
              <a:pPr algn="ctr" defTabSz="685783"/>
              <a:r>
                <a:rPr lang="en-US" sz="900" dirty="0">
                  <a:solidFill>
                    <a:srgbClr val="102033"/>
                  </a:solidFill>
                </a:rPr>
                <a:t>0.931</a:t>
              </a:r>
              <a:endParaRPr lang="en-US" sz="900" dirty="0">
                <a:solidFill>
                  <a:prstClr val="black"/>
                </a:solidFill>
              </a:endParaRPr>
            </a:p>
          </p:txBody>
        </p:sp>
        <p:sp>
          <p:nvSpPr>
            <p:cNvPr id="80" name="Shape 39"/>
            <p:cNvSpPr/>
            <p:nvPr/>
          </p:nvSpPr>
          <p:spPr>
            <a:xfrm>
              <a:off x="6311189" y="5330952"/>
              <a:ext cx="1556766" cy="338328"/>
            </a:xfrm>
            <a:prstGeom prst="rect">
              <a:avLst/>
            </a:prstGeom>
            <a:solidFill>
              <a:srgbClr val="FFFFFF"/>
            </a:solidFill>
            <a:ln w="6350">
              <a:solidFill>
                <a:srgbClr val="CDD6E0"/>
              </a:solidFill>
              <a:prstDash val="solid"/>
            </a:ln>
          </p:spPr>
          <p:txBody>
            <a:bodyPr/>
            <a:lstStyle/>
            <a:p>
              <a:endParaRPr lang="en-US"/>
            </a:p>
          </p:txBody>
        </p:sp>
        <p:sp>
          <p:nvSpPr>
            <p:cNvPr id="81" name="Text 40"/>
            <p:cNvSpPr/>
            <p:nvPr/>
          </p:nvSpPr>
          <p:spPr>
            <a:xfrm>
              <a:off x="6366053" y="5385816"/>
              <a:ext cx="1447038" cy="228600"/>
            </a:xfrm>
            <a:prstGeom prst="rect">
              <a:avLst/>
            </a:prstGeom>
            <a:noFill/>
            <a:ln/>
          </p:spPr>
          <p:txBody>
            <a:bodyPr wrap="square" lIns="0" tIns="0" rIns="0" bIns="0" rtlCol="0" anchor="ctr">
              <a:normAutofit/>
            </a:bodyPr>
            <a:lstStyle/>
            <a:p>
              <a:pPr algn="ctr" defTabSz="685783"/>
              <a:r>
                <a:rPr lang="en-US" sz="900" dirty="0">
                  <a:solidFill>
                    <a:srgbClr val="102033"/>
                  </a:solidFill>
                </a:rPr>
                <a:t>0.917</a:t>
              </a:r>
              <a:endParaRPr lang="en-US" sz="900" dirty="0">
                <a:solidFill>
                  <a:prstClr val="black"/>
                </a:solidFill>
              </a:endParaRPr>
            </a:p>
          </p:txBody>
        </p:sp>
        <p:sp>
          <p:nvSpPr>
            <p:cNvPr id="82" name="Shape 41"/>
            <p:cNvSpPr/>
            <p:nvPr/>
          </p:nvSpPr>
          <p:spPr>
            <a:xfrm>
              <a:off x="7867955" y="5330952"/>
              <a:ext cx="1660550" cy="338328"/>
            </a:xfrm>
            <a:prstGeom prst="rect">
              <a:avLst/>
            </a:prstGeom>
            <a:solidFill>
              <a:srgbClr val="FFFFFF"/>
            </a:solidFill>
            <a:ln w="6350">
              <a:solidFill>
                <a:srgbClr val="CDD6E0"/>
              </a:solidFill>
              <a:prstDash val="solid"/>
            </a:ln>
          </p:spPr>
          <p:txBody>
            <a:bodyPr/>
            <a:lstStyle/>
            <a:p>
              <a:endParaRPr lang="en-US"/>
            </a:p>
          </p:txBody>
        </p:sp>
        <p:sp>
          <p:nvSpPr>
            <p:cNvPr id="83" name="Text 42"/>
            <p:cNvSpPr/>
            <p:nvPr/>
          </p:nvSpPr>
          <p:spPr>
            <a:xfrm>
              <a:off x="7922819" y="5385816"/>
              <a:ext cx="1550822" cy="228600"/>
            </a:xfrm>
            <a:prstGeom prst="rect">
              <a:avLst/>
            </a:prstGeom>
            <a:noFill/>
            <a:ln/>
          </p:spPr>
          <p:txBody>
            <a:bodyPr wrap="square" lIns="0" tIns="0" rIns="0" bIns="0" rtlCol="0" anchor="ctr">
              <a:normAutofit/>
            </a:bodyPr>
            <a:lstStyle/>
            <a:p>
              <a:pPr algn="ctr" defTabSz="685783"/>
              <a:r>
                <a:rPr lang="en-US" sz="900" dirty="0">
                  <a:solidFill>
                    <a:srgbClr val="102033"/>
                  </a:solidFill>
                </a:rPr>
                <a:t>0.100</a:t>
              </a:r>
              <a:endParaRPr lang="en-US" sz="900" dirty="0">
                <a:solidFill>
                  <a:prstClr val="black"/>
                </a:solidFill>
              </a:endParaRPr>
            </a:p>
          </p:txBody>
        </p:sp>
        <p:sp>
          <p:nvSpPr>
            <p:cNvPr id="84" name="Shape 43"/>
            <p:cNvSpPr/>
            <p:nvPr/>
          </p:nvSpPr>
          <p:spPr>
            <a:xfrm>
              <a:off x="9528505" y="5330952"/>
              <a:ext cx="1764335" cy="338328"/>
            </a:xfrm>
            <a:prstGeom prst="rect">
              <a:avLst/>
            </a:prstGeom>
            <a:solidFill>
              <a:srgbClr val="FFFFFF"/>
            </a:solidFill>
            <a:ln w="6350">
              <a:solidFill>
                <a:srgbClr val="CDD6E0"/>
              </a:solidFill>
              <a:prstDash val="solid"/>
            </a:ln>
          </p:spPr>
          <p:txBody>
            <a:bodyPr/>
            <a:lstStyle/>
            <a:p>
              <a:endParaRPr lang="en-US"/>
            </a:p>
          </p:txBody>
        </p:sp>
        <p:sp>
          <p:nvSpPr>
            <p:cNvPr id="85" name="Text 44"/>
            <p:cNvSpPr/>
            <p:nvPr/>
          </p:nvSpPr>
          <p:spPr>
            <a:xfrm>
              <a:off x="9583369" y="5385816"/>
              <a:ext cx="1654607" cy="228600"/>
            </a:xfrm>
            <a:prstGeom prst="rect">
              <a:avLst/>
            </a:prstGeom>
            <a:noFill/>
            <a:ln/>
          </p:spPr>
          <p:txBody>
            <a:bodyPr wrap="square" lIns="0" tIns="0" rIns="0" bIns="0" rtlCol="0" anchor="ctr">
              <a:normAutofit/>
            </a:bodyPr>
            <a:lstStyle/>
            <a:p>
              <a:pPr algn="ctr" defTabSz="685783"/>
              <a:r>
                <a:rPr lang="en-US" sz="900" dirty="0">
                  <a:solidFill>
                    <a:srgbClr val="102033"/>
                  </a:solidFill>
                </a:rPr>
                <a:t>39.42</a:t>
              </a:r>
              <a:endParaRPr lang="en-US" sz="900" dirty="0">
                <a:solidFill>
                  <a:prstClr val="black"/>
                </a:solidFill>
              </a:endParaRPr>
            </a:p>
          </p:txBody>
        </p:sp>
      </p:grpSp>
      <p:sp>
        <p:nvSpPr>
          <p:cNvPr id="86" name="Shape 45"/>
          <p:cNvSpPr/>
          <p:nvPr/>
        </p:nvSpPr>
        <p:spPr>
          <a:xfrm>
            <a:off x="809244" y="4299942"/>
            <a:ext cx="7291148" cy="504065"/>
          </a:xfrm>
          <a:prstGeom prst="roundRect">
            <a:avLst>
              <a:gd name="adj" fmla="val 19048"/>
            </a:avLst>
          </a:prstGeom>
          <a:solidFill>
            <a:srgbClr val="E9F6F5"/>
          </a:solidFill>
          <a:ln w="13970">
            <a:solidFill>
              <a:srgbClr val="249AA5">
                <a:alpha val="85000"/>
              </a:srgbClr>
            </a:solidFill>
            <a:prstDash val="solid"/>
          </a:ln>
        </p:spPr>
        <p:txBody>
          <a:bodyPr/>
          <a:lstStyle/>
          <a:p>
            <a:endParaRPr lang="en-US"/>
          </a:p>
        </p:txBody>
      </p:sp>
      <p:sp>
        <p:nvSpPr>
          <p:cNvPr id="87" name="Text 46"/>
          <p:cNvSpPr/>
          <p:nvPr/>
        </p:nvSpPr>
        <p:spPr>
          <a:xfrm>
            <a:off x="995498" y="4299942"/>
            <a:ext cx="7536942" cy="545237"/>
          </a:xfrm>
          <a:prstGeom prst="rect">
            <a:avLst/>
          </a:prstGeom>
          <a:noFill/>
          <a:ln/>
        </p:spPr>
        <p:txBody>
          <a:bodyPr wrap="square" lIns="0" tIns="0" rIns="0" bIns="0" rtlCol="0" anchor="ctr">
            <a:noAutofit/>
          </a:bodyPr>
          <a:lstStyle/>
          <a:p>
            <a:pPr defTabSz="685783"/>
            <a:r>
              <a:rPr lang="en-US" sz="1200" dirty="0">
                <a:solidFill>
                  <a:srgbClr val="102033"/>
                </a:solidFill>
              </a:rPr>
              <a:t>Best depends on objective: RFECV maximizes sensitivity; </a:t>
            </a:r>
          </a:p>
          <a:p>
            <a:pPr defTabSz="685783"/>
            <a:r>
              <a:rPr lang="en-US" sz="1200" dirty="0">
                <a:solidFill>
                  <a:srgbClr val="102033"/>
                </a:solidFill>
              </a:rPr>
              <a:t>random forest reduces false positives and improves precision.</a:t>
            </a:r>
            <a:endParaRPr lang="en-US" sz="1200" dirty="0">
              <a:solidFill>
                <a:prstClr val="black"/>
              </a:solidFill>
            </a:endParaRPr>
          </a:p>
        </p:txBody>
      </p:sp>
      <p:sp>
        <p:nvSpPr>
          <p:cNvPr id="8" name="矩形 7"/>
          <p:cNvSpPr/>
          <p:nvPr/>
        </p:nvSpPr>
        <p:spPr>
          <a:xfrm>
            <a:off x="2435652" y="3766269"/>
            <a:ext cx="7968996" cy="461665"/>
          </a:xfrm>
          <a:prstGeom prst="rect">
            <a:avLst/>
          </a:prstGeom>
        </p:spPr>
        <p:txBody>
          <a:bodyPr wrap="square">
            <a:spAutoFit/>
          </a:bodyPr>
          <a:lstStyle/>
          <a:p>
            <a:r>
              <a:rPr lang="en-US" altLang="zh-CN" sz="1200" dirty="0">
                <a:solidFill>
                  <a:schemeClr val="bg2">
                    <a:lumMod val="25000"/>
                  </a:schemeClr>
                </a:solidFill>
              </a:rPr>
              <a:t>Record-held-out split: 10,920 test windows, 72 </a:t>
            </a:r>
            <a:r>
              <a:rPr lang="en-US" altLang="zh-CN" sz="1200" dirty="0" err="1">
                <a:solidFill>
                  <a:schemeClr val="bg2">
                    <a:lumMod val="25000"/>
                  </a:schemeClr>
                </a:solidFill>
              </a:rPr>
              <a:t>ictal</a:t>
            </a:r>
            <a:r>
              <a:rPr lang="en-US" altLang="zh-CN" sz="1200" dirty="0">
                <a:solidFill>
                  <a:schemeClr val="bg2">
                    <a:lumMod val="25000"/>
                  </a:schemeClr>
                </a:solidFill>
              </a:rPr>
              <a:t>; </a:t>
            </a:r>
          </a:p>
          <a:p>
            <a:r>
              <a:rPr lang="en-US" altLang="zh-CN" sz="1200" dirty="0">
                <a:solidFill>
                  <a:schemeClr val="bg2">
                    <a:lumMod val="25000"/>
                  </a:schemeClr>
                </a:solidFill>
              </a:rPr>
              <a:t>no windows from the same EDF record appear in both train and test.</a:t>
            </a:r>
          </a:p>
        </p:txBody>
      </p:sp>
      <p:sp>
        <p:nvSpPr>
          <p:cNvPr id="9" name="矩形 8"/>
          <p:cNvSpPr/>
          <p:nvPr/>
        </p:nvSpPr>
        <p:spPr>
          <a:xfrm>
            <a:off x="855849" y="3848149"/>
            <a:ext cx="1531188" cy="307777"/>
          </a:xfrm>
          <a:prstGeom prst="rect">
            <a:avLst/>
          </a:prstGeom>
        </p:spPr>
        <p:txBody>
          <a:bodyPr wrap="none">
            <a:spAutoFit/>
          </a:bodyPr>
          <a:lstStyle/>
          <a:p>
            <a:r>
              <a:rPr lang="en-US" altLang="zh-CN" sz="1400" b="1" dirty="0">
                <a:solidFill>
                  <a:schemeClr val="accent1">
                    <a:lumMod val="50000"/>
                  </a:schemeClr>
                </a:solidFill>
              </a:rPr>
              <a:t>Test-set design</a:t>
            </a:r>
            <a:endParaRPr lang="zh-CN" altLang="en-US" sz="1400" b="1" dirty="0">
              <a:solidFill>
                <a:schemeClr val="accent1">
                  <a:lumMod val="50000"/>
                </a:schemeClr>
              </a:solidFill>
            </a:endParaRPr>
          </a:p>
        </p:txBody>
      </p:sp>
    </p:spTree>
    <p:extLst>
      <p:ext uri="{BB962C8B-B14F-4D97-AF65-F5344CB8AC3E}">
        <p14:creationId xmlns:p14="http://schemas.microsoft.com/office/powerpoint/2010/main" val="2337935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defTabSz="685783"/>
            <a:r>
              <a:rPr lang="en-US" sz="2200" b="1" dirty="0">
                <a:solidFill>
                  <a:srgbClr val="0B2A4A"/>
                </a:solidFill>
                <a:latin typeface="Aptos Display" pitchFamily="34" charset="0"/>
                <a:ea typeface="Aptos Display" pitchFamily="34" charset="-122"/>
                <a:cs typeface="Aptos Display" pitchFamily="34" charset="-120"/>
              </a:rPr>
              <a:t>Preictal positive-call rates</a:t>
            </a:r>
            <a:endParaRPr lang="en-US" sz="2200" dirty="0">
              <a:solidFill>
                <a:prstClr val="black"/>
              </a:solidFill>
            </a:endParaRP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Results</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defTabSz="685783"/>
            <a:r>
              <a:rPr lang="en-US" sz="1200" dirty="0">
                <a:solidFill>
                  <a:srgbClr val="1F77B4"/>
                </a:solidFill>
              </a:rPr>
              <a:t>18</a:t>
            </a:r>
            <a:endParaRPr lang="en-US" sz="1200" dirty="0">
              <a:solidFill>
                <a:prstClr val="black"/>
              </a:solidFill>
            </a:endParaRPr>
          </a:p>
        </p:txBody>
      </p:sp>
      <p:grpSp>
        <p:nvGrpSpPr>
          <p:cNvPr id="36" name="组合 35"/>
          <p:cNvGrpSpPr/>
          <p:nvPr/>
        </p:nvGrpSpPr>
        <p:grpSpPr>
          <a:xfrm>
            <a:off x="617220" y="1062990"/>
            <a:ext cx="5074920" cy="1577340"/>
            <a:chOff x="822960" y="1417320"/>
            <a:chExt cx="6766560" cy="2103120"/>
          </a:xfrm>
        </p:grpSpPr>
        <p:sp>
          <p:nvSpPr>
            <p:cNvPr id="8" name="Shape 6"/>
            <p:cNvSpPr/>
            <p:nvPr/>
          </p:nvSpPr>
          <p:spPr>
            <a:xfrm>
              <a:off x="822960" y="1417320"/>
              <a:ext cx="6766560" cy="525780"/>
            </a:xfrm>
            <a:prstGeom prst="rect">
              <a:avLst/>
            </a:prstGeom>
            <a:solidFill>
              <a:srgbClr val="1F77B4"/>
            </a:solidFill>
            <a:ln w="12700">
              <a:solidFill>
                <a:srgbClr val="1F77B4"/>
              </a:solidFill>
              <a:prstDash val="solid"/>
            </a:ln>
          </p:spPr>
          <p:txBody>
            <a:bodyPr/>
            <a:lstStyle/>
            <a:p>
              <a:endParaRPr lang="en-US"/>
            </a:p>
          </p:txBody>
        </p:sp>
        <p:sp>
          <p:nvSpPr>
            <p:cNvPr id="9" name="Shape 7"/>
            <p:cNvSpPr/>
            <p:nvPr/>
          </p:nvSpPr>
          <p:spPr>
            <a:xfrm>
              <a:off x="822960" y="1417320"/>
              <a:ext cx="6766560" cy="2103120"/>
            </a:xfrm>
            <a:prstGeom prst="rect">
              <a:avLst/>
            </a:prstGeom>
            <a:solidFill>
              <a:srgbClr val="FFFFFF">
                <a:alpha val="0"/>
              </a:srgbClr>
            </a:solidFill>
            <a:ln w="12700">
              <a:solidFill>
                <a:srgbClr val="D6E6F5"/>
              </a:solidFill>
              <a:prstDash val="solid"/>
            </a:ln>
          </p:spPr>
          <p:txBody>
            <a:bodyPr/>
            <a:lstStyle/>
            <a:p>
              <a:endParaRPr lang="en-US"/>
            </a:p>
          </p:txBody>
        </p:sp>
        <p:sp>
          <p:nvSpPr>
            <p:cNvPr id="10" name="Shape 8"/>
            <p:cNvSpPr/>
            <p:nvPr/>
          </p:nvSpPr>
          <p:spPr>
            <a:xfrm>
              <a:off x="822960" y="1943100"/>
              <a:ext cx="6766560" cy="0"/>
            </a:xfrm>
            <a:prstGeom prst="line">
              <a:avLst/>
            </a:prstGeom>
            <a:noFill/>
            <a:ln w="10160">
              <a:solidFill>
                <a:srgbClr val="D6E6F5"/>
              </a:solidFill>
              <a:prstDash val="solid"/>
            </a:ln>
          </p:spPr>
          <p:txBody>
            <a:bodyPr/>
            <a:lstStyle/>
            <a:p>
              <a:endParaRPr lang="en-US"/>
            </a:p>
          </p:txBody>
        </p:sp>
        <p:sp>
          <p:nvSpPr>
            <p:cNvPr id="11" name="Shape 9"/>
            <p:cNvSpPr/>
            <p:nvPr/>
          </p:nvSpPr>
          <p:spPr>
            <a:xfrm>
              <a:off x="822960" y="2468880"/>
              <a:ext cx="6766560" cy="0"/>
            </a:xfrm>
            <a:prstGeom prst="line">
              <a:avLst/>
            </a:prstGeom>
            <a:noFill/>
            <a:ln w="10160">
              <a:solidFill>
                <a:srgbClr val="D6E6F5"/>
              </a:solidFill>
              <a:prstDash val="solid"/>
            </a:ln>
          </p:spPr>
          <p:txBody>
            <a:bodyPr/>
            <a:lstStyle/>
            <a:p>
              <a:endParaRPr lang="en-US"/>
            </a:p>
          </p:txBody>
        </p:sp>
        <p:sp>
          <p:nvSpPr>
            <p:cNvPr id="12" name="Shape 10"/>
            <p:cNvSpPr/>
            <p:nvPr/>
          </p:nvSpPr>
          <p:spPr>
            <a:xfrm>
              <a:off x="822960" y="2994660"/>
              <a:ext cx="6766560" cy="0"/>
            </a:xfrm>
            <a:prstGeom prst="line">
              <a:avLst/>
            </a:prstGeom>
            <a:noFill/>
            <a:ln w="10160">
              <a:solidFill>
                <a:srgbClr val="D6E6F5"/>
              </a:solidFill>
              <a:prstDash val="solid"/>
            </a:ln>
          </p:spPr>
          <p:txBody>
            <a:bodyPr/>
            <a:lstStyle/>
            <a:p>
              <a:endParaRPr lang="en-US"/>
            </a:p>
          </p:txBody>
        </p:sp>
        <p:sp>
          <p:nvSpPr>
            <p:cNvPr id="13" name="Shape 11"/>
            <p:cNvSpPr/>
            <p:nvPr/>
          </p:nvSpPr>
          <p:spPr>
            <a:xfrm>
              <a:off x="3861007" y="1417320"/>
              <a:ext cx="0" cy="2103120"/>
            </a:xfrm>
            <a:prstGeom prst="line">
              <a:avLst/>
            </a:prstGeom>
            <a:noFill/>
            <a:ln w="10160">
              <a:solidFill>
                <a:srgbClr val="D6E6F5"/>
              </a:solidFill>
              <a:prstDash val="solid"/>
            </a:ln>
          </p:spPr>
          <p:txBody>
            <a:bodyPr/>
            <a:lstStyle/>
            <a:p>
              <a:endParaRPr lang="en-US"/>
            </a:p>
          </p:txBody>
        </p:sp>
        <p:sp>
          <p:nvSpPr>
            <p:cNvPr id="14" name="Shape 12"/>
            <p:cNvSpPr/>
            <p:nvPr/>
          </p:nvSpPr>
          <p:spPr>
            <a:xfrm>
              <a:off x="5103845" y="1417320"/>
              <a:ext cx="0" cy="2103120"/>
            </a:xfrm>
            <a:prstGeom prst="line">
              <a:avLst/>
            </a:prstGeom>
            <a:noFill/>
            <a:ln w="10160">
              <a:solidFill>
                <a:srgbClr val="D6E6F5"/>
              </a:solidFill>
              <a:prstDash val="solid"/>
            </a:ln>
          </p:spPr>
          <p:txBody>
            <a:bodyPr/>
            <a:lstStyle/>
            <a:p>
              <a:endParaRPr lang="en-US"/>
            </a:p>
          </p:txBody>
        </p:sp>
        <p:sp>
          <p:nvSpPr>
            <p:cNvPr id="15" name="Shape 13"/>
            <p:cNvSpPr/>
            <p:nvPr/>
          </p:nvSpPr>
          <p:spPr>
            <a:xfrm>
              <a:off x="6346682" y="1417320"/>
              <a:ext cx="0" cy="2103120"/>
            </a:xfrm>
            <a:prstGeom prst="line">
              <a:avLst/>
            </a:prstGeom>
            <a:noFill/>
            <a:ln w="10160">
              <a:solidFill>
                <a:srgbClr val="D6E6F5"/>
              </a:solidFill>
              <a:prstDash val="solid"/>
            </a:ln>
          </p:spPr>
          <p:txBody>
            <a:bodyPr/>
            <a:lstStyle/>
            <a:p>
              <a:endParaRPr lang="en-US"/>
            </a:p>
          </p:txBody>
        </p:sp>
        <p:sp>
          <p:nvSpPr>
            <p:cNvPr id="16" name="Text 14"/>
            <p:cNvSpPr/>
            <p:nvPr/>
          </p:nvSpPr>
          <p:spPr>
            <a:xfrm>
              <a:off x="868680" y="1453896"/>
              <a:ext cx="2946607" cy="452628"/>
            </a:xfrm>
            <a:prstGeom prst="rect">
              <a:avLst/>
            </a:prstGeom>
            <a:noFill/>
            <a:ln/>
          </p:spPr>
          <p:txBody>
            <a:bodyPr wrap="square" lIns="127" tIns="127" rIns="127" bIns="127" rtlCol="0" anchor="ctr">
              <a:normAutofit/>
            </a:bodyPr>
            <a:lstStyle/>
            <a:p>
              <a:pPr defTabSz="685783"/>
              <a:r>
                <a:rPr lang="en-US" sz="1300" b="1" dirty="0">
                  <a:solidFill>
                    <a:srgbClr val="FFFFFF"/>
                  </a:solidFill>
                  <a:ea typeface="Aptos" pitchFamily="34" charset="-122"/>
                  <a:cs typeface="Aptos" pitchFamily="34" charset="-120"/>
                </a:rPr>
                <a:t>Model</a:t>
              </a:r>
              <a:endParaRPr lang="en-US" sz="1300" dirty="0">
                <a:solidFill>
                  <a:prstClr val="black"/>
                </a:solidFill>
              </a:endParaRPr>
            </a:p>
          </p:txBody>
        </p:sp>
        <p:sp>
          <p:nvSpPr>
            <p:cNvPr id="17" name="Text 15"/>
            <p:cNvSpPr/>
            <p:nvPr/>
          </p:nvSpPr>
          <p:spPr>
            <a:xfrm>
              <a:off x="3906727" y="1453896"/>
              <a:ext cx="1151398" cy="452628"/>
            </a:xfrm>
            <a:prstGeom prst="rect">
              <a:avLst/>
            </a:prstGeom>
            <a:noFill/>
            <a:ln/>
          </p:spPr>
          <p:txBody>
            <a:bodyPr wrap="square" lIns="127" tIns="127" rIns="127" bIns="127" rtlCol="0" anchor="ctr">
              <a:normAutofit/>
            </a:bodyPr>
            <a:lstStyle/>
            <a:p>
              <a:pPr algn="ctr" defTabSz="685783"/>
              <a:r>
                <a:rPr lang="en-US" sz="1300" b="1" dirty="0">
                  <a:solidFill>
                    <a:srgbClr val="FFFFFF"/>
                  </a:solidFill>
                  <a:ea typeface="Aptos" pitchFamily="34" charset="-122"/>
                  <a:cs typeface="Aptos" pitchFamily="34" charset="-120"/>
                </a:rPr>
                <a:t>Baseline</a:t>
              </a:r>
              <a:endParaRPr lang="en-US" sz="1300" dirty="0">
                <a:solidFill>
                  <a:prstClr val="black"/>
                </a:solidFill>
              </a:endParaRPr>
            </a:p>
          </p:txBody>
        </p:sp>
        <p:sp>
          <p:nvSpPr>
            <p:cNvPr id="18" name="Text 16"/>
            <p:cNvSpPr/>
            <p:nvPr/>
          </p:nvSpPr>
          <p:spPr>
            <a:xfrm>
              <a:off x="5149565" y="1453896"/>
              <a:ext cx="1151398" cy="452628"/>
            </a:xfrm>
            <a:prstGeom prst="rect">
              <a:avLst/>
            </a:prstGeom>
            <a:noFill/>
            <a:ln/>
          </p:spPr>
          <p:txBody>
            <a:bodyPr wrap="square" lIns="127" tIns="127" rIns="127" bIns="127" rtlCol="0" anchor="ctr">
              <a:normAutofit/>
            </a:bodyPr>
            <a:lstStyle/>
            <a:p>
              <a:pPr algn="ctr" defTabSz="685783"/>
              <a:r>
                <a:rPr lang="en-US" sz="1300" b="1" dirty="0">
                  <a:solidFill>
                    <a:srgbClr val="FFFFFF"/>
                  </a:solidFill>
                  <a:ea typeface="Aptos" pitchFamily="34" charset="-122"/>
                  <a:cs typeface="Aptos" pitchFamily="34" charset="-120"/>
                </a:rPr>
                <a:t>Preictal</a:t>
              </a:r>
              <a:endParaRPr lang="en-US" sz="1300" dirty="0">
                <a:solidFill>
                  <a:prstClr val="black"/>
                </a:solidFill>
              </a:endParaRPr>
            </a:p>
          </p:txBody>
        </p:sp>
        <p:sp>
          <p:nvSpPr>
            <p:cNvPr id="19" name="Text 17"/>
            <p:cNvSpPr/>
            <p:nvPr/>
          </p:nvSpPr>
          <p:spPr>
            <a:xfrm>
              <a:off x="6392402" y="1453896"/>
              <a:ext cx="1151398" cy="452628"/>
            </a:xfrm>
            <a:prstGeom prst="rect">
              <a:avLst/>
            </a:prstGeom>
            <a:noFill/>
            <a:ln/>
          </p:spPr>
          <p:txBody>
            <a:bodyPr wrap="square" lIns="127" tIns="127" rIns="127" bIns="127" rtlCol="0" anchor="ctr">
              <a:normAutofit/>
            </a:bodyPr>
            <a:lstStyle/>
            <a:p>
              <a:pPr algn="ctr" defTabSz="685783"/>
              <a:r>
                <a:rPr lang="en-US" sz="1300" b="1" dirty="0">
                  <a:solidFill>
                    <a:srgbClr val="FFFFFF"/>
                  </a:solidFill>
                  <a:ea typeface="Aptos" pitchFamily="34" charset="-122"/>
                  <a:cs typeface="Aptos" pitchFamily="34" charset="-120"/>
                </a:rPr>
                <a:t>Ictal</a:t>
              </a:r>
              <a:endParaRPr lang="en-US" sz="1300" dirty="0">
                <a:solidFill>
                  <a:prstClr val="black"/>
                </a:solidFill>
              </a:endParaRPr>
            </a:p>
          </p:txBody>
        </p:sp>
        <p:sp>
          <p:nvSpPr>
            <p:cNvPr id="20" name="Text 18"/>
            <p:cNvSpPr/>
            <p:nvPr/>
          </p:nvSpPr>
          <p:spPr>
            <a:xfrm>
              <a:off x="868680" y="1979676"/>
              <a:ext cx="2946607" cy="452628"/>
            </a:xfrm>
            <a:prstGeom prst="rect">
              <a:avLst/>
            </a:prstGeom>
            <a:noFill/>
            <a:ln/>
          </p:spPr>
          <p:txBody>
            <a:bodyPr wrap="square" lIns="127" tIns="127" rIns="127" bIns="127" rtlCol="0" anchor="ctr">
              <a:normAutofit/>
            </a:bodyPr>
            <a:lstStyle/>
            <a:p>
              <a:pPr defTabSz="685783"/>
              <a:r>
                <a:rPr lang="en-US" sz="1300" dirty="0">
                  <a:solidFill>
                    <a:srgbClr val="1C2633"/>
                  </a:solidFill>
                  <a:ea typeface="Aptos" pitchFamily="34" charset="-122"/>
                  <a:cs typeface="Aptos" pitchFamily="34" charset="-120"/>
                </a:rPr>
                <a:t>Logistic regression</a:t>
              </a:r>
              <a:endParaRPr lang="en-US" sz="1300" dirty="0">
                <a:solidFill>
                  <a:prstClr val="black"/>
                </a:solidFill>
              </a:endParaRPr>
            </a:p>
          </p:txBody>
        </p:sp>
        <p:sp>
          <p:nvSpPr>
            <p:cNvPr id="21" name="Text 19"/>
            <p:cNvSpPr/>
            <p:nvPr/>
          </p:nvSpPr>
          <p:spPr>
            <a:xfrm>
              <a:off x="3906727" y="1979676"/>
              <a:ext cx="1151398" cy="452628"/>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0.0425</a:t>
              </a:r>
              <a:endParaRPr lang="en-US" sz="1300" dirty="0">
                <a:solidFill>
                  <a:prstClr val="black"/>
                </a:solidFill>
              </a:endParaRPr>
            </a:p>
          </p:txBody>
        </p:sp>
        <p:sp>
          <p:nvSpPr>
            <p:cNvPr id="22" name="Text 20"/>
            <p:cNvSpPr/>
            <p:nvPr/>
          </p:nvSpPr>
          <p:spPr>
            <a:xfrm>
              <a:off x="5149565" y="1979676"/>
              <a:ext cx="1151398" cy="452628"/>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0.1458</a:t>
              </a:r>
              <a:endParaRPr lang="en-US" sz="1300" dirty="0">
                <a:solidFill>
                  <a:prstClr val="black"/>
                </a:solidFill>
              </a:endParaRPr>
            </a:p>
          </p:txBody>
        </p:sp>
        <p:sp>
          <p:nvSpPr>
            <p:cNvPr id="23" name="Text 21"/>
            <p:cNvSpPr/>
            <p:nvPr/>
          </p:nvSpPr>
          <p:spPr>
            <a:xfrm>
              <a:off x="6392402" y="1979676"/>
              <a:ext cx="1151398" cy="452628"/>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0.8750</a:t>
              </a:r>
              <a:endParaRPr lang="en-US" sz="1300" dirty="0">
                <a:solidFill>
                  <a:prstClr val="black"/>
                </a:solidFill>
              </a:endParaRPr>
            </a:p>
          </p:txBody>
        </p:sp>
        <p:sp>
          <p:nvSpPr>
            <p:cNvPr id="24" name="Text 22"/>
            <p:cNvSpPr/>
            <p:nvPr/>
          </p:nvSpPr>
          <p:spPr>
            <a:xfrm>
              <a:off x="868680" y="2505456"/>
              <a:ext cx="2946607" cy="452628"/>
            </a:xfrm>
            <a:prstGeom prst="rect">
              <a:avLst/>
            </a:prstGeom>
            <a:noFill/>
            <a:ln/>
          </p:spPr>
          <p:txBody>
            <a:bodyPr wrap="square" lIns="127" tIns="127" rIns="127" bIns="127" rtlCol="0" anchor="ctr">
              <a:normAutofit/>
            </a:bodyPr>
            <a:lstStyle/>
            <a:p>
              <a:pPr defTabSz="685783"/>
              <a:r>
                <a:rPr lang="en-US" sz="1300" dirty="0">
                  <a:solidFill>
                    <a:srgbClr val="1C2633"/>
                  </a:solidFill>
                  <a:ea typeface="Aptos" pitchFamily="34" charset="-122"/>
                  <a:cs typeface="Aptos" pitchFamily="34" charset="-120"/>
                </a:rPr>
                <a:t>Random forest</a:t>
              </a:r>
              <a:endParaRPr lang="en-US" sz="1300" dirty="0">
                <a:solidFill>
                  <a:prstClr val="black"/>
                </a:solidFill>
              </a:endParaRPr>
            </a:p>
          </p:txBody>
        </p:sp>
        <p:sp>
          <p:nvSpPr>
            <p:cNvPr id="25" name="Text 23"/>
            <p:cNvSpPr/>
            <p:nvPr/>
          </p:nvSpPr>
          <p:spPr>
            <a:xfrm>
              <a:off x="3906727" y="2505456"/>
              <a:ext cx="1151398" cy="452628"/>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0.0222</a:t>
              </a:r>
              <a:endParaRPr lang="en-US" sz="1300" dirty="0">
                <a:solidFill>
                  <a:prstClr val="black"/>
                </a:solidFill>
              </a:endParaRPr>
            </a:p>
          </p:txBody>
        </p:sp>
        <p:sp>
          <p:nvSpPr>
            <p:cNvPr id="26" name="Text 24"/>
            <p:cNvSpPr/>
            <p:nvPr/>
          </p:nvSpPr>
          <p:spPr>
            <a:xfrm>
              <a:off x="5149565" y="2505456"/>
              <a:ext cx="1151398" cy="452628"/>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0.0875</a:t>
              </a:r>
              <a:endParaRPr lang="en-US" sz="1300" dirty="0">
                <a:solidFill>
                  <a:prstClr val="black"/>
                </a:solidFill>
              </a:endParaRPr>
            </a:p>
          </p:txBody>
        </p:sp>
        <p:sp>
          <p:nvSpPr>
            <p:cNvPr id="27" name="Text 25"/>
            <p:cNvSpPr/>
            <p:nvPr/>
          </p:nvSpPr>
          <p:spPr>
            <a:xfrm>
              <a:off x="6392402" y="2505456"/>
              <a:ext cx="1151398" cy="452628"/>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0.8333</a:t>
              </a:r>
              <a:endParaRPr lang="en-US" sz="1300" dirty="0">
                <a:solidFill>
                  <a:prstClr val="black"/>
                </a:solidFill>
              </a:endParaRPr>
            </a:p>
          </p:txBody>
        </p:sp>
        <p:sp>
          <p:nvSpPr>
            <p:cNvPr id="28" name="Text 26"/>
            <p:cNvSpPr/>
            <p:nvPr/>
          </p:nvSpPr>
          <p:spPr>
            <a:xfrm>
              <a:off x="868680" y="3031236"/>
              <a:ext cx="2946607" cy="452628"/>
            </a:xfrm>
            <a:prstGeom prst="rect">
              <a:avLst/>
            </a:prstGeom>
            <a:noFill/>
            <a:ln/>
          </p:spPr>
          <p:txBody>
            <a:bodyPr wrap="square" lIns="127" tIns="127" rIns="127" bIns="127" rtlCol="0" anchor="ctr">
              <a:normAutofit/>
            </a:bodyPr>
            <a:lstStyle/>
            <a:p>
              <a:pPr defTabSz="685783"/>
              <a:r>
                <a:rPr lang="en-US" sz="1300" dirty="0">
                  <a:solidFill>
                    <a:srgbClr val="1C2633"/>
                  </a:solidFill>
                  <a:ea typeface="Aptos" pitchFamily="34" charset="-122"/>
                  <a:cs typeface="Aptos" pitchFamily="34" charset="-120"/>
                </a:rPr>
                <a:t>RFECV logistic regression</a:t>
              </a:r>
              <a:endParaRPr lang="en-US" sz="1300" dirty="0">
                <a:solidFill>
                  <a:prstClr val="black"/>
                </a:solidFill>
              </a:endParaRPr>
            </a:p>
          </p:txBody>
        </p:sp>
        <p:sp>
          <p:nvSpPr>
            <p:cNvPr id="29" name="Text 27"/>
            <p:cNvSpPr/>
            <p:nvPr/>
          </p:nvSpPr>
          <p:spPr>
            <a:xfrm>
              <a:off x="3906727" y="3031236"/>
              <a:ext cx="1151398" cy="452628"/>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0.0519</a:t>
              </a:r>
              <a:endParaRPr lang="en-US" sz="1300" dirty="0">
                <a:solidFill>
                  <a:prstClr val="black"/>
                </a:solidFill>
              </a:endParaRPr>
            </a:p>
          </p:txBody>
        </p:sp>
        <p:sp>
          <p:nvSpPr>
            <p:cNvPr id="30" name="Text 28"/>
            <p:cNvSpPr/>
            <p:nvPr/>
          </p:nvSpPr>
          <p:spPr>
            <a:xfrm>
              <a:off x="5149565" y="3031236"/>
              <a:ext cx="1151398" cy="452628"/>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0.1792</a:t>
              </a:r>
              <a:endParaRPr lang="en-US" sz="1300" dirty="0">
                <a:solidFill>
                  <a:prstClr val="black"/>
                </a:solidFill>
              </a:endParaRPr>
            </a:p>
          </p:txBody>
        </p:sp>
        <p:sp>
          <p:nvSpPr>
            <p:cNvPr id="31" name="Text 29"/>
            <p:cNvSpPr/>
            <p:nvPr/>
          </p:nvSpPr>
          <p:spPr>
            <a:xfrm>
              <a:off x="6392402" y="3031236"/>
              <a:ext cx="1151398" cy="452628"/>
            </a:xfrm>
            <a:prstGeom prst="rect">
              <a:avLst/>
            </a:prstGeom>
            <a:noFill/>
            <a:ln/>
          </p:spPr>
          <p:txBody>
            <a:bodyPr wrap="square" lIns="127" tIns="127" rIns="127" bIns="127" rtlCol="0" anchor="ctr">
              <a:normAutofit/>
            </a:bodyPr>
            <a:lstStyle/>
            <a:p>
              <a:pPr algn="ctr" defTabSz="685783"/>
              <a:r>
                <a:rPr lang="en-US" sz="1300" dirty="0">
                  <a:solidFill>
                    <a:srgbClr val="1C2633"/>
                  </a:solidFill>
                  <a:ea typeface="Aptos" pitchFamily="34" charset="-122"/>
                  <a:cs typeface="Aptos" pitchFamily="34" charset="-120"/>
                </a:rPr>
                <a:t>0.9167</a:t>
              </a:r>
              <a:endParaRPr lang="en-US" sz="1300" dirty="0">
                <a:solidFill>
                  <a:prstClr val="black"/>
                </a:solidFill>
              </a:endParaRPr>
            </a:p>
          </p:txBody>
        </p:sp>
      </p:grpSp>
      <p:sp>
        <p:nvSpPr>
          <p:cNvPr id="32" name="Shape 30"/>
          <p:cNvSpPr/>
          <p:nvPr/>
        </p:nvSpPr>
        <p:spPr>
          <a:xfrm>
            <a:off x="5932170" y="1059582"/>
            <a:ext cx="2571750" cy="1580748"/>
          </a:xfrm>
          <a:prstGeom prst="roundRect">
            <a:avLst>
              <a:gd name="adj" fmla="val 6667"/>
            </a:avLst>
          </a:prstGeom>
          <a:solidFill>
            <a:srgbClr val="EAF4FF"/>
          </a:solidFill>
          <a:ln w="15240">
            <a:solidFill>
              <a:srgbClr val="D6E6F5"/>
            </a:solidFill>
            <a:prstDash val="solid"/>
          </a:ln>
        </p:spPr>
        <p:txBody>
          <a:bodyPr/>
          <a:lstStyle/>
          <a:p>
            <a:endParaRPr lang="en-US"/>
          </a:p>
        </p:txBody>
      </p:sp>
      <p:sp>
        <p:nvSpPr>
          <p:cNvPr id="33" name="Text 31"/>
          <p:cNvSpPr/>
          <p:nvPr/>
        </p:nvSpPr>
        <p:spPr>
          <a:xfrm>
            <a:off x="6055614" y="1190041"/>
            <a:ext cx="2324862" cy="1309701"/>
          </a:xfrm>
          <a:prstGeom prst="rect">
            <a:avLst/>
          </a:prstGeom>
          <a:noFill/>
          <a:ln/>
        </p:spPr>
        <p:txBody>
          <a:bodyPr wrap="square" lIns="191" tIns="191" rIns="191" bIns="191" rtlCol="0" anchor="ctr">
            <a:normAutofit/>
          </a:bodyPr>
          <a:lstStyle/>
          <a:p>
            <a:pPr defTabSz="685783">
              <a:lnSpc>
                <a:spcPct val="150000"/>
              </a:lnSpc>
            </a:pPr>
            <a:r>
              <a:rPr lang="en-US" sz="1400" b="1" dirty="0">
                <a:solidFill>
                  <a:srgbClr val="1C2633"/>
                </a:solidFill>
              </a:rPr>
              <a:t>Observation: preictal windows are called positive more often than baseline windows.</a:t>
            </a:r>
            <a:endParaRPr lang="en-US" sz="1400" dirty="0">
              <a:solidFill>
                <a:prstClr val="black"/>
              </a:solidFill>
            </a:endParaRPr>
          </a:p>
        </p:txBody>
      </p:sp>
      <p:sp>
        <p:nvSpPr>
          <p:cNvPr id="34" name="Text 32"/>
          <p:cNvSpPr/>
          <p:nvPr/>
        </p:nvSpPr>
        <p:spPr>
          <a:xfrm>
            <a:off x="685800" y="2914650"/>
            <a:ext cx="1851660" cy="240030"/>
          </a:xfrm>
          <a:prstGeom prst="rect">
            <a:avLst/>
          </a:prstGeom>
          <a:noFill/>
          <a:ln/>
        </p:spPr>
        <p:txBody>
          <a:bodyPr wrap="square" lIns="0" tIns="0" rIns="0" bIns="0" rtlCol="0" anchor="ctr"/>
          <a:lstStyle/>
          <a:p>
            <a:pPr defTabSz="685783"/>
            <a:r>
              <a:rPr lang="en-US" b="1" dirty="0">
                <a:solidFill>
                  <a:srgbClr val="0B2A4A"/>
                </a:solidFill>
              </a:rPr>
              <a:t>Interpretation</a:t>
            </a:r>
            <a:endParaRPr lang="en-US" dirty="0">
              <a:solidFill>
                <a:prstClr val="black"/>
              </a:solidFill>
            </a:endParaRPr>
          </a:p>
        </p:txBody>
      </p:sp>
      <p:sp>
        <p:nvSpPr>
          <p:cNvPr id="35" name="Text 33"/>
          <p:cNvSpPr/>
          <p:nvPr/>
        </p:nvSpPr>
        <p:spPr>
          <a:xfrm>
            <a:off x="685800" y="3257551"/>
            <a:ext cx="6789420" cy="1385888"/>
          </a:xfrm>
          <a:prstGeom prst="rect">
            <a:avLst/>
          </a:prstGeom>
          <a:noFill/>
          <a:ln/>
        </p:spPr>
        <p:txBody>
          <a:bodyPr wrap="square" lIns="572" tIns="572" rIns="572" bIns="572" rtlCol="0" anchor="t">
            <a:normAutofit/>
          </a:bodyPr>
          <a:lstStyle/>
          <a:p>
            <a:pPr defTabSz="685783">
              <a:lnSpc>
                <a:spcPct val="150000"/>
              </a:lnSpc>
            </a:pPr>
            <a:r>
              <a:rPr lang="en-US" sz="1400" dirty="0">
                <a:solidFill>
                  <a:srgbClr val="1C2633"/>
                </a:solidFill>
                <a:ea typeface="Aptos" pitchFamily="34" charset="-122"/>
                <a:cs typeface="Aptos" pitchFamily="34" charset="-120"/>
              </a:rPr>
              <a:t>• This may reflect onset-near feature changes.</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However, preictal windows were negative examples during training.</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The result does not validate a reliable seizure-prediction system.</a:t>
            </a:r>
            <a:endParaRPr lang="en-US" sz="1400" dirty="0">
              <a:solidFill>
                <a:prstClr val="black"/>
              </a:solidFill>
            </a:endParaRPr>
          </a:p>
          <a:p>
            <a:pPr defTabSz="685783">
              <a:lnSpc>
                <a:spcPct val="150000"/>
              </a:lnSpc>
            </a:pPr>
            <a:r>
              <a:rPr lang="en-US" sz="1400" dirty="0">
                <a:solidFill>
                  <a:srgbClr val="1C2633"/>
                </a:solidFill>
                <a:ea typeface="Aptos" pitchFamily="34" charset="-122"/>
                <a:cs typeface="Aptos" pitchFamily="34" charset="-120"/>
              </a:rPr>
              <a:t>• It should be treated as qualitative context only.</a:t>
            </a:r>
            <a:endParaRPr lang="en-US" sz="1400" dirty="0">
              <a:solidFill>
                <a:prstClr val="black"/>
              </a:solidFill>
            </a:endParaRPr>
          </a:p>
        </p:txBody>
      </p:sp>
    </p:spTree>
    <p:extLst>
      <p:ext uri="{BB962C8B-B14F-4D97-AF65-F5344CB8AC3E}">
        <p14:creationId xmlns:p14="http://schemas.microsoft.com/office/powerpoint/2010/main" val="2376098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algn="l"/>
            <a:r>
              <a:rPr sz="2200" b="1">
                <a:solidFill>
                  <a:srgbClr val="0B2A4A"/>
                </a:solidFill>
                <a:latin typeface="Aptos Display"/>
              </a:rPr>
              <a:t>Explanation reliability: full-feature CI</a:t>
            </a: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CI / RFECV</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a:r>
              <a:rPr sz="1200">
                <a:solidFill>
                  <a:srgbClr val="1F77B4"/>
                </a:solidFill>
              </a:rPr>
              <a:t>19</a:t>
            </a:r>
          </a:p>
        </p:txBody>
      </p:sp>
      <p:sp>
        <p:nvSpPr>
          <p:cNvPr id="8" name="Rounded Rectangle 7"/>
          <p:cNvSpPr/>
          <p:nvPr/>
        </p:nvSpPr>
        <p:spPr>
          <a:xfrm>
            <a:off x="411480" y="749808"/>
            <a:ext cx="3794760" cy="1280160"/>
          </a:xfrm>
          <a:prstGeom prst="roundRect">
            <a:avLst/>
          </a:prstGeom>
          <a:solidFill>
            <a:srgbClr val="FFFFFF"/>
          </a:solidFill>
          <a:ln w="16510">
            <a:solidFill>
              <a:srgbClr val="D6E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850392"/>
            <a:ext cx="3520440" cy="1143000"/>
          </a:xfrm>
          <a:prstGeom prst="rect">
            <a:avLst/>
          </a:prstGeom>
          <a:noFill/>
        </p:spPr>
        <p:txBody>
          <a:bodyPr wrap="square">
            <a:normAutofit/>
          </a:bodyPr>
          <a:lstStyle/>
          <a:p>
            <a:r>
              <a:rPr sz="1400" b="1">
                <a:solidFill>
                  <a:srgbClr val="0B2A4A"/>
                </a:solidFill>
              </a:rPr>
              <a:t>What CI compares</a:t>
            </a:r>
          </a:p>
          <a:p>
            <a:pPr>
              <a:spcAft>
                <a:spcPts val="100"/>
              </a:spcAft>
            </a:pPr>
            <a:r>
              <a:rPr sz="1050">
                <a:solidFill>
                  <a:srgbClr val="1C2633"/>
                </a:solidFill>
              </a:rPr>
              <a:t>Three importance rankings:</a:t>
            </a:r>
          </a:p>
          <a:p>
            <a:pPr>
              <a:spcAft>
                <a:spcPts val="100"/>
              </a:spcAft>
            </a:pPr>
            <a:r>
              <a:rPr sz="1050">
                <a:solidFill>
                  <a:srgbClr val="1C2633"/>
                </a:solidFill>
              </a:rPr>
              <a:t>• logistic coefficient magnitude</a:t>
            </a:r>
          </a:p>
          <a:p>
            <a:pPr>
              <a:spcAft>
                <a:spcPts val="100"/>
              </a:spcAft>
            </a:pPr>
            <a:r>
              <a:rPr sz="1050">
                <a:solidFill>
                  <a:srgbClr val="1C2633"/>
                </a:solidFill>
              </a:rPr>
              <a:t>• random-forest impurity importance</a:t>
            </a:r>
          </a:p>
          <a:p>
            <a:pPr>
              <a:spcAft>
                <a:spcPts val="100"/>
              </a:spcAft>
            </a:pPr>
            <a:r>
              <a:rPr sz="1050">
                <a:solidFill>
                  <a:srgbClr val="1C2633"/>
                </a:solidFill>
              </a:rPr>
              <a:t>• random-forest permutation importance</a:t>
            </a:r>
          </a:p>
        </p:txBody>
      </p:sp>
      <p:sp>
        <p:nvSpPr>
          <p:cNvPr id="10" name="Rounded Rectangle 9"/>
          <p:cNvSpPr/>
          <p:nvPr/>
        </p:nvSpPr>
        <p:spPr>
          <a:xfrm>
            <a:off x="411480" y="2130552"/>
            <a:ext cx="3794760" cy="749808"/>
          </a:xfrm>
          <a:prstGeom prst="roundRect">
            <a:avLst/>
          </a:prstGeom>
          <a:solidFill>
            <a:srgbClr val="F9FCFF"/>
          </a:solidFill>
          <a:ln w="16510">
            <a:solidFill>
              <a:srgbClr val="D6E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231136"/>
            <a:ext cx="3520440" cy="612648"/>
          </a:xfrm>
          <a:prstGeom prst="rect">
            <a:avLst/>
          </a:prstGeom>
          <a:noFill/>
        </p:spPr>
        <p:txBody>
          <a:bodyPr wrap="square">
            <a:normAutofit lnSpcReduction="10000"/>
          </a:bodyPr>
          <a:lstStyle/>
          <a:p>
            <a:r>
              <a:rPr sz="1400" b="1" dirty="0">
                <a:solidFill>
                  <a:srgbClr val="0B2A4A"/>
                </a:solidFill>
              </a:rPr>
              <a:t>Formula</a:t>
            </a:r>
          </a:p>
          <a:p>
            <a:pPr>
              <a:spcAft>
                <a:spcPts val="100"/>
              </a:spcAft>
            </a:pPr>
            <a:r>
              <a:rPr sz="1100" dirty="0">
                <a:solidFill>
                  <a:srgbClr val="1C2633"/>
                </a:solidFill>
              </a:rPr>
              <a:t>CI(α) = α·</a:t>
            </a:r>
            <a:r>
              <a:rPr sz="1100" dirty="0" err="1">
                <a:solidFill>
                  <a:srgbClr val="1C2633"/>
                </a:solidFill>
              </a:rPr>
              <a:t>CI</a:t>
            </a:r>
            <a:r>
              <a:rPr lang="en-US" sz="1100" dirty="0" err="1">
                <a:solidFill>
                  <a:srgbClr val="1C2633"/>
                </a:solidFill>
              </a:rPr>
              <a:t>_</a:t>
            </a:r>
            <a:r>
              <a:rPr sz="1100" dirty="0" err="1">
                <a:solidFill>
                  <a:srgbClr val="1C2633"/>
                </a:solidFill>
              </a:rPr>
              <a:t>rank</a:t>
            </a:r>
            <a:r>
              <a:rPr sz="1100" dirty="0">
                <a:solidFill>
                  <a:srgbClr val="1C2633"/>
                </a:solidFill>
              </a:rPr>
              <a:t> + (1−α)·</a:t>
            </a:r>
            <a:r>
              <a:rPr sz="1100" dirty="0" err="1">
                <a:solidFill>
                  <a:srgbClr val="1C2633"/>
                </a:solidFill>
              </a:rPr>
              <a:t>CI</a:t>
            </a:r>
            <a:r>
              <a:rPr lang="en-US" sz="1100" dirty="0" err="1">
                <a:solidFill>
                  <a:srgbClr val="1C2633"/>
                </a:solidFill>
              </a:rPr>
              <a:t>_</a:t>
            </a:r>
            <a:r>
              <a:rPr sz="1100" dirty="0" err="1">
                <a:solidFill>
                  <a:srgbClr val="1C2633"/>
                </a:solidFill>
              </a:rPr>
              <a:t>topk</a:t>
            </a:r>
            <a:endParaRPr sz="1100" dirty="0">
              <a:solidFill>
                <a:srgbClr val="1C2633"/>
              </a:solidFill>
            </a:endParaRPr>
          </a:p>
          <a:p>
            <a:pPr>
              <a:spcAft>
                <a:spcPts val="100"/>
              </a:spcAft>
            </a:pPr>
            <a:r>
              <a:rPr sz="1100" dirty="0">
                <a:solidFill>
                  <a:srgbClr val="1C2633"/>
                </a:solidFill>
              </a:rPr>
              <a:t>α controls how much weight goes to rank agreement.</a:t>
            </a:r>
          </a:p>
        </p:txBody>
      </p:sp>
      <p:sp>
        <p:nvSpPr>
          <p:cNvPr id="12" name="Rounded Rectangle 11"/>
          <p:cNvSpPr/>
          <p:nvPr/>
        </p:nvSpPr>
        <p:spPr>
          <a:xfrm>
            <a:off x="411480" y="2990088"/>
            <a:ext cx="1170432" cy="685800"/>
          </a:xfrm>
          <a:prstGeom prst="roundRect">
            <a:avLst/>
          </a:prstGeom>
          <a:solidFill>
            <a:srgbClr val="F7FB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3035808"/>
            <a:ext cx="1078992" cy="612648"/>
          </a:xfrm>
          <a:prstGeom prst="rect">
            <a:avLst/>
          </a:prstGeom>
          <a:noFill/>
        </p:spPr>
        <p:txBody>
          <a:bodyPr wrap="square">
            <a:spAutoFit/>
          </a:bodyPr>
          <a:lstStyle/>
          <a:p>
            <a:pPr algn="ctr"/>
            <a:r>
              <a:rPr sz="1800" b="1">
                <a:solidFill>
                  <a:srgbClr val="1F77B4"/>
                </a:solidFill>
              </a:rPr>
              <a:t>0.569</a:t>
            </a:r>
          </a:p>
          <a:p>
            <a:pPr algn="ctr"/>
            <a:r>
              <a:rPr sz="1000">
                <a:solidFill>
                  <a:srgbClr val="1C2633"/>
                </a:solidFill>
              </a:rPr>
              <a:t>CIrank</a:t>
            </a:r>
          </a:p>
          <a:p>
            <a:pPr algn="ctr"/>
            <a:r>
              <a:rPr sz="750">
                <a:solidFill>
                  <a:srgbClr val="5B677A"/>
                </a:solidFill>
              </a:rPr>
              <a:t>global rank</a:t>
            </a:r>
          </a:p>
        </p:txBody>
      </p:sp>
      <p:sp>
        <p:nvSpPr>
          <p:cNvPr id="14" name="Rounded Rectangle 13"/>
          <p:cNvSpPr/>
          <p:nvPr/>
        </p:nvSpPr>
        <p:spPr>
          <a:xfrm>
            <a:off x="1719072" y="2990088"/>
            <a:ext cx="1170432" cy="685800"/>
          </a:xfrm>
          <a:prstGeom prst="roundRect">
            <a:avLst/>
          </a:prstGeom>
          <a:solidFill>
            <a:srgbClr val="F7FB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64792" y="3035808"/>
            <a:ext cx="1078992" cy="612648"/>
          </a:xfrm>
          <a:prstGeom prst="rect">
            <a:avLst/>
          </a:prstGeom>
          <a:noFill/>
        </p:spPr>
        <p:txBody>
          <a:bodyPr wrap="square">
            <a:spAutoFit/>
          </a:bodyPr>
          <a:lstStyle/>
          <a:p>
            <a:pPr algn="ctr"/>
            <a:r>
              <a:rPr sz="1800" b="1">
                <a:solidFill>
                  <a:srgbClr val="1F77B4"/>
                </a:solidFill>
              </a:rPr>
              <a:t>0.295</a:t>
            </a:r>
          </a:p>
          <a:p>
            <a:pPr algn="ctr"/>
            <a:r>
              <a:rPr sz="1000">
                <a:solidFill>
                  <a:srgbClr val="1C2633"/>
                </a:solidFill>
              </a:rPr>
              <a:t>CItopk</a:t>
            </a:r>
          </a:p>
          <a:p>
            <a:pPr algn="ctr"/>
            <a:r>
              <a:rPr sz="750">
                <a:solidFill>
                  <a:srgbClr val="5B677A"/>
                </a:solidFill>
              </a:rPr>
              <a:t>top-8 overlap</a:t>
            </a:r>
          </a:p>
        </p:txBody>
      </p:sp>
      <p:sp>
        <p:nvSpPr>
          <p:cNvPr id="16" name="Rounded Rectangle 15"/>
          <p:cNvSpPr/>
          <p:nvPr/>
        </p:nvSpPr>
        <p:spPr>
          <a:xfrm>
            <a:off x="3026664" y="2990088"/>
            <a:ext cx="1170432" cy="685800"/>
          </a:xfrm>
          <a:prstGeom prst="roundRect">
            <a:avLst/>
          </a:prstGeom>
          <a:solidFill>
            <a:srgbClr val="F7FB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72384" y="3035808"/>
            <a:ext cx="1078992" cy="612648"/>
          </a:xfrm>
          <a:prstGeom prst="rect">
            <a:avLst/>
          </a:prstGeom>
          <a:noFill/>
        </p:spPr>
        <p:txBody>
          <a:bodyPr wrap="square">
            <a:spAutoFit/>
          </a:bodyPr>
          <a:lstStyle/>
          <a:p>
            <a:pPr algn="ctr"/>
            <a:r>
              <a:rPr sz="1800" b="1">
                <a:solidFill>
                  <a:srgbClr val="1F77B4"/>
                </a:solidFill>
              </a:rPr>
              <a:t>0.432</a:t>
            </a:r>
          </a:p>
          <a:p>
            <a:pPr algn="ctr"/>
            <a:r>
              <a:rPr sz="1000">
                <a:solidFill>
                  <a:srgbClr val="1C2633"/>
                </a:solidFill>
              </a:rPr>
              <a:t>CI at α=0.5</a:t>
            </a:r>
          </a:p>
          <a:p>
            <a:pPr algn="ctr"/>
            <a:r>
              <a:rPr sz="750">
                <a:solidFill>
                  <a:srgbClr val="5B677A"/>
                </a:solidFill>
              </a:rPr>
              <a:t>combined</a:t>
            </a:r>
          </a:p>
        </p:txBody>
      </p:sp>
      <p:sp>
        <p:nvSpPr>
          <p:cNvPr id="18" name="Rounded Rectangle 17"/>
          <p:cNvSpPr/>
          <p:nvPr/>
        </p:nvSpPr>
        <p:spPr>
          <a:xfrm>
            <a:off x="4480560" y="749808"/>
            <a:ext cx="4160520" cy="2926080"/>
          </a:xfrm>
          <a:prstGeom prst="roundRect">
            <a:avLst/>
          </a:prstGeom>
          <a:solidFill>
            <a:srgbClr val="FFFFFF"/>
          </a:solidFill>
          <a:ln w="15240">
            <a:solidFill>
              <a:srgbClr val="D6E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chbmit_ci_alpha_sensitivity.png"/>
          <p:cNvPicPr>
            <a:picLocks noChangeAspect="1"/>
          </p:cNvPicPr>
          <p:nvPr/>
        </p:nvPicPr>
        <p:blipFill>
          <a:blip r:embed="rId3"/>
          <a:stretch>
            <a:fillRect/>
          </a:stretch>
        </p:blipFill>
        <p:spPr>
          <a:xfrm>
            <a:off x="4572000" y="969835"/>
            <a:ext cx="3977640" cy="2486025"/>
          </a:xfrm>
          <a:prstGeom prst="rect">
            <a:avLst/>
          </a:prstGeom>
        </p:spPr>
      </p:pic>
      <p:sp>
        <p:nvSpPr>
          <p:cNvPr id="20" name="TextBox 19"/>
          <p:cNvSpPr txBox="1"/>
          <p:nvPr/>
        </p:nvSpPr>
        <p:spPr>
          <a:xfrm>
            <a:off x="4526280" y="3712463"/>
            <a:ext cx="4069080" cy="253916"/>
          </a:xfrm>
          <a:prstGeom prst="rect">
            <a:avLst/>
          </a:prstGeom>
          <a:noFill/>
        </p:spPr>
        <p:txBody>
          <a:bodyPr wrap="square">
            <a:spAutoFit/>
          </a:bodyPr>
          <a:lstStyle/>
          <a:p>
            <a:pPr algn="ctr"/>
            <a:r>
              <a:rPr sz="1050" dirty="0">
                <a:solidFill>
                  <a:srgbClr val="5B677A"/>
                </a:solidFill>
              </a:rPr>
              <a:t>full-feature CI alpha sensitivity</a:t>
            </a:r>
          </a:p>
        </p:txBody>
      </p:sp>
      <p:sp>
        <p:nvSpPr>
          <p:cNvPr id="21" name="Rounded Rectangle 20"/>
          <p:cNvSpPr/>
          <p:nvPr/>
        </p:nvSpPr>
        <p:spPr>
          <a:xfrm>
            <a:off x="438912" y="4160520"/>
            <a:ext cx="8275320" cy="566928"/>
          </a:xfrm>
          <a:prstGeom prst="roundRect">
            <a:avLst/>
          </a:prstGeom>
          <a:solidFill>
            <a:srgbClr val="E9F7F8"/>
          </a:solidFill>
          <a:ln w="17780">
            <a:solidFill>
              <a:srgbClr val="249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4233672"/>
            <a:ext cx="7818120" cy="493776"/>
          </a:xfrm>
          <a:prstGeom prst="rect">
            <a:avLst/>
          </a:prstGeom>
          <a:noFill/>
        </p:spPr>
        <p:txBody>
          <a:bodyPr wrap="square">
            <a:spAutoFit/>
          </a:bodyPr>
          <a:lstStyle/>
          <a:p>
            <a:r>
              <a:rPr sz="1500" b="1">
                <a:solidFill>
                  <a:srgbClr val="1C2633"/>
                </a:solidFill>
              </a:rPr>
              <a:t>Key read:</a:t>
            </a:r>
            <a:r>
              <a:rPr sz="1500">
                <a:solidFill>
                  <a:srgbClr val="1C2633"/>
                </a:solidFill>
              </a:rPr>
              <a:t> moderate rank agreement, weak top-k overlap; exact top features depend on the explanation method.</a:t>
            </a:r>
          </a:p>
        </p:txBody>
      </p:sp>
    </p:spTree>
    <p:extLst>
      <p:ext uri="{BB962C8B-B14F-4D97-AF65-F5344CB8AC3E}">
        <p14:creationId xmlns:p14="http://schemas.microsoft.com/office/powerpoint/2010/main" val="2396051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 y="0"/>
            <a:ext cx="9143771" cy="75438"/>
          </a:xfrm>
          <a:prstGeom prst="rect">
            <a:avLst/>
          </a:prstGeom>
          <a:solidFill>
            <a:srgbClr val="1F77B4"/>
          </a:solidFill>
          <a:ln w="12700">
            <a:solidFill>
              <a:srgbClr val="1F77B4"/>
            </a:solidFill>
            <a:prstDash val="solid"/>
          </a:ln>
        </p:spPr>
        <p:txBody>
          <a:bodyPr/>
          <a:lstStyle/>
          <a:p>
            <a:endParaRPr lang="en-US"/>
          </a:p>
        </p:txBody>
      </p:sp>
      <p:sp>
        <p:nvSpPr>
          <p:cNvPr id="3" name="Text 1"/>
          <p:cNvSpPr/>
          <p:nvPr/>
        </p:nvSpPr>
        <p:spPr>
          <a:xfrm>
            <a:off x="377190" y="240030"/>
            <a:ext cx="6549390" cy="308610"/>
          </a:xfrm>
          <a:prstGeom prst="rect">
            <a:avLst/>
          </a:prstGeom>
          <a:noFill/>
          <a:ln/>
        </p:spPr>
        <p:txBody>
          <a:bodyPr wrap="square" lIns="0" tIns="0" rIns="0" bIns="0" rtlCol="0" anchor="ctr"/>
          <a:lstStyle/>
          <a:p>
            <a:pPr algn="l"/>
            <a:r>
              <a:rPr sz="2200" b="1">
                <a:solidFill>
                  <a:srgbClr val="0B2A4A"/>
                </a:solidFill>
                <a:latin typeface="Aptos Display"/>
              </a:rPr>
              <a:t>Explanation reliability: RFECV refit check</a:t>
            </a:r>
          </a:p>
        </p:txBody>
      </p:sp>
      <p:sp>
        <p:nvSpPr>
          <p:cNvPr id="4" name="Text 2"/>
          <p:cNvSpPr/>
          <p:nvPr/>
        </p:nvSpPr>
        <p:spPr>
          <a:xfrm>
            <a:off x="7166610" y="294894"/>
            <a:ext cx="1611630" cy="205740"/>
          </a:xfrm>
          <a:prstGeom prst="rect">
            <a:avLst/>
          </a:prstGeom>
          <a:noFill/>
          <a:ln/>
        </p:spPr>
        <p:txBody>
          <a:bodyPr wrap="square" lIns="0" tIns="0" rIns="0" bIns="0" rtlCol="0" anchor="ctr"/>
          <a:lstStyle/>
          <a:p>
            <a:pPr algn="r" defTabSz="685783"/>
            <a:r>
              <a:rPr lang="en-US" sz="1200" dirty="0">
                <a:solidFill>
                  <a:srgbClr val="1F77B4"/>
                </a:solidFill>
              </a:rPr>
              <a:t>CI / RFECV</a:t>
            </a:r>
            <a:endParaRPr lang="en-US" sz="1200" dirty="0">
              <a:solidFill>
                <a:prstClr val="black"/>
              </a:solidFill>
            </a:endParaRPr>
          </a:p>
        </p:txBody>
      </p:sp>
      <p:sp>
        <p:nvSpPr>
          <p:cNvPr id="5" name="Shape 3"/>
          <p:cNvSpPr/>
          <p:nvPr/>
        </p:nvSpPr>
        <p:spPr>
          <a:xfrm>
            <a:off x="377190" y="4834890"/>
            <a:ext cx="8366760" cy="0"/>
          </a:xfrm>
          <a:prstGeom prst="line">
            <a:avLst/>
          </a:prstGeom>
          <a:noFill/>
          <a:ln w="12700">
            <a:solidFill>
              <a:srgbClr val="D6E6F5"/>
            </a:solidFill>
            <a:prstDash val="solid"/>
          </a:ln>
        </p:spPr>
        <p:txBody>
          <a:bodyPr/>
          <a:lstStyle/>
          <a:p>
            <a:endParaRPr lang="en-US"/>
          </a:p>
        </p:txBody>
      </p:sp>
      <p:sp>
        <p:nvSpPr>
          <p:cNvPr id="6" name="Text 4"/>
          <p:cNvSpPr/>
          <p:nvPr/>
        </p:nvSpPr>
        <p:spPr>
          <a:xfrm>
            <a:off x="377190" y="4903470"/>
            <a:ext cx="2400300" cy="171450"/>
          </a:xfrm>
          <a:prstGeom prst="rect">
            <a:avLst/>
          </a:prstGeom>
          <a:noFill/>
          <a:ln/>
        </p:spPr>
        <p:txBody>
          <a:bodyPr wrap="square" lIns="0" tIns="0" rIns="0" bIns="0" rtlCol="0" anchor="ctr"/>
          <a:lstStyle/>
          <a:p>
            <a:pPr defTabSz="685783"/>
            <a:r>
              <a:rPr lang="en-US" sz="1200" dirty="0">
                <a:solidFill>
                  <a:srgbClr val="5B677A"/>
                </a:solidFill>
              </a:rPr>
              <a:t>AMATH 383 Final Project</a:t>
            </a:r>
            <a:endParaRPr lang="en-US" sz="1200" dirty="0">
              <a:solidFill>
                <a:prstClr val="black"/>
              </a:solidFill>
            </a:endParaRPr>
          </a:p>
        </p:txBody>
      </p:sp>
      <p:sp>
        <p:nvSpPr>
          <p:cNvPr id="7" name="Text 5"/>
          <p:cNvSpPr/>
          <p:nvPr/>
        </p:nvSpPr>
        <p:spPr>
          <a:xfrm>
            <a:off x="8366760" y="4903470"/>
            <a:ext cx="377190" cy="171450"/>
          </a:xfrm>
          <a:prstGeom prst="rect">
            <a:avLst/>
          </a:prstGeom>
          <a:noFill/>
          <a:ln/>
        </p:spPr>
        <p:txBody>
          <a:bodyPr wrap="square" lIns="0" tIns="0" rIns="0" bIns="0" rtlCol="0" anchor="ctr"/>
          <a:lstStyle/>
          <a:p>
            <a:pPr algn="r"/>
            <a:r>
              <a:rPr sz="1200">
                <a:solidFill>
                  <a:srgbClr val="1F77B4"/>
                </a:solidFill>
              </a:rPr>
              <a:t>20</a:t>
            </a:r>
          </a:p>
        </p:txBody>
      </p:sp>
      <p:sp>
        <p:nvSpPr>
          <p:cNvPr id="8" name="Rounded Rectangle 7"/>
          <p:cNvSpPr/>
          <p:nvPr/>
        </p:nvSpPr>
        <p:spPr>
          <a:xfrm>
            <a:off x="411480" y="749808"/>
            <a:ext cx="3977639" cy="2468880"/>
          </a:xfrm>
          <a:prstGeom prst="roundRect">
            <a:avLst/>
          </a:prstGeom>
          <a:solidFill>
            <a:srgbClr val="FFFFFF"/>
          </a:solidFill>
          <a:ln w="15240">
            <a:solidFill>
              <a:srgbClr val="D6E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hbmit_top_feature_importance.png"/>
          <p:cNvPicPr>
            <a:picLocks noChangeAspect="1"/>
          </p:cNvPicPr>
          <p:nvPr/>
        </p:nvPicPr>
        <p:blipFill>
          <a:blip r:embed="rId3"/>
          <a:stretch>
            <a:fillRect/>
          </a:stretch>
        </p:blipFill>
        <p:spPr>
          <a:xfrm>
            <a:off x="658367" y="822960"/>
            <a:ext cx="3483864" cy="2322576"/>
          </a:xfrm>
          <a:prstGeom prst="rect">
            <a:avLst/>
          </a:prstGeom>
        </p:spPr>
      </p:pic>
      <p:sp>
        <p:nvSpPr>
          <p:cNvPr id="10" name="Rounded Rectangle 9"/>
          <p:cNvSpPr/>
          <p:nvPr/>
        </p:nvSpPr>
        <p:spPr>
          <a:xfrm>
            <a:off x="4617720" y="749808"/>
            <a:ext cx="3977639" cy="2468880"/>
          </a:xfrm>
          <a:prstGeom prst="roundRect">
            <a:avLst/>
          </a:prstGeom>
          <a:solidFill>
            <a:srgbClr val="FFFFFF"/>
          </a:solidFill>
          <a:ln w="15240">
            <a:solidFill>
              <a:srgbClr val="D6E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4"/>
          <a:stretch>
            <a:fillRect/>
          </a:stretch>
        </p:blipFill>
        <p:spPr>
          <a:xfrm>
            <a:off x="4719446" y="822960"/>
            <a:ext cx="3774186" cy="2322576"/>
          </a:xfrm>
          <a:prstGeom prst="rect">
            <a:avLst/>
          </a:prstGeom>
        </p:spPr>
      </p:pic>
      <p:sp>
        <p:nvSpPr>
          <p:cNvPr id="12" name="TextBox 11"/>
          <p:cNvSpPr txBox="1"/>
          <p:nvPr/>
        </p:nvSpPr>
        <p:spPr>
          <a:xfrm>
            <a:off x="640080" y="3291840"/>
            <a:ext cx="3794760" cy="868680"/>
          </a:xfrm>
          <a:prstGeom prst="rect">
            <a:avLst/>
          </a:prstGeom>
          <a:noFill/>
        </p:spPr>
        <p:txBody>
          <a:bodyPr wrap="square">
            <a:spAutoFit/>
          </a:bodyPr>
          <a:lstStyle/>
          <a:p>
            <a:pPr>
              <a:spcAft>
                <a:spcPts val="100"/>
              </a:spcAft>
            </a:pPr>
            <a:r>
              <a:rPr sz="1250">
                <a:solidFill>
                  <a:srgbClr val="1C2633"/>
                </a:solidFill>
              </a:rPr>
              <a:t>• Top drivers: mean RMS, mean theta power, mean Hjorth activity.</a:t>
            </a:r>
          </a:p>
          <a:p>
            <a:pPr>
              <a:spcAft>
                <a:spcPts val="100"/>
              </a:spcAft>
            </a:pPr>
            <a:r>
              <a:rPr sz="1250">
                <a:solidFill>
                  <a:srgbClr val="1C2633"/>
                </a:solidFill>
              </a:rPr>
              <a:t>• RFECV selected 22 of 50 features, then models were refit.</a:t>
            </a:r>
          </a:p>
        </p:txBody>
      </p:sp>
      <p:sp>
        <p:nvSpPr>
          <p:cNvPr id="13" name="TextBox 12"/>
          <p:cNvSpPr txBox="1"/>
          <p:nvPr/>
        </p:nvSpPr>
        <p:spPr>
          <a:xfrm>
            <a:off x="4663440" y="3291840"/>
            <a:ext cx="3749039" cy="868680"/>
          </a:xfrm>
          <a:prstGeom prst="rect">
            <a:avLst/>
          </a:prstGeom>
          <a:noFill/>
        </p:spPr>
        <p:txBody>
          <a:bodyPr wrap="square">
            <a:spAutoFit/>
          </a:bodyPr>
          <a:lstStyle/>
          <a:p>
            <a:pPr>
              <a:spcAft>
                <a:spcPts val="100"/>
              </a:spcAft>
            </a:pPr>
            <a:r>
              <a:rPr sz="1250">
                <a:solidFill>
                  <a:srgbClr val="1C2633"/>
                </a:solidFill>
              </a:rPr>
              <a:t>• Full-feature CI at α=0.5: 0.432.</a:t>
            </a:r>
          </a:p>
          <a:p>
            <a:pPr>
              <a:spcAft>
                <a:spcPts val="100"/>
              </a:spcAft>
            </a:pPr>
            <a:r>
              <a:rPr sz="1250">
                <a:solidFill>
                  <a:srgbClr val="1C2633"/>
                </a:solidFill>
              </a:rPr>
              <a:t>• RFECV-refit selected-feature CI at α=0.5: 0.407.</a:t>
            </a:r>
          </a:p>
        </p:txBody>
      </p:sp>
      <p:sp>
        <p:nvSpPr>
          <p:cNvPr id="14" name="Rounded Rectangle 13"/>
          <p:cNvSpPr/>
          <p:nvPr/>
        </p:nvSpPr>
        <p:spPr>
          <a:xfrm>
            <a:off x="438912" y="4224528"/>
            <a:ext cx="8275320" cy="530352"/>
          </a:xfrm>
          <a:prstGeom prst="roundRect">
            <a:avLst/>
          </a:prstGeom>
          <a:solidFill>
            <a:srgbClr val="E9F7F8"/>
          </a:solidFill>
          <a:ln w="17780">
            <a:solidFill>
              <a:srgbClr val="249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4297680"/>
            <a:ext cx="7818120" cy="457200"/>
          </a:xfrm>
          <a:prstGeom prst="rect">
            <a:avLst/>
          </a:prstGeom>
          <a:noFill/>
        </p:spPr>
        <p:txBody>
          <a:bodyPr wrap="square">
            <a:spAutoFit/>
          </a:bodyPr>
          <a:lstStyle/>
          <a:p>
            <a:r>
              <a:rPr sz="1500" b="1">
                <a:solidFill>
                  <a:srgbClr val="1C2633"/>
                </a:solidFill>
              </a:rPr>
              <a:t>Key result:</a:t>
            </a:r>
            <a:r>
              <a:rPr sz="1500">
                <a:solidFill>
                  <a:srgbClr val="1C2633"/>
                </a:solidFill>
              </a:rPr>
              <a:t> RFECV improved recall, but CI decreased after refitting.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 y="0"/>
            <a:ext cx="9143771" cy="75438"/>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3" name="TextBox 2"/>
          <p:cNvSpPr txBox="1"/>
          <p:nvPr/>
        </p:nvSpPr>
        <p:spPr>
          <a:xfrm>
            <a:off x="377190" y="240031"/>
            <a:ext cx="6549390" cy="407804"/>
          </a:xfrm>
          <a:prstGeom prst="rect">
            <a:avLst/>
          </a:prstGeom>
          <a:noFill/>
        </p:spPr>
        <p:txBody>
          <a:bodyPr wrap="square" lIns="34289" tIns="34289" rIns="34289" bIns="34289" anchor="t">
            <a:spAutoFit/>
          </a:bodyPr>
          <a:lstStyle/>
          <a:p>
            <a:pPr defTabSz="685783"/>
            <a:r>
              <a:rPr sz="2200" b="1" dirty="0">
                <a:solidFill>
                  <a:srgbClr val="0B2A4A"/>
                </a:solidFill>
                <a:latin typeface="Aptos Display"/>
              </a:rPr>
              <a:t>Discussion: connecting model and data</a:t>
            </a:r>
          </a:p>
        </p:txBody>
      </p:sp>
      <p:sp>
        <p:nvSpPr>
          <p:cNvPr id="4" name="TextBox 3"/>
          <p:cNvSpPr txBox="1"/>
          <p:nvPr/>
        </p:nvSpPr>
        <p:spPr>
          <a:xfrm>
            <a:off x="7166610" y="294894"/>
            <a:ext cx="1611630" cy="253916"/>
          </a:xfrm>
          <a:prstGeom prst="rect">
            <a:avLst/>
          </a:prstGeom>
          <a:noFill/>
        </p:spPr>
        <p:txBody>
          <a:bodyPr wrap="square" lIns="34289" tIns="34289" rIns="34289" bIns="34289" anchor="t">
            <a:spAutoFit/>
          </a:bodyPr>
          <a:lstStyle/>
          <a:p>
            <a:pPr algn="r" defTabSz="685783"/>
            <a:r>
              <a:rPr sz="1200">
                <a:solidFill>
                  <a:srgbClr val="1F77B4"/>
                </a:solidFill>
              </a:rPr>
              <a:t>Closing</a:t>
            </a:r>
          </a:p>
        </p:txBody>
      </p:sp>
      <p:sp>
        <p:nvSpPr>
          <p:cNvPr id="5" name="Rectangle 4"/>
          <p:cNvSpPr/>
          <p:nvPr/>
        </p:nvSpPr>
        <p:spPr>
          <a:xfrm>
            <a:off x="377190" y="4834890"/>
            <a:ext cx="8366760" cy="6858"/>
          </a:xfrm>
          <a:prstGeom prst="rect">
            <a:avLst/>
          </a:prstGeom>
          <a:solidFill>
            <a:srgbClr val="D6E6F5"/>
          </a:solidFill>
          <a:ln>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6" name="TextBox 5"/>
          <p:cNvSpPr txBox="1"/>
          <p:nvPr/>
        </p:nvSpPr>
        <p:spPr>
          <a:xfrm>
            <a:off x="377190" y="4903471"/>
            <a:ext cx="2400300" cy="253916"/>
          </a:xfrm>
          <a:prstGeom prst="rect">
            <a:avLst/>
          </a:prstGeom>
          <a:noFill/>
        </p:spPr>
        <p:txBody>
          <a:bodyPr wrap="square" lIns="34289" tIns="34289" rIns="34289" bIns="34289" anchor="t">
            <a:spAutoFit/>
          </a:bodyPr>
          <a:lstStyle/>
          <a:p>
            <a:pPr defTabSz="685783"/>
            <a:r>
              <a:rPr sz="1200">
                <a:solidFill>
                  <a:srgbClr val="5B677A"/>
                </a:solidFill>
              </a:rPr>
              <a:t>AMATH 383 Final Project</a:t>
            </a:r>
          </a:p>
        </p:txBody>
      </p:sp>
      <p:sp>
        <p:nvSpPr>
          <p:cNvPr id="7" name="TextBox 6"/>
          <p:cNvSpPr txBox="1"/>
          <p:nvPr/>
        </p:nvSpPr>
        <p:spPr>
          <a:xfrm>
            <a:off x="8366760" y="4903471"/>
            <a:ext cx="377190" cy="253916"/>
          </a:xfrm>
          <a:prstGeom prst="rect">
            <a:avLst/>
          </a:prstGeom>
          <a:noFill/>
        </p:spPr>
        <p:txBody>
          <a:bodyPr wrap="square" lIns="34289" tIns="34289" rIns="34289" bIns="34289" anchor="t">
            <a:spAutoFit/>
          </a:bodyPr>
          <a:lstStyle/>
          <a:p>
            <a:pPr algn="r"/>
            <a:r>
              <a:rPr sz="1200">
                <a:solidFill>
                  <a:srgbClr val="1F77B4"/>
                </a:solidFill>
              </a:rPr>
              <a:t>21</a:t>
            </a:r>
          </a:p>
        </p:txBody>
      </p:sp>
      <p:sp>
        <p:nvSpPr>
          <p:cNvPr id="8" name="Rounded Rectangle 7"/>
          <p:cNvSpPr/>
          <p:nvPr/>
        </p:nvSpPr>
        <p:spPr>
          <a:xfrm>
            <a:off x="582930" y="740664"/>
            <a:ext cx="3874770" cy="1954530"/>
          </a:xfrm>
          <a:prstGeom prst="roundRect">
            <a:avLst/>
          </a:prstGeom>
          <a:solidFill>
            <a:srgbClr val="F5FA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9" name="TextBox 8"/>
          <p:cNvSpPr txBox="1"/>
          <p:nvPr/>
        </p:nvSpPr>
        <p:spPr>
          <a:xfrm>
            <a:off x="706374" y="843535"/>
            <a:ext cx="3627882" cy="288539"/>
          </a:xfrm>
          <a:prstGeom prst="rect">
            <a:avLst/>
          </a:prstGeom>
          <a:noFill/>
        </p:spPr>
        <p:txBody>
          <a:bodyPr wrap="square" lIns="34289" tIns="34289" rIns="34289" bIns="34289" anchor="t">
            <a:spAutoFit/>
          </a:bodyPr>
          <a:lstStyle/>
          <a:p>
            <a:pPr defTabSz="685783"/>
            <a:r>
              <a:rPr sz="1400" b="1">
                <a:solidFill>
                  <a:srgbClr val="1F77B4"/>
                </a:solidFill>
              </a:rPr>
              <a:t>What the ODE shows</a:t>
            </a:r>
          </a:p>
        </p:txBody>
      </p:sp>
      <p:sp>
        <p:nvSpPr>
          <p:cNvPr id="10" name="TextBox 9"/>
          <p:cNvSpPr txBox="1"/>
          <p:nvPr/>
        </p:nvSpPr>
        <p:spPr>
          <a:xfrm>
            <a:off x="706374" y="1138429"/>
            <a:ext cx="3627882" cy="1370119"/>
          </a:xfrm>
          <a:prstGeom prst="rect">
            <a:avLst/>
          </a:prstGeom>
          <a:noFill/>
        </p:spPr>
        <p:txBody>
          <a:bodyPr wrap="square" lIns="34289" tIns="20573" rIns="34289" bIns="20573">
            <a:spAutoFit/>
          </a:bodyPr>
          <a:lstStyle/>
          <a:p>
            <a:pPr defTabSz="685783">
              <a:spcAft>
                <a:spcPts val="450"/>
              </a:spcAft>
            </a:pPr>
            <a:r>
              <a:rPr sz="1300" dirty="0">
                <a:solidFill>
                  <a:srgbClr val="1C2633"/>
                </a:solidFill>
              </a:rPr>
              <a:t>• Changing P moves the equilibrium into a locally unstable interval.</a:t>
            </a:r>
          </a:p>
          <a:p>
            <a:pPr defTabSz="685783">
              <a:spcAft>
                <a:spcPts val="450"/>
              </a:spcAft>
            </a:pPr>
            <a:r>
              <a:rPr sz="1300" dirty="0">
                <a:solidFill>
                  <a:srgbClr val="1C2633"/>
                </a:solidFill>
              </a:rPr>
              <a:t>• Complex eigenvalues support oscillatory local behavior.</a:t>
            </a:r>
          </a:p>
          <a:p>
            <a:pPr defTabSz="685783">
              <a:spcAft>
                <a:spcPts val="450"/>
              </a:spcAft>
            </a:pPr>
            <a:r>
              <a:rPr sz="1300" dirty="0">
                <a:solidFill>
                  <a:srgbClr val="1C2633"/>
                </a:solidFill>
              </a:rPr>
              <a:t>• This gives a mechanism for seizure-like transition.</a:t>
            </a:r>
          </a:p>
        </p:txBody>
      </p:sp>
      <p:sp>
        <p:nvSpPr>
          <p:cNvPr id="11" name="Rounded Rectangle 10"/>
          <p:cNvSpPr/>
          <p:nvPr/>
        </p:nvSpPr>
        <p:spPr>
          <a:xfrm>
            <a:off x="4697730" y="740664"/>
            <a:ext cx="3874770" cy="1954530"/>
          </a:xfrm>
          <a:prstGeom prst="roundRect">
            <a:avLst/>
          </a:prstGeom>
          <a:solidFill>
            <a:srgbClr val="F5FA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12" name="TextBox 11"/>
          <p:cNvSpPr txBox="1"/>
          <p:nvPr/>
        </p:nvSpPr>
        <p:spPr>
          <a:xfrm>
            <a:off x="4821173" y="843535"/>
            <a:ext cx="3627882" cy="288539"/>
          </a:xfrm>
          <a:prstGeom prst="rect">
            <a:avLst/>
          </a:prstGeom>
          <a:noFill/>
        </p:spPr>
        <p:txBody>
          <a:bodyPr wrap="square" lIns="34289" tIns="34289" rIns="34289" bIns="34289" anchor="t">
            <a:spAutoFit/>
          </a:bodyPr>
          <a:lstStyle/>
          <a:p>
            <a:pPr defTabSz="685783"/>
            <a:r>
              <a:rPr sz="1400" b="1">
                <a:solidFill>
                  <a:srgbClr val="1F77B4"/>
                </a:solidFill>
              </a:rPr>
              <a:t>What the EEG shows</a:t>
            </a:r>
          </a:p>
        </p:txBody>
      </p:sp>
      <p:sp>
        <p:nvSpPr>
          <p:cNvPr id="13" name="TextBox 12"/>
          <p:cNvSpPr txBox="1"/>
          <p:nvPr/>
        </p:nvSpPr>
        <p:spPr>
          <a:xfrm>
            <a:off x="4821173" y="1138429"/>
            <a:ext cx="3627882" cy="1370119"/>
          </a:xfrm>
          <a:prstGeom prst="rect">
            <a:avLst/>
          </a:prstGeom>
          <a:noFill/>
        </p:spPr>
        <p:txBody>
          <a:bodyPr wrap="square" lIns="34289" tIns="20573" rIns="34289" bIns="20573">
            <a:spAutoFit/>
          </a:bodyPr>
          <a:lstStyle/>
          <a:p>
            <a:pPr defTabSz="685783">
              <a:spcAft>
                <a:spcPts val="450"/>
              </a:spcAft>
            </a:pPr>
            <a:r>
              <a:rPr sz="1300" dirty="0">
                <a:solidFill>
                  <a:srgbClr val="1C2633"/>
                </a:solidFill>
              </a:rPr>
              <a:t>• Ictal windows are separable in the scoped subset.</a:t>
            </a:r>
          </a:p>
          <a:p>
            <a:pPr defTabSz="685783">
              <a:spcAft>
                <a:spcPts val="450"/>
              </a:spcAft>
            </a:pPr>
            <a:r>
              <a:rPr sz="1300" dirty="0">
                <a:solidFill>
                  <a:srgbClr val="1C2633"/>
                </a:solidFill>
              </a:rPr>
              <a:t>• Main drivers are amplitude, spectral power, and Hjorth activity.</a:t>
            </a:r>
          </a:p>
          <a:p>
            <a:pPr defTabSz="685783">
              <a:spcAft>
                <a:spcPts val="450"/>
              </a:spcAft>
            </a:pPr>
            <a:r>
              <a:rPr sz="1300" dirty="0">
                <a:solidFill>
                  <a:srgbClr val="1C2633"/>
                </a:solidFill>
              </a:rPr>
              <a:t>• Preictal separation is weaker and should be treated cautiously.</a:t>
            </a:r>
          </a:p>
        </p:txBody>
      </p:sp>
      <p:sp>
        <p:nvSpPr>
          <p:cNvPr id="17" name="Rounded Rectangle 16"/>
          <p:cNvSpPr/>
          <p:nvPr/>
        </p:nvSpPr>
        <p:spPr>
          <a:xfrm>
            <a:off x="582930" y="4128516"/>
            <a:ext cx="7989570" cy="425196"/>
          </a:xfrm>
          <a:prstGeom prst="round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18" name="TextBox 17"/>
          <p:cNvSpPr txBox="1"/>
          <p:nvPr/>
        </p:nvSpPr>
        <p:spPr>
          <a:xfrm>
            <a:off x="720090" y="4224528"/>
            <a:ext cx="7715250" cy="300080"/>
          </a:xfrm>
          <a:prstGeom prst="rect">
            <a:avLst/>
          </a:prstGeom>
          <a:noFill/>
        </p:spPr>
        <p:txBody>
          <a:bodyPr wrap="square" lIns="34289" tIns="34289" rIns="34289" bIns="34289" anchor="t">
            <a:spAutoFit/>
          </a:bodyPr>
          <a:lstStyle/>
          <a:p>
            <a:pPr algn="ctr" defTabSz="685783"/>
            <a:r>
              <a:rPr sz="1500" b="1">
                <a:solidFill>
                  <a:srgbClr val="FFFFFF"/>
                </a:solidFill>
              </a:rPr>
              <a:t>Mechanism + qualitative EEG support, not a validated clinical prediction system.</a:t>
            </a:r>
          </a:p>
        </p:txBody>
      </p:sp>
      <p:sp>
        <p:nvSpPr>
          <p:cNvPr id="20" name="Rounded Rectangle 19"/>
          <p:cNvSpPr/>
          <p:nvPr/>
        </p:nvSpPr>
        <p:spPr>
          <a:xfrm>
            <a:off x="582930" y="2935224"/>
            <a:ext cx="7989570" cy="809244"/>
          </a:xfrm>
          <a:prstGeom prst="roundRect">
            <a:avLst/>
          </a:prstGeom>
          <a:solidFill>
            <a:srgbClr val="EAF4FF"/>
          </a:solidFill>
          <a:ln w="1524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21" name="TextBox 20"/>
          <p:cNvSpPr txBox="1"/>
          <p:nvPr/>
        </p:nvSpPr>
        <p:spPr>
          <a:xfrm>
            <a:off x="754380" y="2931790"/>
            <a:ext cx="7646670" cy="260839"/>
          </a:xfrm>
          <a:prstGeom prst="rect">
            <a:avLst/>
          </a:prstGeom>
          <a:noFill/>
        </p:spPr>
        <p:txBody>
          <a:bodyPr wrap="square" lIns="20573" tIns="20573" rIns="20573" bIns="20573" anchor="ctr">
            <a:spAutoFit/>
          </a:bodyPr>
          <a:lstStyle/>
          <a:p>
            <a:pPr algn="ctr" defTabSz="685783"/>
            <a:r>
              <a:rPr sz="1400" b="1" dirty="0">
                <a:solidFill>
                  <a:srgbClr val="1F77B4"/>
                </a:solidFill>
              </a:rPr>
              <a:t>How to interpret them together</a:t>
            </a:r>
          </a:p>
        </p:txBody>
      </p:sp>
      <p:sp>
        <p:nvSpPr>
          <p:cNvPr id="22" name="TextBox 21"/>
          <p:cNvSpPr txBox="1"/>
          <p:nvPr/>
        </p:nvSpPr>
        <p:spPr>
          <a:xfrm>
            <a:off x="788670" y="3209511"/>
            <a:ext cx="7578090" cy="480130"/>
          </a:xfrm>
          <a:prstGeom prst="rect">
            <a:avLst/>
          </a:prstGeom>
          <a:noFill/>
        </p:spPr>
        <p:txBody>
          <a:bodyPr wrap="square" lIns="20573" tIns="20573" rIns="20573" bIns="20573" anchor="ctr">
            <a:spAutoFit/>
          </a:bodyPr>
          <a:lstStyle/>
          <a:p>
            <a:pPr algn="ctr" defTabSz="685783"/>
            <a:r>
              <a:rPr sz="1400" dirty="0">
                <a:solidFill>
                  <a:srgbClr val="1C2633"/>
                </a:solidFill>
              </a:rPr>
              <a:t>Complementary claims, not a direct patient-specific fit.</a:t>
            </a:r>
          </a:p>
          <a:p>
            <a:pPr algn="ctr" defTabSz="685783"/>
            <a:r>
              <a:rPr sz="1400" dirty="0">
                <a:solidFill>
                  <a:srgbClr val="1C2633"/>
                </a:solidFill>
              </a:rPr>
              <a:t>The safest claim is qualitative compatibility.</a:t>
            </a:r>
          </a:p>
        </p:txBody>
      </p:sp>
      <p:sp>
        <p:nvSpPr>
          <p:cNvPr id="23" name="Rounded Rectangle 22"/>
          <p:cNvSpPr/>
          <p:nvPr/>
        </p:nvSpPr>
        <p:spPr>
          <a:xfrm>
            <a:off x="582930" y="4128516"/>
            <a:ext cx="7989570" cy="425196"/>
          </a:xfrm>
          <a:prstGeom prst="round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24" name="TextBox 23"/>
          <p:cNvSpPr txBox="1"/>
          <p:nvPr/>
        </p:nvSpPr>
        <p:spPr>
          <a:xfrm>
            <a:off x="720090" y="4204924"/>
            <a:ext cx="7715250" cy="272380"/>
          </a:xfrm>
          <a:prstGeom prst="rect">
            <a:avLst/>
          </a:prstGeom>
          <a:noFill/>
        </p:spPr>
        <p:txBody>
          <a:bodyPr wrap="square" lIns="20573" tIns="20573" rIns="20573" bIns="20573" anchor="ctr">
            <a:spAutoFit/>
          </a:bodyPr>
          <a:lstStyle/>
          <a:p>
            <a:pPr algn="ctr" defTabSz="685783"/>
            <a:r>
              <a:rPr sz="1500" b="1">
                <a:solidFill>
                  <a:srgbClr val="FFFFFF"/>
                </a:solidFill>
              </a:rPr>
              <a:t>Mechanism + qualitative EEG support, not a validated clinical prediction system.</a:t>
            </a:r>
          </a:p>
        </p:txBody>
      </p:sp>
    </p:spTree>
    <p:extLst>
      <p:ext uri="{BB962C8B-B14F-4D97-AF65-F5344CB8AC3E}">
        <p14:creationId xmlns:p14="http://schemas.microsoft.com/office/powerpoint/2010/main" val="2441552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 y="0"/>
            <a:ext cx="9143771" cy="75438"/>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3" name="TextBox 2"/>
          <p:cNvSpPr txBox="1"/>
          <p:nvPr/>
        </p:nvSpPr>
        <p:spPr>
          <a:xfrm>
            <a:off x="377190" y="240030"/>
            <a:ext cx="6549390" cy="380104"/>
          </a:xfrm>
          <a:prstGeom prst="rect">
            <a:avLst/>
          </a:prstGeom>
          <a:noFill/>
        </p:spPr>
        <p:txBody>
          <a:bodyPr wrap="square" lIns="20573" tIns="20573" rIns="20573" bIns="20573" anchor="t">
            <a:spAutoFit/>
          </a:bodyPr>
          <a:lstStyle/>
          <a:p>
            <a:pPr defTabSz="685783"/>
            <a:r>
              <a:rPr sz="2200" b="1">
                <a:solidFill>
                  <a:srgbClr val="0B2A4A"/>
                </a:solidFill>
                <a:latin typeface="Aptos Display"/>
              </a:rPr>
              <a:t>Limitations and careful interpretation</a:t>
            </a:r>
          </a:p>
        </p:txBody>
      </p:sp>
      <p:sp>
        <p:nvSpPr>
          <p:cNvPr id="4" name="TextBox 3"/>
          <p:cNvSpPr txBox="1"/>
          <p:nvPr/>
        </p:nvSpPr>
        <p:spPr>
          <a:xfrm>
            <a:off x="7166610" y="294894"/>
            <a:ext cx="1611630" cy="226216"/>
          </a:xfrm>
          <a:prstGeom prst="rect">
            <a:avLst/>
          </a:prstGeom>
          <a:noFill/>
        </p:spPr>
        <p:txBody>
          <a:bodyPr wrap="square" lIns="20573" tIns="20573" rIns="20573" bIns="20573" anchor="t">
            <a:spAutoFit/>
          </a:bodyPr>
          <a:lstStyle/>
          <a:p>
            <a:pPr algn="r" defTabSz="685783"/>
            <a:r>
              <a:rPr sz="1200">
                <a:solidFill>
                  <a:srgbClr val="1F77B4"/>
                </a:solidFill>
              </a:rPr>
              <a:t>Closing</a:t>
            </a:r>
          </a:p>
        </p:txBody>
      </p:sp>
      <p:sp>
        <p:nvSpPr>
          <p:cNvPr id="5" name="Rectangle 4"/>
          <p:cNvSpPr/>
          <p:nvPr/>
        </p:nvSpPr>
        <p:spPr>
          <a:xfrm>
            <a:off x="377190" y="4834890"/>
            <a:ext cx="8366760" cy="6858"/>
          </a:xfrm>
          <a:prstGeom prst="rect">
            <a:avLst/>
          </a:prstGeom>
          <a:solidFill>
            <a:srgbClr val="D6E6F5"/>
          </a:solidFill>
          <a:ln>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6" name="TextBox 5"/>
          <p:cNvSpPr txBox="1"/>
          <p:nvPr/>
        </p:nvSpPr>
        <p:spPr>
          <a:xfrm>
            <a:off x="377190" y="4903470"/>
            <a:ext cx="2400300" cy="226216"/>
          </a:xfrm>
          <a:prstGeom prst="rect">
            <a:avLst/>
          </a:prstGeom>
          <a:noFill/>
        </p:spPr>
        <p:txBody>
          <a:bodyPr wrap="square" lIns="20573" tIns="20573" rIns="20573" bIns="20573" anchor="t">
            <a:spAutoFit/>
          </a:bodyPr>
          <a:lstStyle/>
          <a:p>
            <a:pPr defTabSz="685783"/>
            <a:r>
              <a:rPr sz="1200">
                <a:solidFill>
                  <a:srgbClr val="5B677A"/>
                </a:solidFill>
              </a:rPr>
              <a:t>AMATH 383 Final Project</a:t>
            </a:r>
          </a:p>
        </p:txBody>
      </p:sp>
      <p:sp>
        <p:nvSpPr>
          <p:cNvPr id="7" name="TextBox 6"/>
          <p:cNvSpPr txBox="1"/>
          <p:nvPr/>
        </p:nvSpPr>
        <p:spPr>
          <a:xfrm>
            <a:off x="8366760" y="4903470"/>
            <a:ext cx="377190" cy="226216"/>
          </a:xfrm>
          <a:prstGeom prst="rect">
            <a:avLst/>
          </a:prstGeom>
          <a:noFill/>
        </p:spPr>
        <p:txBody>
          <a:bodyPr wrap="square" lIns="20573" tIns="20573" rIns="20573" bIns="20573" anchor="t">
            <a:spAutoFit/>
          </a:bodyPr>
          <a:lstStyle/>
          <a:p>
            <a:pPr algn="r"/>
            <a:r>
              <a:rPr sz="1200">
                <a:solidFill>
                  <a:srgbClr val="1F77B4"/>
                </a:solidFill>
              </a:rPr>
              <a:t>22</a:t>
            </a:r>
          </a:p>
        </p:txBody>
      </p:sp>
      <p:sp>
        <p:nvSpPr>
          <p:cNvPr id="8" name="Rounded Rectangle 7"/>
          <p:cNvSpPr/>
          <p:nvPr/>
        </p:nvSpPr>
        <p:spPr>
          <a:xfrm>
            <a:off x="582930" y="768095"/>
            <a:ext cx="3874770" cy="1158127"/>
          </a:xfrm>
          <a:prstGeom prst="roundRect">
            <a:avLst/>
          </a:prstGeom>
          <a:solidFill>
            <a:srgbClr val="F5FA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9" name="TextBox 8"/>
          <p:cNvSpPr txBox="1"/>
          <p:nvPr/>
        </p:nvSpPr>
        <p:spPr>
          <a:xfrm>
            <a:off x="706374" y="870967"/>
            <a:ext cx="3627882" cy="260839"/>
          </a:xfrm>
          <a:prstGeom prst="rect">
            <a:avLst/>
          </a:prstGeom>
          <a:noFill/>
        </p:spPr>
        <p:txBody>
          <a:bodyPr wrap="square" lIns="20573" tIns="20573" rIns="20573" bIns="20573" anchor="t">
            <a:spAutoFit/>
          </a:bodyPr>
          <a:lstStyle/>
          <a:p>
            <a:pPr defTabSz="685783"/>
            <a:r>
              <a:rPr sz="1400" b="1">
                <a:solidFill>
                  <a:srgbClr val="1F77B4"/>
                </a:solidFill>
              </a:rPr>
              <a:t>Model simplification</a:t>
            </a:r>
          </a:p>
        </p:txBody>
      </p:sp>
      <p:sp>
        <p:nvSpPr>
          <p:cNvPr id="10" name="TextBox 9"/>
          <p:cNvSpPr txBox="1"/>
          <p:nvPr/>
        </p:nvSpPr>
        <p:spPr>
          <a:xfrm>
            <a:off x="706374" y="1165861"/>
            <a:ext cx="3627882" cy="641714"/>
          </a:xfrm>
          <a:prstGeom prst="rect">
            <a:avLst/>
          </a:prstGeom>
          <a:noFill/>
        </p:spPr>
        <p:txBody>
          <a:bodyPr wrap="square" lIns="20573" tIns="20573" rIns="20573" bIns="20573" anchor="t">
            <a:spAutoFit/>
          </a:bodyPr>
          <a:lstStyle/>
          <a:p>
            <a:pPr defTabSz="685783"/>
            <a:r>
              <a:rPr sz="1300">
                <a:solidFill>
                  <a:srgbClr val="1C2633"/>
                </a:solidFill>
              </a:rPr>
              <a:t>• Two variables cannot represent spatial spread, anatomy, medication state, or seizure subtypes.</a:t>
            </a:r>
          </a:p>
        </p:txBody>
      </p:sp>
      <p:sp>
        <p:nvSpPr>
          <p:cNvPr id="11" name="Rounded Rectangle 10"/>
          <p:cNvSpPr/>
          <p:nvPr/>
        </p:nvSpPr>
        <p:spPr>
          <a:xfrm>
            <a:off x="4697730" y="768095"/>
            <a:ext cx="3874770" cy="1158127"/>
          </a:xfrm>
          <a:prstGeom prst="roundRect">
            <a:avLst/>
          </a:prstGeom>
          <a:solidFill>
            <a:srgbClr val="F5FA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12" name="TextBox 11"/>
          <p:cNvSpPr txBox="1"/>
          <p:nvPr/>
        </p:nvSpPr>
        <p:spPr>
          <a:xfrm>
            <a:off x="4821173" y="870967"/>
            <a:ext cx="3627882" cy="260839"/>
          </a:xfrm>
          <a:prstGeom prst="rect">
            <a:avLst/>
          </a:prstGeom>
          <a:noFill/>
        </p:spPr>
        <p:txBody>
          <a:bodyPr wrap="square" lIns="20573" tIns="20573" rIns="20573" bIns="20573" anchor="t">
            <a:spAutoFit/>
          </a:bodyPr>
          <a:lstStyle/>
          <a:p>
            <a:pPr defTabSz="685783"/>
            <a:r>
              <a:rPr sz="1400" b="1">
                <a:solidFill>
                  <a:srgbClr val="1F77B4"/>
                </a:solidFill>
              </a:rPr>
              <a:t>Drive parameter P</a:t>
            </a:r>
          </a:p>
        </p:txBody>
      </p:sp>
      <p:sp>
        <p:nvSpPr>
          <p:cNvPr id="13" name="TextBox 12"/>
          <p:cNvSpPr txBox="1"/>
          <p:nvPr/>
        </p:nvSpPr>
        <p:spPr>
          <a:xfrm>
            <a:off x="4821173" y="1165862"/>
            <a:ext cx="3627882" cy="441659"/>
          </a:xfrm>
          <a:prstGeom prst="rect">
            <a:avLst/>
          </a:prstGeom>
          <a:noFill/>
        </p:spPr>
        <p:txBody>
          <a:bodyPr wrap="square" lIns="20573" tIns="20573" rIns="20573" bIns="20573" anchor="t">
            <a:spAutoFit/>
          </a:bodyPr>
          <a:lstStyle/>
          <a:p>
            <a:pPr defTabSz="685783"/>
            <a:r>
              <a:rPr sz="1300">
                <a:solidFill>
                  <a:srgbClr val="1C2633"/>
                </a:solidFill>
              </a:rPr>
              <a:t>• P is an abstract control parameter, not a value estimated directly from EEG.</a:t>
            </a:r>
          </a:p>
        </p:txBody>
      </p:sp>
      <p:sp>
        <p:nvSpPr>
          <p:cNvPr id="14" name="Rounded Rectangle 13"/>
          <p:cNvSpPr/>
          <p:nvPr/>
        </p:nvSpPr>
        <p:spPr>
          <a:xfrm>
            <a:off x="582930" y="2091045"/>
            <a:ext cx="3874770" cy="1200785"/>
          </a:xfrm>
          <a:prstGeom prst="roundRect">
            <a:avLst/>
          </a:prstGeom>
          <a:solidFill>
            <a:srgbClr val="F5FA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15" name="TextBox 14"/>
          <p:cNvSpPr txBox="1"/>
          <p:nvPr/>
        </p:nvSpPr>
        <p:spPr>
          <a:xfrm>
            <a:off x="706374" y="2193917"/>
            <a:ext cx="3627882" cy="260839"/>
          </a:xfrm>
          <a:prstGeom prst="rect">
            <a:avLst/>
          </a:prstGeom>
          <a:noFill/>
        </p:spPr>
        <p:txBody>
          <a:bodyPr wrap="square" lIns="20573" tIns="20573" rIns="20573" bIns="20573" anchor="t">
            <a:spAutoFit/>
          </a:bodyPr>
          <a:lstStyle/>
          <a:p>
            <a:pPr defTabSz="685783"/>
            <a:r>
              <a:rPr sz="1400" b="1">
                <a:solidFill>
                  <a:srgbClr val="1F77B4"/>
                </a:solidFill>
              </a:rPr>
              <a:t>Dataset scope</a:t>
            </a:r>
          </a:p>
        </p:txBody>
      </p:sp>
      <p:sp>
        <p:nvSpPr>
          <p:cNvPr id="16" name="TextBox 15"/>
          <p:cNvSpPr txBox="1"/>
          <p:nvPr/>
        </p:nvSpPr>
        <p:spPr>
          <a:xfrm>
            <a:off x="706374" y="2488811"/>
            <a:ext cx="3627882" cy="641714"/>
          </a:xfrm>
          <a:prstGeom prst="rect">
            <a:avLst/>
          </a:prstGeom>
          <a:noFill/>
        </p:spPr>
        <p:txBody>
          <a:bodyPr wrap="square" lIns="20573" tIns="20573" rIns="20573" bIns="20573" anchor="t">
            <a:spAutoFit/>
          </a:bodyPr>
          <a:lstStyle/>
          <a:p>
            <a:pPr defTabSz="685783"/>
            <a:r>
              <a:rPr sz="1300">
                <a:solidFill>
                  <a:srgbClr val="1C2633"/>
                </a:solidFill>
              </a:rPr>
              <a:t>• Only 3 subjects and 51 EDF records were used; the split is record-held-out, not subject-held-out.</a:t>
            </a:r>
          </a:p>
        </p:txBody>
      </p:sp>
      <p:sp>
        <p:nvSpPr>
          <p:cNvPr id="17" name="Rounded Rectangle 16"/>
          <p:cNvSpPr/>
          <p:nvPr/>
        </p:nvSpPr>
        <p:spPr>
          <a:xfrm>
            <a:off x="4697730" y="2091045"/>
            <a:ext cx="3874770" cy="1200785"/>
          </a:xfrm>
          <a:prstGeom prst="roundRect">
            <a:avLst/>
          </a:prstGeom>
          <a:solidFill>
            <a:srgbClr val="F5FA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18" name="TextBox 17"/>
          <p:cNvSpPr txBox="1"/>
          <p:nvPr/>
        </p:nvSpPr>
        <p:spPr>
          <a:xfrm>
            <a:off x="4821173" y="2193917"/>
            <a:ext cx="3627882" cy="260839"/>
          </a:xfrm>
          <a:prstGeom prst="rect">
            <a:avLst/>
          </a:prstGeom>
          <a:noFill/>
        </p:spPr>
        <p:txBody>
          <a:bodyPr wrap="square" lIns="20573" tIns="20573" rIns="20573" bIns="20573" anchor="t">
            <a:spAutoFit/>
          </a:bodyPr>
          <a:lstStyle/>
          <a:p>
            <a:pPr defTabSz="685783"/>
            <a:r>
              <a:rPr sz="1400" b="1">
                <a:solidFill>
                  <a:srgbClr val="1F77B4"/>
                </a:solidFill>
              </a:rPr>
              <a:t>Prediction wording</a:t>
            </a:r>
          </a:p>
        </p:txBody>
      </p:sp>
      <p:sp>
        <p:nvSpPr>
          <p:cNvPr id="19" name="TextBox 18"/>
          <p:cNvSpPr txBox="1"/>
          <p:nvPr/>
        </p:nvSpPr>
        <p:spPr>
          <a:xfrm>
            <a:off x="4821173" y="2488811"/>
            <a:ext cx="3627882" cy="641714"/>
          </a:xfrm>
          <a:prstGeom prst="rect">
            <a:avLst/>
          </a:prstGeom>
          <a:noFill/>
        </p:spPr>
        <p:txBody>
          <a:bodyPr wrap="square" lIns="20573" tIns="20573" rIns="20573" bIns="20573" anchor="t">
            <a:spAutoFit/>
          </a:bodyPr>
          <a:lstStyle/>
          <a:p>
            <a:pPr defTabSz="685783"/>
            <a:r>
              <a:rPr sz="1300">
                <a:solidFill>
                  <a:srgbClr val="1C2633"/>
                </a:solidFill>
              </a:rPr>
              <a:t>• The task is ictal-window detection, not seizure prediction, early warning, or a clinical alarm system.</a:t>
            </a:r>
          </a:p>
        </p:txBody>
      </p:sp>
      <p:sp>
        <p:nvSpPr>
          <p:cNvPr id="20" name="TextBox 19"/>
          <p:cNvSpPr txBox="1"/>
          <p:nvPr/>
        </p:nvSpPr>
        <p:spPr>
          <a:xfrm>
            <a:off x="651510" y="3363838"/>
            <a:ext cx="2743200" cy="260839"/>
          </a:xfrm>
          <a:prstGeom prst="rect">
            <a:avLst/>
          </a:prstGeom>
          <a:noFill/>
        </p:spPr>
        <p:txBody>
          <a:bodyPr wrap="square" lIns="20573" tIns="20573" rIns="20573" bIns="20573" anchor="t">
            <a:spAutoFit/>
          </a:bodyPr>
          <a:lstStyle/>
          <a:p>
            <a:pPr defTabSz="685783"/>
            <a:r>
              <a:rPr sz="1400" b="1" dirty="0">
                <a:solidFill>
                  <a:srgbClr val="1F77B4"/>
                </a:solidFill>
              </a:rPr>
              <a:t>Additional caution</a:t>
            </a:r>
          </a:p>
        </p:txBody>
      </p:sp>
      <p:sp>
        <p:nvSpPr>
          <p:cNvPr id="21" name="TextBox 20"/>
          <p:cNvSpPr txBox="1"/>
          <p:nvPr/>
        </p:nvSpPr>
        <p:spPr>
          <a:xfrm>
            <a:off x="651510" y="3573019"/>
            <a:ext cx="7749540" cy="480130"/>
          </a:xfrm>
          <a:prstGeom prst="rect">
            <a:avLst/>
          </a:prstGeom>
          <a:noFill/>
        </p:spPr>
        <p:txBody>
          <a:bodyPr wrap="square" lIns="20573" tIns="20573" rIns="20573" bIns="20573" anchor="t">
            <a:spAutoFit/>
          </a:bodyPr>
          <a:lstStyle/>
          <a:p>
            <a:pPr defTabSz="685783"/>
            <a:r>
              <a:rPr sz="1400">
                <a:solidFill>
                  <a:srgbClr val="1C2633"/>
                </a:solidFill>
              </a:rPr>
              <a:t>• Precision remains low because the dataset is highly imbalanced.</a:t>
            </a:r>
          </a:p>
          <a:p>
            <a:pPr defTabSz="685783"/>
            <a:r>
              <a:rPr sz="1400">
                <a:solidFill>
                  <a:srgbClr val="1C2633"/>
                </a:solidFill>
              </a:rPr>
              <a:t>• False-positive metrics are project-level diagnostics, not clinical alarm measures.</a:t>
            </a:r>
          </a:p>
        </p:txBody>
      </p:sp>
      <p:sp>
        <p:nvSpPr>
          <p:cNvPr id="22" name="Rounded Rectangle 21"/>
          <p:cNvSpPr/>
          <p:nvPr/>
        </p:nvSpPr>
        <p:spPr>
          <a:xfrm>
            <a:off x="582930" y="4224528"/>
            <a:ext cx="7989570" cy="480060"/>
          </a:xfrm>
          <a:prstGeom prst="roundRect">
            <a:avLst/>
          </a:prstGeom>
          <a:solidFill>
            <a:srgbClr val="EAF4FF"/>
          </a:solidFill>
          <a:ln w="1270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23" name="TextBox 22"/>
          <p:cNvSpPr txBox="1"/>
          <p:nvPr/>
        </p:nvSpPr>
        <p:spPr>
          <a:xfrm>
            <a:off x="326846" y="4323184"/>
            <a:ext cx="7989570" cy="241603"/>
          </a:xfrm>
          <a:prstGeom prst="rect">
            <a:avLst/>
          </a:prstGeom>
          <a:noFill/>
        </p:spPr>
        <p:txBody>
          <a:bodyPr wrap="square" lIns="20573" tIns="20573" rIns="20573" bIns="20573" anchor="ctr">
            <a:spAutoFit/>
          </a:bodyPr>
          <a:lstStyle/>
          <a:p>
            <a:pPr algn="ctr" defTabSz="685783"/>
            <a:r>
              <a:rPr sz="1300" b="1" dirty="0">
                <a:solidFill>
                  <a:srgbClr val="0B2A4A"/>
                </a:solidFill>
              </a:rPr>
              <a:t>ictal-window detection and qualitative empirical support,</a:t>
            </a:r>
            <a:r>
              <a:rPr lang="en-US" sz="1300" b="1" dirty="0">
                <a:solidFill>
                  <a:srgbClr val="0B2A4A"/>
                </a:solidFill>
              </a:rPr>
              <a:t> </a:t>
            </a:r>
            <a:r>
              <a:rPr sz="1300" b="1" dirty="0">
                <a:solidFill>
                  <a:srgbClr val="0B2A4A"/>
                </a:solidFill>
              </a:rPr>
              <a:t>not clinical prediction.</a:t>
            </a:r>
          </a:p>
        </p:txBody>
      </p:sp>
    </p:spTree>
    <p:extLst>
      <p:ext uri="{BB962C8B-B14F-4D97-AF65-F5344CB8AC3E}">
        <p14:creationId xmlns:p14="http://schemas.microsoft.com/office/powerpoint/2010/main" val="1736627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 y="0"/>
            <a:ext cx="9143771" cy="75438"/>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3" name="TextBox 2"/>
          <p:cNvSpPr txBox="1"/>
          <p:nvPr/>
        </p:nvSpPr>
        <p:spPr>
          <a:xfrm>
            <a:off x="377190" y="240031"/>
            <a:ext cx="6549390" cy="407804"/>
          </a:xfrm>
          <a:prstGeom prst="rect">
            <a:avLst/>
          </a:prstGeom>
          <a:noFill/>
        </p:spPr>
        <p:txBody>
          <a:bodyPr wrap="square" lIns="34289" tIns="34289" rIns="34289" bIns="34289" anchor="t">
            <a:spAutoFit/>
          </a:bodyPr>
          <a:lstStyle/>
          <a:p>
            <a:pPr defTabSz="685783"/>
            <a:r>
              <a:rPr sz="2200" b="1">
                <a:solidFill>
                  <a:srgbClr val="0B2A4A"/>
                </a:solidFill>
                <a:latin typeface="Aptos Display"/>
              </a:rPr>
              <a:t>References</a:t>
            </a:r>
          </a:p>
        </p:txBody>
      </p:sp>
      <p:sp>
        <p:nvSpPr>
          <p:cNvPr id="4" name="TextBox 3"/>
          <p:cNvSpPr txBox="1"/>
          <p:nvPr/>
        </p:nvSpPr>
        <p:spPr>
          <a:xfrm>
            <a:off x="7166610" y="294894"/>
            <a:ext cx="1611630" cy="253916"/>
          </a:xfrm>
          <a:prstGeom prst="rect">
            <a:avLst/>
          </a:prstGeom>
          <a:noFill/>
        </p:spPr>
        <p:txBody>
          <a:bodyPr wrap="square" lIns="34289" tIns="34289" rIns="34289" bIns="34289" anchor="t">
            <a:spAutoFit/>
          </a:bodyPr>
          <a:lstStyle/>
          <a:p>
            <a:pPr algn="r" defTabSz="685783"/>
            <a:r>
              <a:rPr sz="1200">
                <a:solidFill>
                  <a:srgbClr val="1F77B4"/>
                </a:solidFill>
              </a:rPr>
              <a:t>Sources</a:t>
            </a:r>
          </a:p>
        </p:txBody>
      </p:sp>
      <p:sp>
        <p:nvSpPr>
          <p:cNvPr id="5" name="Rectangle 4"/>
          <p:cNvSpPr/>
          <p:nvPr/>
        </p:nvSpPr>
        <p:spPr>
          <a:xfrm>
            <a:off x="377190" y="4834890"/>
            <a:ext cx="8366760" cy="6858"/>
          </a:xfrm>
          <a:prstGeom prst="rect">
            <a:avLst/>
          </a:prstGeom>
          <a:solidFill>
            <a:srgbClr val="D6E6F5"/>
          </a:solidFill>
          <a:ln>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6" name="TextBox 5"/>
          <p:cNvSpPr txBox="1"/>
          <p:nvPr/>
        </p:nvSpPr>
        <p:spPr>
          <a:xfrm>
            <a:off x="377190" y="4903471"/>
            <a:ext cx="2400300" cy="253916"/>
          </a:xfrm>
          <a:prstGeom prst="rect">
            <a:avLst/>
          </a:prstGeom>
          <a:noFill/>
        </p:spPr>
        <p:txBody>
          <a:bodyPr wrap="square" lIns="34289" tIns="34289" rIns="34289" bIns="34289" anchor="t">
            <a:spAutoFit/>
          </a:bodyPr>
          <a:lstStyle/>
          <a:p>
            <a:pPr defTabSz="685783"/>
            <a:r>
              <a:rPr sz="1200">
                <a:solidFill>
                  <a:srgbClr val="5B677A"/>
                </a:solidFill>
              </a:rPr>
              <a:t>AMATH 383 Final Project</a:t>
            </a:r>
          </a:p>
        </p:txBody>
      </p:sp>
      <p:sp>
        <p:nvSpPr>
          <p:cNvPr id="7" name="TextBox 6"/>
          <p:cNvSpPr txBox="1"/>
          <p:nvPr/>
        </p:nvSpPr>
        <p:spPr>
          <a:xfrm>
            <a:off x="8366760" y="4903471"/>
            <a:ext cx="377190" cy="253916"/>
          </a:xfrm>
          <a:prstGeom prst="rect">
            <a:avLst/>
          </a:prstGeom>
          <a:noFill/>
        </p:spPr>
        <p:txBody>
          <a:bodyPr wrap="square" lIns="34289" tIns="34289" rIns="34289" bIns="34289" anchor="t">
            <a:spAutoFit/>
          </a:bodyPr>
          <a:lstStyle/>
          <a:p>
            <a:pPr algn="r"/>
            <a:r>
              <a:rPr sz="1200">
                <a:solidFill>
                  <a:srgbClr val="1F77B4"/>
                </a:solidFill>
              </a:rPr>
              <a:t>23</a:t>
            </a:r>
          </a:p>
        </p:txBody>
      </p:sp>
      <p:sp>
        <p:nvSpPr>
          <p:cNvPr id="8" name="Rounded Rectangle 7"/>
          <p:cNvSpPr/>
          <p:nvPr/>
        </p:nvSpPr>
        <p:spPr>
          <a:xfrm>
            <a:off x="514350" y="754380"/>
            <a:ext cx="8126730" cy="3895344"/>
          </a:xfrm>
          <a:prstGeom prst="roundRect">
            <a:avLst/>
          </a:prstGeom>
          <a:solidFill>
            <a:srgbClr val="FFFFFF"/>
          </a:solidFill>
          <a:ln w="15240">
            <a:solidFill>
              <a:srgbClr val="D6E6F5"/>
            </a:solidFill>
          </a:ln>
        </p:spPr>
        <p:style>
          <a:lnRef idx="1">
            <a:schemeClr val="accent1"/>
          </a:lnRef>
          <a:fillRef idx="3">
            <a:schemeClr val="accent1"/>
          </a:fillRef>
          <a:effectRef idx="2">
            <a:schemeClr val="accent1"/>
          </a:effectRef>
          <a:fontRef idx="minor">
            <a:schemeClr val="lt1"/>
          </a:fontRef>
        </p:style>
        <p:txBody>
          <a:bodyPr lIns="68579" tIns="34289" rIns="68579" bIns="34289" rtlCol="0" anchor="ctr"/>
          <a:lstStyle/>
          <a:p>
            <a:pPr algn="ctr" defTabSz="685783"/>
            <a:endParaRPr sz="1400">
              <a:solidFill>
                <a:prstClr val="white"/>
              </a:solidFill>
            </a:endParaRPr>
          </a:p>
        </p:txBody>
      </p:sp>
      <p:sp>
        <p:nvSpPr>
          <p:cNvPr id="9" name="TextBox 8"/>
          <p:cNvSpPr txBox="1"/>
          <p:nvPr/>
        </p:nvSpPr>
        <p:spPr>
          <a:xfrm>
            <a:off x="827584" y="1172163"/>
            <a:ext cx="7539176" cy="3127779"/>
          </a:xfrm>
          <a:prstGeom prst="rect">
            <a:avLst/>
          </a:prstGeom>
          <a:noFill/>
        </p:spPr>
        <p:txBody>
          <a:bodyPr wrap="square" lIns="34289" tIns="34289" rIns="34289" bIns="34289" anchor="t">
            <a:spAutoFit/>
          </a:bodyPr>
          <a:lstStyle/>
          <a:p>
            <a:pPr defTabSz="685783">
              <a:lnSpc>
                <a:spcPct val="92000"/>
              </a:lnSpc>
            </a:pPr>
            <a:r>
              <a:rPr sz="1200" dirty="0">
                <a:solidFill>
                  <a:srgbClr val="1C2633"/>
                </a:solidFill>
              </a:rPr>
              <a:t>[1] Wilson, H. R., &amp; Cowan, J. D. (1972). Excitatory and inhibitory interactions in localized populations of model neurons. Biophysical Journal, 12(1), 1–24.</a:t>
            </a:r>
          </a:p>
          <a:p>
            <a:pPr defTabSz="685783">
              <a:lnSpc>
                <a:spcPct val="92000"/>
              </a:lnSpc>
            </a:pPr>
            <a:endParaRPr sz="1200" dirty="0">
              <a:solidFill>
                <a:srgbClr val="1C2633"/>
              </a:solidFill>
            </a:endParaRPr>
          </a:p>
          <a:p>
            <a:pPr defTabSz="685783">
              <a:lnSpc>
                <a:spcPct val="92000"/>
              </a:lnSpc>
            </a:pPr>
            <a:r>
              <a:rPr sz="1200" dirty="0">
                <a:solidFill>
                  <a:srgbClr val="1C2633"/>
                </a:solidFill>
              </a:rPr>
              <a:t>[2] </a:t>
            </a:r>
            <a:r>
              <a:rPr sz="1200" dirty="0" err="1">
                <a:solidFill>
                  <a:srgbClr val="1C2633"/>
                </a:solidFill>
              </a:rPr>
              <a:t>Jirsa</a:t>
            </a:r>
            <a:r>
              <a:rPr sz="1200" dirty="0">
                <a:solidFill>
                  <a:srgbClr val="1C2633"/>
                </a:solidFill>
              </a:rPr>
              <a:t>, V. K., Stacey, W. C., </a:t>
            </a:r>
            <a:r>
              <a:rPr sz="1200" dirty="0" err="1">
                <a:solidFill>
                  <a:srgbClr val="1C2633"/>
                </a:solidFill>
              </a:rPr>
              <a:t>Quilichini</a:t>
            </a:r>
            <a:r>
              <a:rPr sz="1200" dirty="0">
                <a:solidFill>
                  <a:srgbClr val="1C2633"/>
                </a:solidFill>
              </a:rPr>
              <a:t>, P. P., </a:t>
            </a:r>
            <a:r>
              <a:rPr sz="1200" dirty="0" err="1">
                <a:solidFill>
                  <a:srgbClr val="1C2633"/>
                </a:solidFill>
              </a:rPr>
              <a:t>Ivanov</a:t>
            </a:r>
            <a:r>
              <a:rPr sz="1200" dirty="0">
                <a:solidFill>
                  <a:srgbClr val="1C2633"/>
                </a:solidFill>
              </a:rPr>
              <a:t>, A. I., &amp; Bernard, C. (2014). On the nature of seizure dynamics. Brain, 137(8), 2210–2230.</a:t>
            </a:r>
          </a:p>
          <a:p>
            <a:pPr defTabSz="685783">
              <a:lnSpc>
                <a:spcPct val="92000"/>
              </a:lnSpc>
            </a:pPr>
            <a:endParaRPr sz="1200" dirty="0">
              <a:solidFill>
                <a:srgbClr val="1C2633"/>
              </a:solidFill>
            </a:endParaRPr>
          </a:p>
          <a:p>
            <a:pPr defTabSz="685783">
              <a:lnSpc>
                <a:spcPct val="92000"/>
              </a:lnSpc>
            </a:pPr>
            <a:r>
              <a:rPr sz="1200" dirty="0">
                <a:solidFill>
                  <a:srgbClr val="1C2633"/>
                </a:solidFill>
              </a:rPr>
              <a:t>[3] </a:t>
            </a:r>
            <a:r>
              <a:rPr sz="1200" dirty="0" err="1">
                <a:solidFill>
                  <a:srgbClr val="1C2633"/>
                </a:solidFill>
              </a:rPr>
              <a:t>Guttag</a:t>
            </a:r>
            <a:r>
              <a:rPr sz="1200" dirty="0">
                <a:solidFill>
                  <a:srgbClr val="1C2633"/>
                </a:solidFill>
              </a:rPr>
              <a:t>, J. (2010). CHB-MIT Scalp EEG Database, version 1.0.0. </a:t>
            </a:r>
            <a:r>
              <a:rPr sz="1200" dirty="0" err="1">
                <a:solidFill>
                  <a:srgbClr val="1C2633"/>
                </a:solidFill>
              </a:rPr>
              <a:t>PhysioNet</a:t>
            </a:r>
            <a:r>
              <a:rPr sz="1200" dirty="0">
                <a:solidFill>
                  <a:srgbClr val="1C2633"/>
                </a:solidFill>
              </a:rPr>
              <a:t>. https://doi.org/10.13026/C2K01R</a:t>
            </a:r>
          </a:p>
          <a:p>
            <a:pPr defTabSz="685783">
              <a:lnSpc>
                <a:spcPct val="92000"/>
              </a:lnSpc>
            </a:pPr>
            <a:endParaRPr sz="1200" dirty="0">
              <a:solidFill>
                <a:srgbClr val="1C2633"/>
              </a:solidFill>
            </a:endParaRPr>
          </a:p>
          <a:p>
            <a:pPr defTabSz="685783">
              <a:lnSpc>
                <a:spcPct val="92000"/>
              </a:lnSpc>
            </a:pPr>
            <a:r>
              <a:rPr sz="1200" dirty="0">
                <a:solidFill>
                  <a:srgbClr val="1C2633"/>
                </a:solidFill>
              </a:rPr>
              <a:t>[4] </a:t>
            </a:r>
            <a:r>
              <a:rPr sz="1200" dirty="0" err="1">
                <a:solidFill>
                  <a:srgbClr val="1C2633"/>
                </a:solidFill>
              </a:rPr>
              <a:t>Shoeb</a:t>
            </a:r>
            <a:r>
              <a:rPr sz="1200" dirty="0">
                <a:solidFill>
                  <a:srgbClr val="1C2633"/>
                </a:solidFill>
              </a:rPr>
              <a:t>, A. H. (2009). Application of machine learning to epileptic seizure onset detection and treatment. PhD thesis, Massachusetts Institute of Technology.</a:t>
            </a:r>
          </a:p>
          <a:p>
            <a:pPr defTabSz="685783">
              <a:lnSpc>
                <a:spcPct val="92000"/>
              </a:lnSpc>
            </a:pPr>
            <a:endParaRPr sz="1200" dirty="0">
              <a:solidFill>
                <a:srgbClr val="1C2633"/>
              </a:solidFill>
            </a:endParaRPr>
          </a:p>
          <a:p>
            <a:pPr defTabSz="685783">
              <a:lnSpc>
                <a:spcPct val="92000"/>
              </a:lnSpc>
            </a:pPr>
            <a:r>
              <a:rPr sz="1200" dirty="0">
                <a:solidFill>
                  <a:srgbClr val="1C2633"/>
                </a:solidFill>
              </a:rPr>
              <a:t>[5] Chang, C.-C., Chen, Y., &amp; Chen, C.-Y. (2026). Towards decision-ready explainable machine learning for water quality management using a consistency index and cross-validated feature-selection framework. Environmental Research, 297, 124207.</a:t>
            </a:r>
          </a:p>
          <a:p>
            <a:pPr defTabSz="685783">
              <a:lnSpc>
                <a:spcPct val="92000"/>
              </a:lnSpc>
            </a:pPr>
            <a:endParaRPr sz="1200" dirty="0">
              <a:solidFill>
                <a:srgbClr val="1C2633"/>
              </a:solidFill>
            </a:endParaRPr>
          </a:p>
          <a:p>
            <a:pPr defTabSz="685783">
              <a:lnSpc>
                <a:spcPct val="92000"/>
              </a:lnSpc>
            </a:pPr>
            <a:r>
              <a:rPr sz="1200" dirty="0">
                <a:solidFill>
                  <a:srgbClr val="1C2633"/>
                </a:solidFill>
              </a:rPr>
              <a:t>[6] </a:t>
            </a:r>
            <a:r>
              <a:rPr sz="1200" dirty="0" err="1">
                <a:solidFill>
                  <a:srgbClr val="1C2633"/>
                </a:solidFill>
              </a:rPr>
              <a:t>Pedregosa</a:t>
            </a:r>
            <a:r>
              <a:rPr sz="1200" dirty="0">
                <a:solidFill>
                  <a:srgbClr val="1C2633"/>
                </a:solidFill>
              </a:rPr>
              <a:t>, F., </a:t>
            </a:r>
            <a:r>
              <a:rPr sz="1200" dirty="0" err="1">
                <a:solidFill>
                  <a:srgbClr val="1C2633"/>
                </a:solidFill>
              </a:rPr>
              <a:t>Varoquaux</a:t>
            </a:r>
            <a:r>
              <a:rPr sz="1200" dirty="0">
                <a:solidFill>
                  <a:srgbClr val="1C2633"/>
                </a:solidFill>
              </a:rPr>
              <a:t>, G., </a:t>
            </a:r>
            <a:r>
              <a:rPr sz="1200" dirty="0" err="1">
                <a:solidFill>
                  <a:srgbClr val="1C2633"/>
                </a:solidFill>
              </a:rPr>
              <a:t>Gramfort</a:t>
            </a:r>
            <a:r>
              <a:rPr sz="1200" dirty="0">
                <a:solidFill>
                  <a:srgbClr val="1C2633"/>
                </a:solidFill>
              </a:rPr>
              <a:t>, A., et al. (2011). </a:t>
            </a:r>
            <a:r>
              <a:rPr sz="1200" dirty="0" err="1">
                <a:solidFill>
                  <a:srgbClr val="1C2633"/>
                </a:solidFill>
              </a:rPr>
              <a:t>Scikit</a:t>
            </a:r>
            <a:r>
              <a:rPr sz="1200" dirty="0">
                <a:solidFill>
                  <a:srgbClr val="1C2633"/>
                </a:solidFill>
              </a:rPr>
              <a:t>-learn: Machine learning in Python. Journal of Machine Learning Research, 12, 2825–2830.</a:t>
            </a:r>
          </a:p>
        </p:txBody>
      </p:sp>
    </p:spTree>
    <p:extLst>
      <p:ext uri="{BB962C8B-B14F-4D97-AF65-F5344CB8AC3E}">
        <p14:creationId xmlns:p14="http://schemas.microsoft.com/office/powerpoint/2010/main" val="3068465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23"/>
          <p:cNvSpPr>
            <a:spLocks noEditPoints="1"/>
          </p:cNvSpPr>
          <p:nvPr/>
        </p:nvSpPr>
        <p:spPr bwMode="auto">
          <a:xfrm>
            <a:off x="2537102" y="541957"/>
            <a:ext cx="4065034" cy="4062762"/>
          </a:xfrm>
          <a:custGeom>
            <a:avLst/>
            <a:gdLst>
              <a:gd name="T0" fmla="*/ 649 w 755"/>
              <a:gd name="T1" fmla="*/ 221 h 754"/>
              <a:gd name="T2" fmla="*/ 644 w 755"/>
              <a:gd name="T3" fmla="*/ 215 h 754"/>
              <a:gd name="T4" fmla="*/ 585 w 755"/>
              <a:gd name="T5" fmla="*/ 86 h 754"/>
              <a:gd name="T6" fmla="*/ 544 w 755"/>
              <a:gd name="T7" fmla="*/ 38 h 754"/>
              <a:gd name="T8" fmla="*/ 566 w 755"/>
              <a:gd name="T9" fmla="*/ 85 h 754"/>
              <a:gd name="T10" fmla="*/ 485 w 755"/>
              <a:gd name="T11" fmla="*/ 79 h 754"/>
              <a:gd name="T12" fmla="*/ 377 w 755"/>
              <a:gd name="T13" fmla="*/ 0 h 754"/>
              <a:gd name="T14" fmla="*/ 297 w 755"/>
              <a:gd name="T15" fmla="*/ 7 h 754"/>
              <a:gd name="T16" fmla="*/ 173 w 755"/>
              <a:gd name="T17" fmla="*/ 84 h 754"/>
              <a:gd name="T18" fmla="*/ 170 w 755"/>
              <a:gd name="T19" fmla="*/ 85 h 754"/>
              <a:gd name="T20" fmla="*/ 157 w 755"/>
              <a:gd name="T21" fmla="*/ 130 h 754"/>
              <a:gd name="T22" fmla="*/ 104 w 755"/>
              <a:gd name="T23" fmla="*/ 221 h 754"/>
              <a:gd name="T24" fmla="*/ 1 w 755"/>
              <a:gd name="T25" fmla="*/ 377 h 754"/>
              <a:gd name="T26" fmla="*/ 88 w 755"/>
              <a:gd name="T27" fmla="*/ 411 h 754"/>
              <a:gd name="T28" fmla="*/ 38 w 755"/>
              <a:gd name="T29" fmla="*/ 540 h 754"/>
              <a:gd name="T30" fmla="*/ 168 w 755"/>
              <a:gd name="T31" fmla="*/ 662 h 754"/>
              <a:gd name="T32" fmla="*/ 169 w 755"/>
              <a:gd name="T33" fmla="*/ 670 h 754"/>
              <a:gd name="T34" fmla="*/ 188 w 755"/>
              <a:gd name="T35" fmla="*/ 669 h 754"/>
              <a:gd name="T36" fmla="*/ 298 w 755"/>
              <a:gd name="T37" fmla="*/ 748 h 754"/>
              <a:gd name="T38" fmla="*/ 377 w 755"/>
              <a:gd name="T39" fmla="*/ 674 h 754"/>
              <a:gd name="T40" fmla="*/ 480 w 755"/>
              <a:gd name="T41" fmla="*/ 671 h 754"/>
              <a:gd name="T42" fmla="*/ 490 w 755"/>
              <a:gd name="T43" fmla="*/ 672 h 754"/>
              <a:gd name="T44" fmla="*/ 541 w 755"/>
              <a:gd name="T45" fmla="*/ 719 h 754"/>
              <a:gd name="T46" fmla="*/ 631 w 755"/>
              <a:gd name="T47" fmla="*/ 661 h 754"/>
              <a:gd name="T48" fmla="*/ 643 w 755"/>
              <a:gd name="T49" fmla="*/ 538 h 754"/>
              <a:gd name="T50" fmla="*/ 650 w 755"/>
              <a:gd name="T51" fmla="*/ 533 h 754"/>
              <a:gd name="T52" fmla="*/ 755 w 755"/>
              <a:gd name="T53" fmla="*/ 377 h 754"/>
              <a:gd name="T54" fmla="*/ 504 w 755"/>
              <a:gd name="T55" fmla="*/ 373 h 754"/>
              <a:gd name="T56" fmla="*/ 645 w 755"/>
              <a:gd name="T57" fmla="*/ 225 h 754"/>
              <a:gd name="T58" fmla="*/ 383 w 755"/>
              <a:gd name="T59" fmla="*/ 502 h 754"/>
              <a:gd name="T60" fmla="*/ 504 w 755"/>
              <a:gd name="T61" fmla="*/ 383 h 754"/>
              <a:gd name="T62" fmla="*/ 256 w 755"/>
              <a:gd name="T63" fmla="*/ 378 h 754"/>
              <a:gd name="T64" fmla="*/ 266 w 755"/>
              <a:gd name="T65" fmla="*/ 510 h 754"/>
              <a:gd name="T66" fmla="*/ 377 w 755"/>
              <a:gd name="T67" fmla="*/ 257 h 754"/>
              <a:gd name="T68" fmla="*/ 256 w 755"/>
              <a:gd name="T69" fmla="*/ 243 h 754"/>
              <a:gd name="T70" fmla="*/ 489 w 755"/>
              <a:gd name="T71" fmla="*/ 245 h 754"/>
              <a:gd name="T72" fmla="*/ 564 w 755"/>
              <a:gd name="T73" fmla="*/ 86 h 754"/>
              <a:gd name="T74" fmla="*/ 639 w 755"/>
              <a:gd name="T75" fmla="*/ 220 h 754"/>
              <a:gd name="T76" fmla="*/ 491 w 755"/>
              <a:gd name="T77" fmla="*/ 85 h 754"/>
              <a:gd name="T78" fmla="*/ 503 w 755"/>
              <a:gd name="T79" fmla="*/ 238 h 754"/>
              <a:gd name="T80" fmla="*/ 378 w 755"/>
              <a:gd name="T81" fmla="*/ 90 h 754"/>
              <a:gd name="T82" fmla="*/ 377 w 755"/>
              <a:gd name="T83" fmla="*/ 90 h 754"/>
              <a:gd name="T84" fmla="*/ 268 w 755"/>
              <a:gd name="T85" fmla="*/ 89 h 754"/>
              <a:gd name="T86" fmla="*/ 173 w 755"/>
              <a:gd name="T87" fmla="*/ 95 h 754"/>
              <a:gd name="T88" fmla="*/ 251 w 755"/>
              <a:gd name="T89" fmla="*/ 238 h 754"/>
              <a:gd name="T90" fmla="*/ 114 w 755"/>
              <a:gd name="T91" fmla="*/ 217 h 754"/>
              <a:gd name="T92" fmla="*/ 245 w 755"/>
              <a:gd name="T93" fmla="*/ 243 h 754"/>
              <a:gd name="T94" fmla="*/ 86 w 755"/>
              <a:gd name="T95" fmla="*/ 377 h 754"/>
              <a:gd name="T96" fmla="*/ 246 w 755"/>
              <a:gd name="T97" fmla="*/ 378 h 754"/>
              <a:gd name="T98" fmla="*/ 110 w 755"/>
              <a:gd name="T99" fmla="*/ 528 h 754"/>
              <a:gd name="T100" fmla="*/ 169 w 755"/>
              <a:gd name="T101" fmla="*/ 661 h 754"/>
              <a:gd name="T102" fmla="*/ 251 w 755"/>
              <a:gd name="T103" fmla="*/ 518 h 754"/>
              <a:gd name="T104" fmla="*/ 268 w 755"/>
              <a:gd name="T105" fmla="*/ 666 h 754"/>
              <a:gd name="T106" fmla="*/ 373 w 755"/>
              <a:gd name="T107" fmla="*/ 503 h 754"/>
              <a:gd name="T108" fmla="*/ 475 w 755"/>
              <a:gd name="T109" fmla="*/ 670 h 754"/>
              <a:gd name="T110" fmla="*/ 458 w 755"/>
              <a:gd name="T111" fmla="*/ 507 h 754"/>
              <a:gd name="T112" fmla="*/ 480 w 755"/>
              <a:gd name="T113" fmla="*/ 670 h 754"/>
              <a:gd name="T114" fmla="*/ 490 w 755"/>
              <a:gd name="T115" fmla="*/ 670 h 754"/>
              <a:gd name="T116" fmla="*/ 639 w 755"/>
              <a:gd name="T117" fmla="*/ 533 h 754"/>
              <a:gd name="T118" fmla="*/ 639 w 755"/>
              <a:gd name="T119" fmla="*/ 532 h 754"/>
              <a:gd name="T120" fmla="*/ 508 w 755"/>
              <a:gd name="T121" fmla="*/ 378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55" h="754">
                <a:moveTo>
                  <a:pt x="755" y="377"/>
                </a:moveTo>
                <a:cubicBezTo>
                  <a:pt x="727" y="377"/>
                  <a:pt x="702" y="377"/>
                  <a:pt x="679" y="377"/>
                </a:cubicBezTo>
                <a:cubicBezTo>
                  <a:pt x="679" y="374"/>
                  <a:pt x="677" y="372"/>
                  <a:pt x="675" y="372"/>
                </a:cubicBezTo>
                <a:cubicBezTo>
                  <a:pt x="672" y="363"/>
                  <a:pt x="670" y="353"/>
                  <a:pt x="667" y="344"/>
                </a:cubicBezTo>
                <a:cubicBezTo>
                  <a:pt x="657" y="305"/>
                  <a:pt x="650" y="266"/>
                  <a:pt x="646" y="225"/>
                </a:cubicBezTo>
                <a:cubicBezTo>
                  <a:pt x="648" y="224"/>
                  <a:pt x="649" y="223"/>
                  <a:pt x="649" y="221"/>
                </a:cubicBezTo>
                <a:cubicBezTo>
                  <a:pt x="653" y="220"/>
                  <a:pt x="658" y="220"/>
                  <a:pt x="662" y="220"/>
                </a:cubicBezTo>
                <a:cubicBezTo>
                  <a:pt x="679" y="218"/>
                  <a:pt x="698" y="217"/>
                  <a:pt x="717" y="215"/>
                </a:cubicBezTo>
                <a:cubicBezTo>
                  <a:pt x="717" y="214"/>
                  <a:pt x="717" y="214"/>
                  <a:pt x="717" y="214"/>
                </a:cubicBezTo>
                <a:cubicBezTo>
                  <a:pt x="703" y="215"/>
                  <a:pt x="690" y="217"/>
                  <a:pt x="677" y="218"/>
                </a:cubicBezTo>
                <a:cubicBezTo>
                  <a:pt x="668" y="218"/>
                  <a:pt x="658" y="219"/>
                  <a:pt x="649" y="220"/>
                </a:cubicBezTo>
                <a:cubicBezTo>
                  <a:pt x="649" y="217"/>
                  <a:pt x="647" y="215"/>
                  <a:pt x="644" y="215"/>
                </a:cubicBezTo>
                <a:cubicBezTo>
                  <a:pt x="644" y="215"/>
                  <a:pt x="643" y="215"/>
                  <a:pt x="642" y="216"/>
                </a:cubicBezTo>
                <a:cubicBezTo>
                  <a:pt x="630" y="199"/>
                  <a:pt x="619" y="181"/>
                  <a:pt x="611" y="162"/>
                </a:cubicBezTo>
                <a:cubicBezTo>
                  <a:pt x="601" y="141"/>
                  <a:pt x="593" y="117"/>
                  <a:pt x="586" y="90"/>
                </a:cubicBezTo>
                <a:cubicBezTo>
                  <a:pt x="586" y="90"/>
                  <a:pt x="586" y="90"/>
                  <a:pt x="586" y="90"/>
                </a:cubicBezTo>
                <a:cubicBezTo>
                  <a:pt x="586" y="89"/>
                  <a:pt x="586" y="88"/>
                  <a:pt x="586" y="87"/>
                </a:cubicBezTo>
                <a:cubicBezTo>
                  <a:pt x="586" y="87"/>
                  <a:pt x="585" y="86"/>
                  <a:pt x="585" y="86"/>
                </a:cubicBezTo>
                <a:cubicBezTo>
                  <a:pt x="600" y="89"/>
                  <a:pt x="615" y="91"/>
                  <a:pt x="631" y="93"/>
                </a:cubicBezTo>
                <a:cubicBezTo>
                  <a:pt x="629" y="92"/>
                  <a:pt x="629" y="92"/>
                  <a:pt x="629" y="92"/>
                </a:cubicBezTo>
                <a:cubicBezTo>
                  <a:pt x="613" y="90"/>
                  <a:pt x="599" y="88"/>
                  <a:pt x="585" y="85"/>
                </a:cubicBezTo>
                <a:cubicBezTo>
                  <a:pt x="585" y="85"/>
                  <a:pt x="585" y="85"/>
                  <a:pt x="585" y="85"/>
                </a:cubicBezTo>
                <a:cubicBezTo>
                  <a:pt x="585" y="85"/>
                  <a:pt x="585" y="85"/>
                  <a:pt x="585" y="85"/>
                </a:cubicBezTo>
                <a:cubicBezTo>
                  <a:pt x="571" y="71"/>
                  <a:pt x="558" y="56"/>
                  <a:pt x="544" y="38"/>
                </a:cubicBezTo>
                <a:cubicBezTo>
                  <a:pt x="541" y="36"/>
                  <a:pt x="541" y="36"/>
                  <a:pt x="541" y="36"/>
                </a:cubicBezTo>
                <a:cubicBezTo>
                  <a:pt x="555" y="54"/>
                  <a:pt x="569" y="71"/>
                  <a:pt x="583" y="85"/>
                </a:cubicBezTo>
                <a:cubicBezTo>
                  <a:pt x="583" y="85"/>
                  <a:pt x="583" y="85"/>
                  <a:pt x="583" y="85"/>
                </a:cubicBezTo>
                <a:cubicBezTo>
                  <a:pt x="582" y="84"/>
                  <a:pt x="582" y="84"/>
                  <a:pt x="581" y="84"/>
                </a:cubicBezTo>
                <a:cubicBezTo>
                  <a:pt x="580" y="84"/>
                  <a:pt x="580" y="84"/>
                  <a:pt x="579" y="85"/>
                </a:cubicBezTo>
                <a:cubicBezTo>
                  <a:pt x="574" y="85"/>
                  <a:pt x="570" y="85"/>
                  <a:pt x="566" y="85"/>
                </a:cubicBezTo>
                <a:cubicBezTo>
                  <a:pt x="539" y="85"/>
                  <a:pt x="515" y="85"/>
                  <a:pt x="490" y="83"/>
                </a:cubicBezTo>
                <a:cubicBezTo>
                  <a:pt x="490" y="81"/>
                  <a:pt x="488" y="79"/>
                  <a:pt x="486" y="79"/>
                </a:cubicBezTo>
                <a:cubicBezTo>
                  <a:pt x="477" y="58"/>
                  <a:pt x="468" y="33"/>
                  <a:pt x="459" y="7"/>
                </a:cubicBezTo>
                <a:cubicBezTo>
                  <a:pt x="457" y="6"/>
                  <a:pt x="457" y="6"/>
                  <a:pt x="457" y="6"/>
                </a:cubicBezTo>
                <a:cubicBezTo>
                  <a:pt x="461" y="16"/>
                  <a:pt x="464" y="24"/>
                  <a:pt x="467" y="33"/>
                </a:cubicBezTo>
                <a:cubicBezTo>
                  <a:pt x="473" y="49"/>
                  <a:pt x="479" y="65"/>
                  <a:pt x="485" y="79"/>
                </a:cubicBezTo>
                <a:cubicBezTo>
                  <a:pt x="483" y="79"/>
                  <a:pt x="481" y="81"/>
                  <a:pt x="480" y="83"/>
                </a:cubicBezTo>
                <a:cubicBezTo>
                  <a:pt x="447" y="84"/>
                  <a:pt x="415" y="84"/>
                  <a:pt x="383" y="83"/>
                </a:cubicBezTo>
                <a:cubicBezTo>
                  <a:pt x="382" y="81"/>
                  <a:pt x="380" y="80"/>
                  <a:pt x="378" y="80"/>
                </a:cubicBezTo>
                <a:cubicBezTo>
                  <a:pt x="378" y="55"/>
                  <a:pt x="378" y="29"/>
                  <a:pt x="378" y="0"/>
                </a:cubicBezTo>
                <a:cubicBezTo>
                  <a:pt x="378" y="0"/>
                  <a:pt x="378" y="0"/>
                  <a:pt x="378" y="0"/>
                </a:cubicBezTo>
                <a:cubicBezTo>
                  <a:pt x="377" y="0"/>
                  <a:pt x="377" y="0"/>
                  <a:pt x="377" y="0"/>
                </a:cubicBezTo>
                <a:cubicBezTo>
                  <a:pt x="377" y="29"/>
                  <a:pt x="377" y="55"/>
                  <a:pt x="377" y="80"/>
                </a:cubicBezTo>
                <a:cubicBezTo>
                  <a:pt x="375" y="80"/>
                  <a:pt x="373" y="81"/>
                  <a:pt x="373" y="83"/>
                </a:cubicBezTo>
                <a:cubicBezTo>
                  <a:pt x="340" y="84"/>
                  <a:pt x="307" y="84"/>
                  <a:pt x="273" y="83"/>
                </a:cubicBezTo>
                <a:cubicBezTo>
                  <a:pt x="273" y="81"/>
                  <a:pt x="272" y="80"/>
                  <a:pt x="270" y="79"/>
                </a:cubicBezTo>
                <a:cubicBezTo>
                  <a:pt x="279" y="58"/>
                  <a:pt x="288" y="33"/>
                  <a:pt x="298" y="6"/>
                </a:cubicBezTo>
                <a:cubicBezTo>
                  <a:pt x="297" y="7"/>
                  <a:pt x="297" y="7"/>
                  <a:pt x="297" y="7"/>
                </a:cubicBezTo>
                <a:cubicBezTo>
                  <a:pt x="287" y="33"/>
                  <a:pt x="278" y="58"/>
                  <a:pt x="269" y="79"/>
                </a:cubicBezTo>
                <a:cubicBezTo>
                  <a:pt x="269" y="79"/>
                  <a:pt x="269" y="79"/>
                  <a:pt x="268" y="79"/>
                </a:cubicBezTo>
                <a:cubicBezTo>
                  <a:pt x="266" y="79"/>
                  <a:pt x="264" y="81"/>
                  <a:pt x="263" y="83"/>
                </a:cubicBezTo>
                <a:cubicBezTo>
                  <a:pt x="237" y="85"/>
                  <a:pt x="211" y="86"/>
                  <a:pt x="182" y="85"/>
                </a:cubicBezTo>
                <a:cubicBezTo>
                  <a:pt x="180" y="85"/>
                  <a:pt x="177" y="85"/>
                  <a:pt x="175" y="85"/>
                </a:cubicBezTo>
                <a:cubicBezTo>
                  <a:pt x="174" y="84"/>
                  <a:pt x="174" y="84"/>
                  <a:pt x="173" y="84"/>
                </a:cubicBezTo>
                <a:cubicBezTo>
                  <a:pt x="173" y="84"/>
                  <a:pt x="173" y="84"/>
                  <a:pt x="172" y="84"/>
                </a:cubicBezTo>
                <a:cubicBezTo>
                  <a:pt x="187" y="70"/>
                  <a:pt x="200" y="54"/>
                  <a:pt x="214" y="36"/>
                </a:cubicBezTo>
                <a:cubicBezTo>
                  <a:pt x="211" y="38"/>
                  <a:pt x="211" y="38"/>
                  <a:pt x="211" y="38"/>
                </a:cubicBezTo>
                <a:cubicBezTo>
                  <a:pt x="198" y="56"/>
                  <a:pt x="184" y="71"/>
                  <a:pt x="170" y="85"/>
                </a:cubicBezTo>
                <a:cubicBezTo>
                  <a:pt x="170" y="85"/>
                  <a:pt x="170" y="85"/>
                  <a:pt x="170" y="85"/>
                </a:cubicBezTo>
                <a:cubicBezTo>
                  <a:pt x="170" y="85"/>
                  <a:pt x="170" y="85"/>
                  <a:pt x="170" y="85"/>
                </a:cubicBezTo>
                <a:cubicBezTo>
                  <a:pt x="156" y="88"/>
                  <a:pt x="142" y="90"/>
                  <a:pt x="126" y="92"/>
                </a:cubicBezTo>
                <a:cubicBezTo>
                  <a:pt x="124" y="93"/>
                  <a:pt x="124" y="93"/>
                  <a:pt x="124" y="93"/>
                </a:cubicBezTo>
                <a:cubicBezTo>
                  <a:pt x="140" y="91"/>
                  <a:pt x="155" y="89"/>
                  <a:pt x="169" y="86"/>
                </a:cubicBezTo>
                <a:cubicBezTo>
                  <a:pt x="168" y="87"/>
                  <a:pt x="168" y="88"/>
                  <a:pt x="168" y="90"/>
                </a:cubicBezTo>
                <a:cubicBezTo>
                  <a:pt x="168" y="90"/>
                  <a:pt x="168" y="91"/>
                  <a:pt x="168" y="92"/>
                </a:cubicBezTo>
                <a:cubicBezTo>
                  <a:pt x="165" y="106"/>
                  <a:pt x="161" y="118"/>
                  <a:pt x="157" y="130"/>
                </a:cubicBezTo>
                <a:cubicBezTo>
                  <a:pt x="146" y="163"/>
                  <a:pt x="132" y="190"/>
                  <a:pt x="113" y="216"/>
                </a:cubicBezTo>
                <a:cubicBezTo>
                  <a:pt x="112" y="215"/>
                  <a:pt x="111" y="215"/>
                  <a:pt x="110" y="215"/>
                </a:cubicBezTo>
                <a:cubicBezTo>
                  <a:pt x="107" y="215"/>
                  <a:pt x="105" y="217"/>
                  <a:pt x="104" y="220"/>
                </a:cubicBezTo>
                <a:cubicBezTo>
                  <a:pt x="84" y="218"/>
                  <a:pt x="62" y="216"/>
                  <a:pt x="38" y="214"/>
                </a:cubicBezTo>
                <a:cubicBezTo>
                  <a:pt x="38" y="215"/>
                  <a:pt x="38" y="215"/>
                  <a:pt x="38" y="215"/>
                </a:cubicBezTo>
                <a:cubicBezTo>
                  <a:pt x="62" y="217"/>
                  <a:pt x="84" y="219"/>
                  <a:pt x="104" y="221"/>
                </a:cubicBezTo>
                <a:cubicBezTo>
                  <a:pt x="105" y="223"/>
                  <a:pt x="107" y="225"/>
                  <a:pt x="109" y="225"/>
                </a:cubicBezTo>
                <a:cubicBezTo>
                  <a:pt x="107" y="249"/>
                  <a:pt x="104" y="272"/>
                  <a:pt x="99" y="294"/>
                </a:cubicBezTo>
                <a:cubicBezTo>
                  <a:pt x="94" y="320"/>
                  <a:pt x="88" y="345"/>
                  <a:pt x="81" y="372"/>
                </a:cubicBezTo>
                <a:cubicBezTo>
                  <a:pt x="81" y="372"/>
                  <a:pt x="81" y="372"/>
                  <a:pt x="81" y="372"/>
                </a:cubicBezTo>
                <a:cubicBezTo>
                  <a:pt x="78" y="372"/>
                  <a:pt x="75" y="374"/>
                  <a:pt x="75" y="377"/>
                </a:cubicBezTo>
                <a:cubicBezTo>
                  <a:pt x="52" y="377"/>
                  <a:pt x="28" y="377"/>
                  <a:pt x="1" y="377"/>
                </a:cubicBezTo>
                <a:cubicBezTo>
                  <a:pt x="0" y="377"/>
                  <a:pt x="0" y="377"/>
                  <a:pt x="0" y="377"/>
                </a:cubicBezTo>
                <a:cubicBezTo>
                  <a:pt x="0" y="377"/>
                  <a:pt x="0" y="377"/>
                  <a:pt x="0" y="377"/>
                </a:cubicBezTo>
                <a:cubicBezTo>
                  <a:pt x="1" y="378"/>
                  <a:pt x="1" y="378"/>
                  <a:pt x="1" y="378"/>
                </a:cubicBezTo>
                <a:cubicBezTo>
                  <a:pt x="28" y="378"/>
                  <a:pt x="52" y="378"/>
                  <a:pt x="75" y="378"/>
                </a:cubicBezTo>
                <a:cubicBezTo>
                  <a:pt x="76" y="380"/>
                  <a:pt x="78" y="382"/>
                  <a:pt x="80" y="382"/>
                </a:cubicBezTo>
                <a:cubicBezTo>
                  <a:pt x="83" y="392"/>
                  <a:pt x="86" y="401"/>
                  <a:pt x="88" y="411"/>
                </a:cubicBezTo>
                <a:cubicBezTo>
                  <a:pt x="98" y="450"/>
                  <a:pt x="105" y="487"/>
                  <a:pt x="109" y="528"/>
                </a:cubicBezTo>
                <a:cubicBezTo>
                  <a:pt x="106" y="528"/>
                  <a:pt x="104" y="531"/>
                  <a:pt x="104" y="533"/>
                </a:cubicBezTo>
                <a:cubicBezTo>
                  <a:pt x="104" y="534"/>
                  <a:pt x="104" y="534"/>
                  <a:pt x="104" y="534"/>
                </a:cubicBezTo>
                <a:cubicBezTo>
                  <a:pt x="101" y="534"/>
                  <a:pt x="97" y="534"/>
                  <a:pt x="93" y="535"/>
                </a:cubicBezTo>
                <a:cubicBezTo>
                  <a:pt x="76" y="536"/>
                  <a:pt x="58" y="538"/>
                  <a:pt x="38" y="540"/>
                </a:cubicBezTo>
                <a:cubicBezTo>
                  <a:pt x="38" y="540"/>
                  <a:pt x="38" y="540"/>
                  <a:pt x="38" y="540"/>
                </a:cubicBezTo>
                <a:cubicBezTo>
                  <a:pt x="52" y="539"/>
                  <a:pt x="65" y="538"/>
                  <a:pt x="78" y="537"/>
                </a:cubicBezTo>
                <a:cubicBezTo>
                  <a:pt x="87" y="536"/>
                  <a:pt x="96" y="535"/>
                  <a:pt x="104" y="535"/>
                </a:cubicBezTo>
                <a:cubicBezTo>
                  <a:pt x="105" y="537"/>
                  <a:pt x="107" y="539"/>
                  <a:pt x="109" y="539"/>
                </a:cubicBezTo>
                <a:cubicBezTo>
                  <a:pt x="110" y="539"/>
                  <a:pt x="111" y="538"/>
                  <a:pt x="112" y="538"/>
                </a:cubicBezTo>
                <a:cubicBezTo>
                  <a:pt x="125" y="555"/>
                  <a:pt x="135" y="573"/>
                  <a:pt x="145" y="592"/>
                </a:cubicBezTo>
                <a:cubicBezTo>
                  <a:pt x="154" y="613"/>
                  <a:pt x="162" y="635"/>
                  <a:pt x="168" y="662"/>
                </a:cubicBezTo>
                <a:cubicBezTo>
                  <a:pt x="167" y="663"/>
                  <a:pt x="167" y="664"/>
                  <a:pt x="167" y="666"/>
                </a:cubicBezTo>
                <a:cubicBezTo>
                  <a:pt x="167" y="666"/>
                  <a:pt x="167" y="667"/>
                  <a:pt x="167" y="668"/>
                </a:cubicBezTo>
                <a:cubicBezTo>
                  <a:pt x="154" y="665"/>
                  <a:pt x="139" y="663"/>
                  <a:pt x="124" y="661"/>
                </a:cubicBezTo>
                <a:cubicBezTo>
                  <a:pt x="126" y="663"/>
                  <a:pt x="126" y="663"/>
                  <a:pt x="126" y="663"/>
                </a:cubicBezTo>
                <a:cubicBezTo>
                  <a:pt x="132" y="663"/>
                  <a:pt x="137" y="664"/>
                  <a:pt x="142" y="665"/>
                </a:cubicBezTo>
                <a:cubicBezTo>
                  <a:pt x="151" y="666"/>
                  <a:pt x="160" y="668"/>
                  <a:pt x="169" y="670"/>
                </a:cubicBezTo>
                <a:cubicBezTo>
                  <a:pt x="169" y="670"/>
                  <a:pt x="170" y="670"/>
                  <a:pt x="171" y="671"/>
                </a:cubicBezTo>
                <a:cubicBezTo>
                  <a:pt x="185" y="684"/>
                  <a:pt x="198" y="699"/>
                  <a:pt x="211" y="717"/>
                </a:cubicBezTo>
                <a:cubicBezTo>
                  <a:pt x="214" y="719"/>
                  <a:pt x="214" y="719"/>
                  <a:pt x="214" y="719"/>
                </a:cubicBezTo>
                <a:cubicBezTo>
                  <a:pt x="201" y="700"/>
                  <a:pt x="187" y="684"/>
                  <a:pt x="173" y="671"/>
                </a:cubicBezTo>
                <a:cubicBezTo>
                  <a:pt x="173" y="670"/>
                  <a:pt x="174" y="670"/>
                  <a:pt x="175" y="670"/>
                </a:cubicBezTo>
                <a:cubicBezTo>
                  <a:pt x="179" y="670"/>
                  <a:pt x="184" y="670"/>
                  <a:pt x="188" y="669"/>
                </a:cubicBezTo>
                <a:cubicBezTo>
                  <a:pt x="215" y="669"/>
                  <a:pt x="239" y="670"/>
                  <a:pt x="264" y="671"/>
                </a:cubicBezTo>
                <a:cubicBezTo>
                  <a:pt x="264" y="671"/>
                  <a:pt x="264" y="671"/>
                  <a:pt x="264" y="672"/>
                </a:cubicBezTo>
                <a:cubicBezTo>
                  <a:pt x="264" y="674"/>
                  <a:pt x="266" y="677"/>
                  <a:pt x="269" y="677"/>
                </a:cubicBezTo>
                <a:cubicBezTo>
                  <a:pt x="269" y="677"/>
                  <a:pt x="269" y="677"/>
                  <a:pt x="270" y="677"/>
                </a:cubicBezTo>
                <a:cubicBezTo>
                  <a:pt x="278" y="698"/>
                  <a:pt x="287" y="722"/>
                  <a:pt x="297" y="748"/>
                </a:cubicBezTo>
                <a:cubicBezTo>
                  <a:pt x="298" y="748"/>
                  <a:pt x="298" y="748"/>
                  <a:pt x="298" y="748"/>
                </a:cubicBezTo>
                <a:cubicBezTo>
                  <a:pt x="294" y="739"/>
                  <a:pt x="291" y="730"/>
                  <a:pt x="288" y="722"/>
                </a:cubicBezTo>
                <a:cubicBezTo>
                  <a:pt x="282" y="706"/>
                  <a:pt x="276" y="690"/>
                  <a:pt x="271" y="676"/>
                </a:cubicBezTo>
                <a:cubicBezTo>
                  <a:pt x="273" y="676"/>
                  <a:pt x="274" y="674"/>
                  <a:pt x="274" y="672"/>
                </a:cubicBezTo>
                <a:cubicBezTo>
                  <a:pt x="274" y="671"/>
                  <a:pt x="274" y="671"/>
                  <a:pt x="274" y="671"/>
                </a:cubicBezTo>
                <a:cubicBezTo>
                  <a:pt x="308" y="670"/>
                  <a:pt x="341" y="670"/>
                  <a:pt x="373" y="672"/>
                </a:cubicBezTo>
                <a:cubicBezTo>
                  <a:pt x="374" y="673"/>
                  <a:pt x="376" y="674"/>
                  <a:pt x="377" y="674"/>
                </a:cubicBezTo>
                <a:cubicBezTo>
                  <a:pt x="377" y="699"/>
                  <a:pt x="377" y="725"/>
                  <a:pt x="377" y="754"/>
                </a:cubicBezTo>
                <a:cubicBezTo>
                  <a:pt x="377" y="754"/>
                  <a:pt x="377" y="754"/>
                  <a:pt x="377" y="754"/>
                </a:cubicBezTo>
                <a:cubicBezTo>
                  <a:pt x="378" y="754"/>
                  <a:pt x="378" y="754"/>
                  <a:pt x="378" y="754"/>
                </a:cubicBezTo>
                <a:cubicBezTo>
                  <a:pt x="378" y="725"/>
                  <a:pt x="378" y="699"/>
                  <a:pt x="378" y="674"/>
                </a:cubicBezTo>
                <a:cubicBezTo>
                  <a:pt x="380" y="674"/>
                  <a:pt x="381" y="673"/>
                  <a:pt x="382" y="672"/>
                </a:cubicBezTo>
                <a:cubicBezTo>
                  <a:pt x="414" y="670"/>
                  <a:pt x="446" y="670"/>
                  <a:pt x="480" y="671"/>
                </a:cubicBezTo>
                <a:cubicBezTo>
                  <a:pt x="480" y="671"/>
                  <a:pt x="480" y="671"/>
                  <a:pt x="480" y="672"/>
                </a:cubicBezTo>
                <a:cubicBezTo>
                  <a:pt x="480" y="674"/>
                  <a:pt x="482" y="676"/>
                  <a:pt x="484" y="677"/>
                </a:cubicBezTo>
                <a:cubicBezTo>
                  <a:pt x="476" y="698"/>
                  <a:pt x="467" y="722"/>
                  <a:pt x="457" y="748"/>
                </a:cubicBezTo>
                <a:cubicBezTo>
                  <a:pt x="459" y="748"/>
                  <a:pt x="459" y="748"/>
                  <a:pt x="459" y="748"/>
                </a:cubicBezTo>
                <a:cubicBezTo>
                  <a:pt x="468" y="722"/>
                  <a:pt x="477" y="698"/>
                  <a:pt x="485" y="677"/>
                </a:cubicBezTo>
                <a:cubicBezTo>
                  <a:pt x="488" y="676"/>
                  <a:pt x="490" y="674"/>
                  <a:pt x="490" y="672"/>
                </a:cubicBezTo>
                <a:cubicBezTo>
                  <a:pt x="490" y="671"/>
                  <a:pt x="490" y="671"/>
                  <a:pt x="490" y="671"/>
                </a:cubicBezTo>
                <a:cubicBezTo>
                  <a:pt x="517" y="670"/>
                  <a:pt x="545" y="669"/>
                  <a:pt x="574" y="670"/>
                </a:cubicBezTo>
                <a:cubicBezTo>
                  <a:pt x="576" y="670"/>
                  <a:pt x="577" y="670"/>
                  <a:pt x="579" y="670"/>
                </a:cubicBezTo>
                <a:cubicBezTo>
                  <a:pt x="580" y="670"/>
                  <a:pt x="581" y="671"/>
                  <a:pt x="582" y="671"/>
                </a:cubicBezTo>
                <a:cubicBezTo>
                  <a:pt x="582" y="671"/>
                  <a:pt x="582" y="671"/>
                  <a:pt x="582" y="671"/>
                </a:cubicBezTo>
                <a:cubicBezTo>
                  <a:pt x="568" y="685"/>
                  <a:pt x="555" y="700"/>
                  <a:pt x="541" y="719"/>
                </a:cubicBezTo>
                <a:cubicBezTo>
                  <a:pt x="544" y="717"/>
                  <a:pt x="544" y="717"/>
                  <a:pt x="544" y="717"/>
                </a:cubicBezTo>
                <a:cubicBezTo>
                  <a:pt x="558" y="699"/>
                  <a:pt x="571" y="683"/>
                  <a:pt x="585" y="670"/>
                </a:cubicBezTo>
                <a:cubicBezTo>
                  <a:pt x="585" y="670"/>
                  <a:pt x="585" y="670"/>
                  <a:pt x="585" y="670"/>
                </a:cubicBezTo>
                <a:cubicBezTo>
                  <a:pt x="585" y="670"/>
                  <a:pt x="585" y="670"/>
                  <a:pt x="585" y="670"/>
                </a:cubicBezTo>
                <a:cubicBezTo>
                  <a:pt x="599" y="667"/>
                  <a:pt x="614" y="665"/>
                  <a:pt x="629" y="663"/>
                </a:cubicBezTo>
                <a:cubicBezTo>
                  <a:pt x="631" y="661"/>
                  <a:pt x="631" y="661"/>
                  <a:pt x="631" y="661"/>
                </a:cubicBezTo>
                <a:cubicBezTo>
                  <a:pt x="627" y="662"/>
                  <a:pt x="623" y="662"/>
                  <a:pt x="618" y="663"/>
                </a:cubicBezTo>
                <a:cubicBezTo>
                  <a:pt x="607" y="664"/>
                  <a:pt x="597" y="666"/>
                  <a:pt x="586" y="668"/>
                </a:cubicBezTo>
                <a:cubicBezTo>
                  <a:pt x="587" y="667"/>
                  <a:pt x="587" y="667"/>
                  <a:pt x="587" y="666"/>
                </a:cubicBezTo>
                <a:cubicBezTo>
                  <a:pt x="587" y="665"/>
                  <a:pt x="587" y="664"/>
                  <a:pt x="587" y="663"/>
                </a:cubicBezTo>
                <a:cubicBezTo>
                  <a:pt x="590" y="649"/>
                  <a:pt x="594" y="636"/>
                  <a:pt x="598" y="624"/>
                </a:cubicBezTo>
                <a:cubicBezTo>
                  <a:pt x="609" y="591"/>
                  <a:pt x="624" y="564"/>
                  <a:pt x="643" y="538"/>
                </a:cubicBezTo>
                <a:cubicBezTo>
                  <a:pt x="643" y="538"/>
                  <a:pt x="644" y="539"/>
                  <a:pt x="645" y="539"/>
                </a:cubicBezTo>
                <a:cubicBezTo>
                  <a:pt x="647" y="539"/>
                  <a:pt x="649" y="537"/>
                  <a:pt x="650" y="535"/>
                </a:cubicBezTo>
                <a:cubicBezTo>
                  <a:pt x="670" y="536"/>
                  <a:pt x="692" y="538"/>
                  <a:pt x="717" y="540"/>
                </a:cubicBezTo>
                <a:cubicBezTo>
                  <a:pt x="717" y="540"/>
                  <a:pt x="717" y="540"/>
                  <a:pt x="717" y="540"/>
                </a:cubicBezTo>
                <a:cubicBezTo>
                  <a:pt x="693" y="537"/>
                  <a:pt x="670" y="535"/>
                  <a:pt x="650" y="534"/>
                </a:cubicBezTo>
                <a:cubicBezTo>
                  <a:pt x="650" y="534"/>
                  <a:pt x="650" y="534"/>
                  <a:pt x="650" y="533"/>
                </a:cubicBezTo>
                <a:cubicBezTo>
                  <a:pt x="650" y="531"/>
                  <a:pt x="648" y="529"/>
                  <a:pt x="646" y="528"/>
                </a:cubicBezTo>
                <a:cubicBezTo>
                  <a:pt x="648" y="505"/>
                  <a:pt x="652" y="483"/>
                  <a:pt x="656" y="460"/>
                </a:cubicBezTo>
                <a:cubicBezTo>
                  <a:pt x="661" y="434"/>
                  <a:pt x="667" y="408"/>
                  <a:pt x="675" y="382"/>
                </a:cubicBezTo>
                <a:cubicBezTo>
                  <a:pt x="677" y="381"/>
                  <a:pt x="678" y="380"/>
                  <a:pt x="678" y="378"/>
                </a:cubicBezTo>
                <a:cubicBezTo>
                  <a:pt x="702" y="378"/>
                  <a:pt x="727" y="378"/>
                  <a:pt x="755" y="378"/>
                </a:cubicBezTo>
                <a:cubicBezTo>
                  <a:pt x="755" y="377"/>
                  <a:pt x="755" y="377"/>
                  <a:pt x="755" y="377"/>
                </a:cubicBezTo>
                <a:cubicBezTo>
                  <a:pt x="755" y="377"/>
                  <a:pt x="755" y="377"/>
                  <a:pt x="755" y="377"/>
                </a:cubicBezTo>
                <a:close/>
                <a:moveTo>
                  <a:pt x="673" y="372"/>
                </a:moveTo>
                <a:cubicBezTo>
                  <a:pt x="670" y="372"/>
                  <a:pt x="668" y="374"/>
                  <a:pt x="668" y="377"/>
                </a:cubicBezTo>
                <a:cubicBezTo>
                  <a:pt x="668" y="377"/>
                  <a:pt x="668" y="377"/>
                  <a:pt x="668" y="377"/>
                </a:cubicBezTo>
                <a:cubicBezTo>
                  <a:pt x="599" y="377"/>
                  <a:pt x="548" y="377"/>
                  <a:pt x="508" y="377"/>
                </a:cubicBezTo>
                <a:cubicBezTo>
                  <a:pt x="508" y="375"/>
                  <a:pt x="506" y="373"/>
                  <a:pt x="504" y="373"/>
                </a:cubicBezTo>
                <a:cubicBezTo>
                  <a:pt x="500" y="335"/>
                  <a:pt x="500" y="297"/>
                  <a:pt x="504" y="248"/>
                </a:cubicBezTo>
                <a:cubicBezTo>
                  <a:pt x="507" y="247"/>
                  <a:pt x="509" y="245"/>
                  <a:pt x="509" y="243"/>
                </a:cubicBezTo>
                <a:cubicBezTo>
                  <a:pt x="509" y="243"/>
                  <a:pt x="509" y="242"/>
                  <a:pt x="509" y="242"/>
                </a:cubicBezTo>
                <a:cubicBezTo>
                  <a:pt x="544" y="238"/>
                  <a:pt x="586" y="231"/>
                  <a:pt x="639" y="222"/>
                </a:cubicBezTo>
                <a:cubicBezTo>
                  <a:pt x="640" y="224"/>
                  <a:pt x="642" y="226"/>
                  <a:pt x="644" y="226"/>
                </a:cubicBezTo>
                <a:cubicBezTo>
                  <a:pt x="645" y="226"/>
                  <a:pt x="645" y="225"/>
                  <a:pt x="645" y="225"/>
                </a:cubicBezTo>
                <a:cubicBezTo>
                  <a:pt x="649" y="276"/>
                  <a:pt x="659" y="322"/>
                  <a:pt x="673" y="372"/>
                </a:cubicBezTo>
                <a:close/>
                <a:moveTo>
                  <a:pt x="503" y="507"/>
                </a:moveTo>
                <a:cubicBezTo>
                  <a:pt x="501" y="507"/>
                  <a:pt x="499" y="509"/>
                  <a:pt x="498" y="511"/>
                </a:cubicBezTo>
                <a:cubicBezTo>
                  <a:pt x="467" y="506"/>
                  <a:pt x="440" y="504"/>
                  <a:pt x="415" y="503"/>
                </a:cubicBezTo>
                <a:cubicBezTo>
                  <a:pt x="404" y="502"/>
                  <a:pt x="393" y="502"/>
                  <a:pt x="383" y="502"/>
                </a:cubicBezTo>
                <a:cubicBezTo>
                  <a:pt x="383" y="502"/>
                  <a:pt x="383" y="502"/>
                  <a:pt x="383" y="502"/>
                </a:cubicBezTo>
                <a:cubicBezTo>
                  <a:pt x="383" y="499"/>
                  <a:pt x="381" y="497"/>
                  <a:pt x="378" y="497"/>
                </a:cubicBezTo>
                <a:cubicBezTo>
                  <a:pt x="378" y="445"/>
                  <a:pt x="378" y="411"/>
                  <a:pt x="378" y="378"/>
                </a:cubicBezTo>
                <a:cubicBezTo>
                  <a:pt x="412" y="378"/>
                  <a:pt x="446" y="378"/>
                  <a:pt x="498" y="378"/>
                </a:cubicBezTo>
                <a:cubicBezTo>
                  <a:pt x="498" y="378"/>
                  <a:pt x="498" y="378"/>
                  <a:pt x="498" y="378"/>
                </a:cubicBezTo>
                <a:cubicBezTo>
                  <a:pt x="498" y="380"/>
                  <a:pt x="500" y="383"/>
                  <a:pt x="503" y="383"/>
                </a:cubicBezTo>
                <a:cubicBezTo>
                  <a:pt x="503" y="383"/>
                  <a:pt x="503" y="383"/>
                  <a:pt x="504" y="383"/>
                </a:cubicBezTo>
                <a:cubicBezTo>
                  <a:pt x="503" y="384"/>
                  <a:pt x="503" y="385"/>
                  <a:pt x="503" y="386"/>
                </a:cubicBezTo>
                <a:cubicBezTo>
                  <a:pt x="499" y="423"/>
                  <a:pt x="500" y="459"/>
                  <a:pt x="504" y="507"/>
                </a:cubicBezTo>
                <a:cubicBezTo>
                  <a:pt x="503" y="507"/>
                  <a:pt x="503" y="507"/>
                  <a:pt x="503" y="507"/>
                </a:cubicBezTo>
                <a:close/>
                <a:moveTo>
                  <a:pt x="252" y="508"/>
                </a:moveTo>
                <a:cubicBezTo>
                  <a:pt x="256" y="458"/>
                  <a:pt x="256" y="421"/>
                  <a:pt x="252" y="383"/>
                </a:cubicBezTo>
                <a:cubicBezTo>
                  <a:pt x="254" y="382"/>
                  <a:pt x="256" y="380"/>
                  <a:pt x="256" y="378"/>
                </a:cubicBezTo>
                <a:cubicBezTo>
                  <a:pt x="256" y="378"/>
                  <a:pt x="256" y="378"/>
                  <a:pt x="256" y="378"/>
                </a:cubicBezTo>
                <a:cubicBezTo>
                  <a:pt x="309" y="378"/>
                  <a:pt x="343" y="378"/>
                  <a:pt x="377" y="378"/>
                </a:cubicBezTo>
                <a:cubicBezTo>
                  <a:pt x="377" y="411"/>
                  <a:pt x="377" y="445"/>
                  <a:pt x="377" y="497"/>
                </a:cubicBezTo>
                <a:cubicBezTo>
                  <a:pt x="375" y="497"/>
                  <a:pt x="372" y="499"/>
                  <a:pt x="372" y="502"/>
                </a:cubicBezTo>
                <a:cubicBezTo>
                  <a:pt x="372" y="502"/>
                  <a:pt x="372" y="502"/>
                  <a:pt x="372" y="502"/>
                </a:cubicBezTo>
                <a:cubicBezTo>
                  <a:pt x="340" y="502"/>
                  <a:pt x="307" y="504"/>
                  <a:pt x="266" y="510"/>
                </a:cubicBezTo>
                <a:cubicBezTo>
                  <a:pt x="263" y="510"/>
                  <a:pt x="259" y="511"/>
                  <a:pt x="255" y="511"/>
                </a:cubicBezTo>
                <a:cubicBezTo>
                  <a:pt x="255" y="509"/>
                  <a:pt x="253" y="508"/>
                  <a:pt x="252" y="508"/>
                </a:cubicBezTo>
                <a:close/>
                <a:moveTo>
                  <a:pt x="256" y="243"/>
                </a:moveTo>
                <a:cubicBezTo>
                  <a:pt x="288" y="248"/>
                  <a:pt x="315" y="251"/>
                  <a:pt x="340" y="252"/>
                </a:cubicBezTo>
                <a:cubicBezTo>
                  <a:pt x="351" y="252"/>
                  <a:pt x="362" y="252"/>
                  <a:pt x="372" y="252"/>
                </a:cubicBezTo>
                <a:cubicBezTo>
                  <a:pt x="373" y="255"/>
                  <a:pt x="375" y="257"/>
                  <a:pt x="377" y="257"/>
                </a:cubicBezTo>
                <a:cubicBezTo>
                  <a:pt x="377" y="309"/>
                  <a:pt x="377" y="343"/>
                  <a:pt x="377" y="377"/>
                </a:cubicBezTo>
                <a:cubicBezTo>
                  <a:pt x="343" y="377"/>
                  <a:pt x="309" y="377"/>
                  <a:pt x="256" y="377"/>
                </a:cubicBezTo>
                <a:cubicBezTo>
                  <a:pt x="256" y="375"/>
                  <a:pt x="254" y="373"/>
                  <a:pt x="252" y="372"/>
                </a:cubicBezTo>
                <a:cubicBezTo>
                  <a:pt x="252" y="371"/>
                  <a:pt x="252" y="370"/>
                  <a:pt x="252" y="369"/>
                </a:cubicBezTo>
                <a:cubicBezTo>
                  <a:pt x="256" y="332"/>
                  <a:pt x="256" y="296"/>
                  <a:pt x="252" y="248"/>
                </a:cubicBezTo>
                <a:cubicBezTo>
                  <a:pt x="254" y="247"/>
                  <a:pt x="255" y="246"/>
                  <a:pt x="256" y="243"/>
                </a:cubicBezTo>
                <a:close/>
                <a:moveTo>
                  <a:pt x="503" y="372"/>
                </a:moveTo>
                <a:cubicBezTo>
                  <a:pt x="500" y="372"/>
                  <a:pt x="498" y="374"/>
                  <a:pt x="498" y="377"/>
                </a:cubicBezTo>
                <a:cubicBezTo>
                  <a:pt x="446" y="377"/>
                  <a:pt x="412" y="377"/>
                  <a:pt x="378" y="377"/>
                </a:cubicBezTo>
                <a:cubicBezTo>
                  <a:pt x="378" y="343"/>
                  <a:pt x="378" y="309"/>
                  <a:pt x="378" y="257"/>
                </a:cubicBezTo>
                <a:cubicBezTo>
                  <a:pt x="381" y="257"/>
                  <a:pt x="383" y="255"/>
                  <a:pt x="383" y="252"/>
                </a:cubicBezTo>
                <a:cubicBezTo>
                  <a:pt x="416" y="253"/>
                  <a:pt x="448" y="251"/>
                  <a:pt x="489" y="245"/>
                </a:cubicBezTo>
                <a:cubicBezTo>
                  <a:pt x="492" y="245"/>
                  <a:pt x="495" y="244"/>
                  <a:pt x="498" y="244"/>
                </a:cubicBezTo>
                <a:cubicBezTo>
                  <a:pt x="499" y="246"/>
                  <a:pt x="501" y="248"/>
                  <a:pt x="503" y="248"/>
                </a:cubicBezTo>
                <a:cubicBezTo>
                  <a:pt x="503" y="248"/>
                  <a:pt x="503" y="248"/>
                  <a:pt x="503" y="248"/>
                </a:cubicBezTo>
                <a:cubicBezTo>
                  <a:pt x="499" y="297"/>
                  <a:pt x="499" y="335"/>
                  <a:pt x="504" y="372"/>
                </a:cubicBezTo>
                <a:cubicBezTo>
                  <a:pt x="503" y="372"/>
                  <a:pt x="503" y="372"/>
                  <a:pt x="503" y="372"/>
                </a:cubicBezTo>
                <a:close/>
                <a:moveTo>
                  <a:pt x="564" y="86"/>
                </a:moveTo>
                <a:cubicBezTo>
                  <a:pt x="568" y="86"/>
                  <a:pt x="573" y="86"/>
                  <a:pt x="577" y="86"/>
                </a:cubicBezTo>
                <a:cubicBezTo>
                  <a:pt x="576" y="87"/>
                  <a:pt x="576" y="88"/>
                  <a:pt x="576" y="90"/>
                </a:cubicBezTo>
                <a:cubicBezTo>
                  <a:pt x="576" y="92"/>
                  <a:pt x="578" y="95"/>
                  <a:pt x="581" y="95"/>
                </a:cubicBezTo>
                <a:cubicBezTo>
                  <a:pt x="583" y="95"/>
                  <a:pt x="585" y="94"/>
                  <a:pt x="586" y="92"/>
                </a:cubicBezTo>
                <a:cubicBezTo>
                  <a:pt x="599" y="144"/>
                  <a:pt x="615" y="181"/>
                  <a:pt x="641" y="216"/>
                </a:cubicBezTo>
                <a:cubicBezTo>
                  <a:pt x="640" y="217"/>
                  <a:pt x="639" y="219"/>
                  <a:pt x="639" y="220"/>
                </a:cubicBezTo>
                <a:cubicBezTo>
                  <a:pt x="639" y="221"/>
                  <a:pt x="639" y="221"/>
                  <a:pt x="639" y="221"/>
                </a:cubicBezTo>
                <a:cubicBezTo>
                  <a:pt x="614" y="226"/>
                  <a:pt x="591" y="229"/>
                  <a:pt x="570" y="233"/>
                </a:cubicBezTo>
                <a:cubicBezTo>
                  <a:pt x="547" y="236"/>
                  <a:pt x="527" y="239"/>
                  <a:pt x="508" y="241"/>
                </a:cubicBezTo>
                <a:cubicBezTo>
                  <a:pt x="508" y="239"/>
                  <a:pt x="506" y="238"/>
                  <a:pt x="504" y="238"/>
                </a:cubicBezTo>
                <a:cubicBezTo>
                  <a:pt x="497" y="199"/>
                  <a:pt x="493" y="153"/>
                  <a:pt x="488" y="89"/>
                </a:cubicBezTo>
                <a:cubicBezTo>
                  <a:pt x="490" y="88"/>
                  <a:pt x="491" y="86"/>
                  <a:pt x="491" y="85"/>
                </a:cubicBezTo>
                <a:cubicBezTo>
                  <a:pt x="514" y="86"/>
                  <a:pt x="538" y="87"/>
                  <a:pt x="564" y="86"/>
                </a:cubicBezTo>
                <a:close/>
                <a:moveTo>
                  <a:pt x="480" y="85"/>
                </a:moveTo>
                <a:cubicBezTo>
                  <a:pt x="480" y="87"/>
                  <a:pt x="483" y="90"/>
                  <a:pt x="485" y="90"/>
                </a:cubicBezTo>
                <a:cubicBezTo>
                  <a:pt x="486" y="90"/>
                  <a:pt x="487" y="89"/>
                  <a:pt x="487" y="89"/>
                </a:cubicBezTo>
                <a:cubicBezTo>
                  <a:pt x="489" y="111"/>
                  <a:pt x="490" y="131"/>
                  <a:pt x="492" y="150"/>
                </a:cubicBezTo>
                <a:cubicBezTo>
                  <a:pt x="495" y="184"/>
                  <a:pt x="499" y="213"/>
                  <a:pt x="503" y="238"/>
                </a:cubicBezTo>
                <a:cubicBezTo>
                  <a:pt x="500" y="238"/>
                  <a:pt x="498" y="240"/>
                  <a:pt x="498" y="243"/>
                </a:cubicBezTo>
                <a:cubicBezTo>
                  <a:pt x="498" y="243"/>
                  <a:pt x="498" y="243"/>
                  <a:pt x="498" y="243"/>
                </a:cubicBezTo>
                <a:cubicBezTo>
                  <a:pt x="478" y="246"/>
                  <a:pt x="460" y="248"/>
                  <a:pt x="442" y="249"/>
                </a:cubicBezTo>
                <a:cubicBezTo>
                  <a:pt x="421" y="251"/>
                  <a:pt x="402" y="252"/>
                  <a:pt x="383" y="251"/>
                </a:cubicBezTo>
                <a:cubicBezTo>
                  <a:pt x="382" y="249"/>
                  <a:pt x="380" y="247"/>
                  <a:pt x="378" y="247"/>
                </a:cubicBezTo>
                <a:cubicBezTo>
                  <a:pt x="378" y="207"/>
                  <a:pt x="378" y="157"/>
                  <a:pt x="378" y="90"/>
                </a:cubicBezTo>
                <a:cubicBezTo>
                  <a:pt x="381" y="90"/>
                  <a:pt x="383" y="87"/>
                  <a:pt x="383" y="85"/>
                </a:cubicBezTo>
                <a:cubicBezTo>
                  <a:pt x="383" y="84"/>
                  <a:pt x="383" y="84"/>
                  <a:pt x="383" y="84"/>
                </a:cubicBezTo>
                <a:cubicBezTo>
                  <a:pt x="415" y="86"/>
                  <a:pt x="447" y="86"/>
                  <a:pt x="480" y="85"/>
                </a:cubicBezTo>
                <a:close/>
                <a:moveTo>
                  <a:pt x="372" y="84"/>
                </a:moveTo>
                <a:cubicBezTo>
                  <a:pt x="372" y="84"/>
                  <a:pt x="372" y="85"/>
                  <a:pt x="372" y="85"/>
                </a:cubicBezTo>
                <a:cubicBezTo>
                  <a:pt x="372" y="87"/>
                  <a:pt x="375" y="90"/>
                  <a:pt x="377" y="90"/>
                </a:cubicBezTo>
                <a:cubicBezTo>
                  <a:pt x="377" y="157"/>
                  <a:pt x="377" y="207"/>
                  <a:pt x="377" y="247"/>
                </a:cubicBezTo>
                <a:cubicBezTo>
                  <a:pt x="375" y="247"/>
                  <a:pt x="373" y="249"/>
                  <a:pt x="373" y="251"/>
                </a:cubicBezTo>
                <a:cubicBezTo>
                  <a:pt x="348" y="252"/>
                  <a:pt x="324" y="251"/>
                  <a:pt x="297" y="248"/>
                </a:cubicBezTo>
                <a:cubicBezTo>
                  <a:pt x="284" y="247"/>
                  <a:pt x="270" y="245"/>
                  <a:pt x="256" y="243"/>
                </a:cubicBezTo>
                <a:cubicBezTo>
                  <a:pt x="256" y="240"/>
                  <a:pt x="254" y="238"/>
                  <a:pt x="252" y="238"/>
                </a:cubicBezTo>
                <a:cubicBezTo>
                  <a:pt x="259" y="200"/>
                  <a:pt x="263" y="153"/>
                  <a:pt x="268" y="89"/>
                </a:cubicBezTo>
                <a:cubicBezTo>
                  <a:pt x="268" y="89"/>
                  <a:pt x="268" y="90"/>
                  <a:pt x="268" y="90"/>
                </a:cubicBezTo>
                <a:cubicBezTo>
                  <a:pt x="271" y="90"/>
                  <a:pt x="274" y="87"/>
                  <a:pt x="274" y="85"/>
                </a:cubicBezTo>
                <a:cubicBezTo>
                  <a:pt x="276" y="85"/>
                  <a:pt x="278" y="85"/>
                  <a:pt x="280" y="85"/>
                </a:cubicBezTo>
                <a:cubicBezTo>
                  <a:pt x="311" y="86"/>
                  <a:pt x="342" y="86"/>
                  <a:pt x="372" y="84"/>
                </a:cubicBezTo>
                <a:close/>
                <a:moveTo>
                  <a:pt x="169" y="93"/>
                </a:moveTo>
                <a:cubicBezTo>
                  <a:pt x="170" y="94"/>
                  <a:pt x="171" y="95"/>
                  <a:pt x="173" y="95"/>
                </a:cubicBezTo>
                <a:cubicBezTo>
                  <a:pt x="176" y="95"/>
                  <a:pt x="178" y="92"/>
                  <a:pt x="178" y="90"/>
                </a:cubicBezTo>
                <a:cubicBezTo>
                  <a:pt x="178" y="88"/>
                  <a:pt x="178" y="87"/>
                  <a:pt x="177" y="86"/>
                </a:cubicBezTo>
                <a:cubicBezTo>
                  <a:pt x="207" y="87"/>
                  <a:pt x="236" y="86"/>
                  <a:pt x="263" y="85"/>
                </a:cubicBezTo>
                <a:cubicBezTo>
                  <a:pt x="263" y="87"/>
                  <a:pt x="265" y="89"/>
                  <a:pt x="267" y="89"/>
                </a:cubicBezTo>
                <a:cubicBezTo>
                  <a:pt x="263" y="146"/>
                  <a:pt x="259" y="189"/>
                  <a:pt x="253" y="225"/>
                </a:cubicBezTo>
                <a:cubicBezTo>
                  <a:pt x="253" y="229"/>
                  <a:pt x="252" y="234"/>
                  <a:pt x="251" y="238"/>
                </a:cubicBezTo>
                <a:cubicBezTo>
                  <a:pt x="251" y="238"/>
                  <a:pt x="251" y="237"/>
                  <a:pt x="251" y="237"/>
                </a:cubicBezTo>
                <a:cubicBezTo>
                  <a:pt x="248" y="237"/>
                  <a:pt x="246" y="239"/>
                  <a:pt x="246" y="241"/>
                </a:cubicBezTo>
                <a:cubicBezTo>
                  <a:pt x="227" y="239"/>
                  <a:pt x="208" y="236"/>
                  <a:pt x="186" y="233"/>
                </a:cubicBezTo>
                <a:cubicBezTo>
                  <a:pt x="164" y="229"/>
                  <a:pt x="141" y="225"/>
                  <a:pt x="115" y="221"/>
                </a:cubicBezTo>
                <a:cubicBezTo>
                  <a:pt x="115" y="221"/>
                  <a:pt x="115" y="221"/>
                  <a:pt x="115" y="220"/>
                </a:cubicBezTo>
                <a:cubicBezTo>
                  <a:pt x="115" y="219"/>
                  <a:pt x="114" y="218"/>
                  <a:pt x="114" y="217"/>
                </a:cubicBezTo>
                <a:cubicBezTo>
                  <a:pt x="139" y="182"/>
                  <a:pt x="156" y="145"/>
                  <a:pt x="169" y="93"/>
                </a:cubicBezTo>
                <a:close/>
                <a:moveTo>
                  <a:pt x="110" y="225"/>
                </a:moveTo>
                <a:cubicBezTo>
                  <a:pt x="112" y="225"/>
                  <a:pt x="114" y="224"/>
                  <a:pt x="115" y="222"/>
                </a:cubicBezTo>
                <a:cubicBezTo>
                  <a:pt x="157" y="229"/>
                  <a:pt x="192" y="235"/>
                  <a:pt x="223" y="239"/>
                </a:cubicBezTo>
                <a:cubicBezTo>
                  <a:pt x="231" y="240"/>
                  <a:pt x="238" y="241"/>
                  <a:pt x="245" y="242"/>
                </a:cubicBezTo>
                <a:cubicBezTo>
                  <a:pt x="245" y="242"/>
                  <a:pt x="245" y="242"/>
                  <a:pt x="245" y="243"/>
                </a:cubicBezTo>
                <a:cubicBezTo>
                  <a:pt x="245" y="246"/>
                  <a:pt x="248" y="248"/>
                  <a:pt x="251" y="248"/>
                </a:cubicBezTo>
                <a:cubicBezTo>
                  <a:pt x="251" y="248"/>
                  <a:pt x="251" y="248"/>
                  <a:pt x="251" y="248"/>
                </a:cubicBezTo>
                <a:cubicBezTo>
                  <a:pt x="252" y="263"/>
                  <a:pt x="253" y="277"/>
                  <a:pt x="254" y="291"/>
                </a:cubicBezTo>
                <a:cubicBezTo>
                  <a:pt x="255" y="320"/>
                  <a:pt x="254" y="346"/>
                  <a:pt x="251" y="372"/>
                </a:cubicBezTo>
                <a:cubicBezTo>
                  <a:pt x="248" y="373"/>
                  <a:pt x="246" y="374"/>
                  <a:pt x="246" y="377"/>
                </a:cubicBezTo>
                <a:cubicBezTo>
                  <a:pt x="206" y="377"/>
                  <a:pt x="155" y="377"/>
                  <a:pt x="86" y="377"/>
                </a:cubicBezTo>
                <a:cubicBezTo>
                  <a:pt x="86" y="377"/>
                  <a:pt x="86" y="377"/>
                  <a:pt x="86" y="377"/>
                </a:cubicBezTo>
                <a:cubicBezTo>
                  <a:pt x="86" y="374"/>
                  <a:pt x="84" y="373"/>
                  <a:pt x="82" y="372"/>
                </a:cubicBezTo>
                <a:cubicBezTo>
                  <a:pt x="96" y="322"/>
                  <a:pt x="106" y="276"/>
                  <a:pt x="110" y="225"/>
                </a:cubicBezTo>
                <a:close/>
                <a:moveTo>
                  <a:pt x="82" y="382"/>
                </a:moveTo>
                <a:cubicBezTo>
                  <a:pt x="84" y="381"/>
                  <a:pt x="85" y="380"/>
                  <a:pt x="86" y="378"/>
                </a:cubicBezTo>
                <a:cubicBezTo>
                  <a:pt x="154" y="378"/>
                  <a:pt x="205" y="378"/>
                  <a:pt x="246" y="378"/>
                </a:cubicBezTo>
                <a:cubicBezTo>
                  <a:pt x="246" y="380"/>
                  <a:pt x="248" y="383"/>
                  <a:pt x="251" y="383"/>
                </a:cubicBezTo>
                <a:cubicBezTo>
                  <a:pt x="255" y="421"/>
                  <a:pt x="255" y="458"/>
                  <a:pt x="251" y="507"/>
                </a:cubicBezTo>
                <a:cubicBezTo>
                  <a:pt x="251" y="507"/>
                  <a:pt x="251" y="507"/>
                  <a:pt x="251" y="507"/>
                </a:cubicBezTo>
                <a:cubicBezTo>
                  <a:pt x="248" y="507"/>
                  <a:pt x="245" y="510"/>
                  <a:pt x="245" y="512"/>
                </a:cubicBezTo>
                <a:cubicBezTo>
                  <a:pt x="210" y="517"/>
                  <a:pt x="167" y="524"/>
                  <a:pt x="114" y="533"/>
                </a:cubicBezTo>
                <a:cubicBezTo>
                  <a:pt x="114" y="530"/>
                  <a:pt x="112" y="529"/>
                  <a:pt x="110" y="528"/>
                </a:cubicBezTo>
                <a:cubicBezTo>
                  <a:pt x="106" y="478"/>
                  <a:pt x="96" y="431"/>
                  <a:pt x="82" y="382"/>
                </a:cubicBezTo>
                <a:close/>
                <a:moveTo>
                  <a:pt x="190" y="668"/>
                </a:moveTo>
                <a:cubicBezTo>
                  <a:pt x="185" y="668"/>
                  <a:pt x="181" y="668"/>
                  <a:pt x="176" y="669"/>
                </a:cubicBezTo>
                <a:cubicBezTo>
                  <a:pt x="177" y="668"/>
                  <a:pt x="177" y="667"/>
                  <a:pt x="177" y="666"/>
                </a:cubicBezTo>
                <a:cubicBezTo>
                  <a:pt x="177" y="663"/>
                  <a:pt x="175" y="660"/>
                  <a:pt x="172" y="660"/>
                </a:cubicBezTo>
                <a:cubicBezTo>
                  <a:pt x="171" y="660"/>
                  <a:pt x="170" y="661"/>
                  <a:pt x="169" y="661"/>
                </a:cubicBezTo>
                <a:cubicBezTo>
                  <a:pt x="156" y="609"/>
                  <a:pt x="139" y="572"/>
                  <a:pt x="113" y="537"/>
                </a:cubicBezTo>
                <a:cubicBezTo>
                  <a:pt x="114" y="536"/>
                  <a:pt x="115" y="535"/>
                  <a:pt x="115" y="533"/>
                </a:cubicBezTo>
                <a:cubicBezTo>
                  <a:pt x="141" y="529"/>
                  <a:pt x="164" y="525"/>
                  <a:pt x="186" y="522"/>
                </a:cubicBezTo>
                <a:cubicBezTo>
                  <a:pt x="208" y="519"/>
                  <a:pt x="227" y="516"/>
                  <a:pt x="245" y="513"/>
                </a:cubicBezTo>
                <a:cubicBezTo>
                  <a:pt x="246" y="516"/>
                  <a:pt x="248" y="518"/>
                  <a:pt x="251" y="518"/>
                </a:cubicBezTo>
                <a:cubicBezTo>
                  <a:pt x="251" y="518"/>
                  <a:pt x="251" y="518"/>
                  <a:pt x="251" y="518"/>
                </a:cubicBezTo>
                <a:cubicBezTo>
                  <a:pt x="258" y="556"/>
                  <a:pt x="262" y="603"/>
                  <a:pt x="267" y="667"/>
                </a:cubicBezTo>
                <a:cubicBezTo>
                  <a:pt x="266" y="667"/>
                  <a:pt x="264" y="668"/>
                  <a:pt x="264" y="670"/>
                </a:cubicBezTo>
                <a:cubicBezTo>
                  <a:pt x="240" y="668"/>
                  <a:pt x="216" y="668"/>
                  <a:pt x="190" y="668"/>
                </a:cubicBezTo>
                <a:close/>
                <a:moveTo>
                  <a:pt x="274" y="670"/>
                </a:moveTo>
                <a:cubicBezTo>
                  <a:pt x="273" y="668"/>
                  <a:pt x="271" y="666"/>
                  <a:pt x="269" y="666"/>
                </a:cubicBezTo>
                <a:cubicBezTo>
                  <a:pt x="269" y="666"/>
                  <a:pt x="268" y="666"/>
                  <a:pt x="268" y="666"/>
                </a:cubicBezTo>
                <a:cubicBezTo>
                  <a:pt x="266" y="644"/>
                  <a:pt x="265" y="624"/>
                  <a:pt x="263" y="605"/>
                </a:cubicBezTo>
                <a:cubicBezTo>
                  <a:pt x="260" y="571"/>
                  <a:pt x="257" y="542"/>
                  <a:pt x="252" y="518"/>
                </a:cubicBezTo>
                <a:cubicBezTo>
                  <a:pt x="254" y="517"/>
                  <a:pt x="256" y="515"/>
                  <a:pt x="256" y="513"/>
                </a:cubicBezTo>
                <a:cubicBezTo>
                  <a:pt x="256" y="512"/>
                  <a:pt x="256" y="512"/>
                  <a:pt x="256" y="512"/>
                </a:cubicBezTo>
                <a:cubicBezTo>
                  <a:pt x="276" y="509"/>
                  <a:pt x="295" y="507"/>
                  <a:pt x="313" y="505"/>
                </a:cubicBezTo>
                <a:cubicBezTo>
                  <a:pt x="334" y="503"/>
                  <a:pt x="353" y="503"/>
                  <a:pt x="373" y="503"/>
                </a:cubicBezTo>
                <a:cubicBezTo>
                  <a:pt x="373" y="505"/>
                  <a:pt x="375" y="507"/>
                  <a:pt x="377" y="507"/>
                </a:cubicBezTo>
                <a:cubicBezTo>
                  <a:pt x="377" y="547"/>
                  <a:pt x="377" y="597"/>
                  <a:pt x="377" y="664"/>
                </a:cubicBezTo>
                <a:cubicBezTo>
                  <a:pt x="375" y="664"/>
                  <a:pt x="372" y="666"/>
                  <a:pt x="372" y="669"/>
                </a:cubicBezTo>
                <a:cubicBezTo>
                  <a:pt x="372" y="669"/>
                  <a:pt x="373" y="670"/>
                  <a:pt x="373" y="670"/>
                </a:cubicBezTo>
                <a:cubicBezTo>
                  <a:pt x="340" y="669"/>
                  <a:pt x="308" y="669"/>
                  <a:pt x="274" y="670"/>
                </a:cubicBezTo>
                <a:close/>
                <a:moveTo>
                  <a:pt x="475" y="670"/>
                </a:moveTo>
                <a:cubicBezTo>
                  <a:pt x="444" y="669"/>
                  <a:pt x="413" y="669"/>
                  <a:pt x="383" y="670"/>
                </a:cubicBezTo>
                <a:cubicBezTo>
                  <a:pt x="383" y="670"/>
                  <a:pt x="383" y="669"/>
                  <a:pt x="383" y="669"/>
                </a:cubicBezTo>
                <a:cubicBezTo>
                  <a:pt x="383" y="666"/>
                  <a:pt x="381" y="664"/>
                  <a:pt x="378" y="664"/>
                </a:cubicBezTo>
                <a:cubicBezTo>
                  <a:pt x="378" y="597"/>
                  <a:pt x="378" y="547"/>
                  <a:pt x="378" y="507"/>
                </a:cubicBezTo>
                <a:cubicBezTo>
                  <a:pt x="380" y="507"/>
                  <a:pt x="382" y="505"/>
                  <a:pt x="383" y="503"/>
                </a:cubicBezTo>
                <a:cubicBezTo>
                  <a:pt x="407" y="503"/>
                  <a:pt x="431" y="504"/>
                  <a:pt x="458" y="507"/>
                </a:cubicBezTo>
                <a:cubicBezTo>
                  <a:pt x="471" y="508"/>
                  <a:pt x="484" y="510"/>
                  <a:pt x="498" y="512"/>
                </a:cubicBezTo>
                <a:cubicBezTo>
                  <a:pt x="498" y="512"/>
                  <a:pt x="498" y="512"/>
                  <a:pt x="498" y="513"/>
                </a:cubicBezTo>
                <a:cubicBezTo>
                  <a:pt x="498" y="515"/>
                  <a:pt x="500" y="517"/>
                  <a:pt x="503" y="518"/>
                </a:cubicBezTo>
                <a:cubicBezTo>
                  <a:pt x="496" y="556"/>
                  <a:pt x="492" y="603"/>
                  <a:pt x="487" y="667"/>
                </a:cubicBezTo>
                <a:cubicBezTo>
                  <a:pt x="486" y="666"/>
                  <a:pt x="486" y="666"/>
                  <a:pt x="485" y="666"/>
                </a:cubicBezTo>
                <a:cubicBezTo>
                  <a:pt x="483" y="666"/>
                  <a:pt x="481" y="668"/>
                  <a:pt x="480" y="670"/>
                </a:cubicBezTo>
                <a:cubicBezTo>
                  <a:pt x="479" y="670"/>
                  <a:pt x="477" y="670"/>
                  <a:pt x="475" y="670"/>
                </a:cubicBezTo>
                <a:close/>
                <a:moveTo>
                  <a:pt x="586" y="662"/>
                </a:moveTo>
                <a:cubicBezTo>
                  <a:pt x="585" y="661"/>
                  <a:pt x="584" y="660"/>
                  <a:pt x="582" y="660"/>
                </a:cubicBezTo>
                <a:cubicBezTo>
                  <a:pt x="579" y="660"/>
                  <a:pt x="577" y="663"/>
                  <a:pt x="577" y="666"/>
                </a:cubicBezTo>
                <a:cubicBezTo>
                  <a:pt x="577" y="667"/>
                  <a:pt x="577" y="668"/>
                  <a:pt x="578" y="669"/>
                </a:cubicBezTo>
                <a:cubicBezTo>
                  <a:pt x="547" y="668"/>
                  <a:pt x="518" y="668"/>
                  <a:pt x="490" y="670"/>
                </a:cubicBezTo>
                <a:cubicBezTo>
                  <a:pt x="490" y="669"/>
                  <a:pt x="489" y="668"/>
                  <a:pt x="488" y="667"/>
                </a:cubicBezTo>
                <a:cubicBezTo>
                  <a:pt x="492" y="609"/>
                  <a:pt x="496" y="566"/>
                  <a:pt x="502" y="529"/>
                </a:cubicBezTo>
                <a:cubicBezTo>
                  <a:pt x="502" y="525"/>
                  <a:pt x="503" y="522"/>
                  <a:pt x="504" y="518"/>
                </a:cubicBezTo>
                <a:cubicBezTo>
                  <a:pt x="506" y="518"/>
                  <a:pt x="508" y="516"/>
                  <a:pt x="509" y="513"/>
                </a:cubicBezTo>
                <a:cubicBezTo>
                  <a:pt x="527" y="516"/>
                  <a:pt x="547" y="518"/>
                  <a:pt x="570" y="522"/>
                </a:cubicBezTo>
                <a:cubicBezTo>
                  <a:pt x="591" y="525"/>
                  <a:pt x="614" y="529"/>
                  <a:pt x="639" y="533"/>
                </a:cubicBezTo>
                <a:cubicBezTo>
                  <a:pt x="639" y="533"/>
                  <a:pt x="639" y="533"/>
                  <a:pt x="639" y="533"/>
                </a:cubicBezTo>
                <a:cubicBezTo>
                  <a:pt x="639" y="535"/>
                  <a:pt x="640" y="537"/>
                  <a:pt x="642" y="538"/>
                </a:cubicBezTo>
                <a:cubicBezTo>
                  <a:pt x="616" y="573"/>
                  <a:pt x="599" y="610"/>
                  <a:pt x="586" y="662"/>
                </a:cubicBezTo>
                <a:close/>
                <a:moveTo>
                  <a:pt x="645" y="528"/>
                </a:moveTo>
                <a:cubicBezTo>
                  <a:pt x="645" y="528"/>
                  <a:pt x="645" y="528"/>
                  <a:pt x="645" y="528"/>
                </a:cubicBezTo>
                <a:cubicBezTo>
                  <a:pt x="642" y="528"/>
                  <a:pt x="640" y="530"/>
                  <a:pt x="639" y="532"/>
                </a:cubicBezTo>
                <a:cubicBezTo>
                  <a:pt x="598" y="526"/>
                  <a:pt x="563" y="520"/>
                  <a:pt x="533" y="516"/>
                </a:cubicBezTo>
                <a:cubicBezTo>
                  <a:pt x="524" y="514"/>
                  <a:pt x="516" y="513"/>
                  <a:pt x="509" y="512"/>
                </a:cubicBezTo>
                <a:cubicBezTo>
                  <a:pt x="508" y="510"/>
                  <a:pt x="507" y="508"/>
                  <a:pt x="504" y="508"/>
                </a:cubicBezTo>
                <a:cubicBezTo>
                  <a:pt x="503" y="492"/>
                  <a:pt x="502" y="477"/>
                  <a:pt x="502" y="464"/>
                </a:cubicBezTo>
                <a:cubicBezTo>
                  <a:pt x="501" y="434"/>
                  <a:pt x="501" y="409"/>
                  <a:pt x="504" y="383"/>
                </a:cubicBezTo>
                <a:cubicBezTo>
                  <a:pt x="507" y="382"/>
                  <a:pt x="508" y="380"/>
                  <a:pt x="508" y="378"/>
                </a:cubicBezTo>
                <a:cubicBezTo>
                  <a:pt x="548" y="378"/>
                  <a:pt x="599" y="378"/>
                  <a:pt x="668" y="378"/>
                </a:cubicBezTo>
                <a:cubicBezTo>
                  <a:pt x="669" y="380"/>
                  <a:pt x="671" y="382"/>
                  <a:pt x="673" y="382"/>
                </a:cubicBezTo>
                <a:cubicBezTo>
                  <a:pt x="673" y="382"/>
                  <a:pt x="673" y="382"/>
                  <a:pt x="673" y="382"/>
                </a:cubicBezTo>
                <a:cubicBezTo>
                  <a:pt x="659" y="432"/>
                  <a:pt x="650" y="478"/>
                  <a:pt x="645" y="528"/>
                </a:cubicBezTo>
                <a:close/>
              </a:path>
            </a:pathLst>
          </a:custGeom>
          <a:gradFill>
            <a:gsLst>
              <a:gs pos="100000">
                <a:srgbClr val="1A4E7E"/>
              </a:gs>
              <a:gs pos="0">
                <a:srgbClr val="166293"/>
              </a:gs>
            </a:gsLst>
            <a:path path="shape">
              <a:fillToRect l="50000" t="50000" r="50000" b="50000"/>
            </a:path>
          </a:gradFill>
          <a:ln>
            <a:noFill/>
          </a:ln>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14" name="椭圆 13"/>
          <p:cNvSpPr/>
          <p:nvPr/>
        </p:nvSpPr>
        <p:spPr>
          <a:xfrm>
            <a:off x="7315051" y="2751138"/>
            <a:ext cx="159842" cy="159842"/>
          </a:xfrm>
          <a:prstGeom prst="ellipse">
            <a:avLst/>
          </a:prstGeom>
          <a:gradFill flip="none" rotWithShape="1">
            <a:gsLst>
              <a:gs pos="0">
                <a:srgbClr val="4DC9FE"/>
              </a:gs>
              <a:gs pos="54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15" name="椭圆 14"/>
          <p:cNvSpPr/>
          <p:nvPr/>
        </p:nvSpPr>
        <p:spPr>
          <a:xfrm>
            <a:off x="7875588" y="2751138"/>
            <a:ext cx="123825" cy="123825"/>
          </a:xfrm>
          <a:prstGeom prst="ellipse">
            <a:avLst/>
          </a:prstGeom>
          <a:gradFill flip="none" rotWithShape="1">
            <a:gsLst>
              <a:gs pos="0">
                <a:srgbClr val="4DC9FE">
                  <a:alpha val="43000"/>
                </a:srgbClr>
              </a:gs>
              <a:gs pos="10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16" name="椭圆 15"/>
          <p:cNvSpPr/>
          <p:nvPr/>
        </p:nvSpPr>
        <p:spPr>
          <a:xfrm>
            <a:off x="6789505" y="3051562"/>
            <a:ext cx="164078" cy="164078"/>
          </a:xfrm>
          <a:prstGeom prst="ellipse">
            <a:avLst/>
          </a:prstGeom>
          <a:gradFill flip="none" rotWithShape="1">
            <a:gsLst>
              <a:gs pos="0">
                <a:srgbClr val="4DC9FE"/>
              </a:gs>
              <a:gs pos="8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17" name="椭圆 16"/>
          <p:cNvSpPr/>
          <p:nvPr/>
        </p:nvSpPr>
        <p:spPr>
          <a:xfrm>
            <a:off x="1913444" y="3486641"/>
            <a:ext cx="116880" cy="116880"/>
          </a:xfrm>
          <a:prstGeom prst="ellipse">
            <a:avLst/>
          </a:prstGeom>
          <a:gradFill flip="none" rotWithShape="1">
            <a:gsLst>
              <a:gs pos="0">
                <a:srgbClr val="4DC9FE"/>
              </a:gs>
              <a:gs pos="54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18" name="椭圆 17"/>
          <p:cNvSpPr/>
          <p:nvPr/>
        </p:nvSpPr>
        <p:spPr>
          <a:xfrm>
            <a:off x="2216150" y="3438525"/>
            <a:ext cx="90488" cy="90488"/>
          </a:xfrm>
          <a:prstGeom prst="ellipse">
            <a:avLst/>
          </a:prstGeom>
          <a:gradFill flip="none" rotWithShape="1">
            <a:gsLst>
              <a:gs pos="0">
                <a:srgbClr val="4DC9FE"/>
              </a:gs>
              <a:gs pos="10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19" name="椭圆 18"/>
          <p:cNvSpPr/>
          <p:nvPr/>
        </p:nvSpPr>
        <p:spPr>
          <a:xfrm>
            <a:off x="1541189" y="2868182"/>
            <a:ext cx="65462" cy="65462"/>
          </a:xfrm>
          <a:prstGeom prst="ellipse">
            <a:avLst/>
          </a:prstGeom>
          <a:gradFill flip="none" rotWithShape="1">
            <a:gsLst>
              <a:gs pos="0">
                <a:srgbClr val="4DC9FE"/>
              </a:gs>
              <a:gs pos="8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20" name="椭圆 19"/>
          <p:cNvSpPr/>
          <p:nvPr/>
        </p:nvSpPr>
        <p:spPr>
          <a:xfrm>
            <a:off x="942975" y="2947988"/>
            <a:ext cx="58738" cy="58737"/>
          </a:xfrm>
          <a:prstGeom prst="ellipse">
            <a:avLst/>
          </a:prstGeom>
          <a:gradFill flip="none" rotWithShape="1">
            <a:gsLst>
              <a:gs pos="0">
                <a:srgbClr val="4DC9FE"/>
              </a:gs>
              <a:gs pos="10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21" name="椭圆 20"/>
          <p:cNvSpPr/>
          <p:nvPr/>
        </p:nvSpPr>
        <p:spPr>
          <a:xfrm>
            <a:off x="3997424" y="3560094"/>
            <a:ext cx="159842" cy="159842"/>
          </a:xfrm>
          <a:prstGeom prst="ellipse">
            <a:avLst/>
          </a:prstGeom>
          <a:gradFill flip="none" rotWithShape="1">
            <a:gsLst>
              <a:gs pos="0">
                <a:srgbClr val="4DC9FE"/>
              </a:gs>
              <a:gs pos="54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22" name="椭圆 21"/>
          <p:cNvSpPr/>
          <p:nvPr/>
        </p:nvSpPr>
        <p:spPr>
          <a:xfrm>
            <a:off x="4540250" y="3535363"/>
            <a:ext cx="122238" cy="122237"/>
          </a:xfrm>
          <a:prstGeom prst="ellipse">
            <a:avLst/>
          </a:prstGeom>
          <a:gradFill flip="none" rotWithShape="1">
            <a:gsLst>
              <a:gs pos="0">
                <a:srgbClr val="4DC9FE">
                  <a:alpha val="47000"/>
                </a:srgbClr>
              </a:gs>
              <a:gs pos="10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23" name="椭圆 22"/>
          <p:cNvSpPr/>
          <p:nvPr/>
        </p:nvSpPr>
        <p:spPr>
          <a:xfrm>
            <a:off x="6229350" y="3168650"/>
            <a:ext cx="80963" cy="80963"/>
          </a:xfrm>
          <a:prstGeom prst="ellipse">
            <a:avLst/>
          </a:prstGeom>
          <a:gradFill flip="none" rotWithShape="1">
            <a:gsLst>
              <a:gs pos="0">
                <a:srgbClr val="4DC9FE">
                  <a:alpha val="69000"/>
                </a:srgbClr>
              </a:gs>
              <a:gs pos="10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24" name="椭圆 23"/>
          <p:cNvSpPr/>
          <p:nvPr/>
        </p:nvSpPr>
        <p:spPr>
          <a:xfrm>
            <a:off x="3577861" y="2780796"/>
            <a:ext cx="164078" cy="164078"/>
          </a:xfrm>
          <a:prstGeom prst="ellipse">
            <a:avLst/>
          </a:prstGeom>
          <a:gradFill flip="none" rotWithShape="1">
            <a:gsLst>
              <a:gs pos="0">
                <a:srgbClr val="4DC9FE"/>
              </a:gs>
              <a:gs pos="80000">
                <a:srgbClr val="02283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25" name="Freeform 21"/>
          <p:cNvSpPr>
            <a:spLocks/>
          </p:cNvSpPr>
          <p:nvPr/>
        </p:nvSpPr>
        <p:spPr bwMode="auto">
          <a:xfrm>
            <a:off x="5583238" y="1579563"/>
            <a:ext cx="87313" cy="123825"/>
          </a:xfrm>
          <a:custGeom>
            <a:avLst/>
            <a:gdLst>
              <a:gd name="T0" fmla="*/ 0 w 23"/>
              <a:gd name="T1" fmla="*/ 0 h 33"/>
              <a:gd name="T2" fmla="*/ 23 w 23"/>
              <a:gd name="T3" fmla="*/ 33 h 33"/>
              <a:gd name="T4" fmla="*/ 0 w 23"/>
              <a:gd name="T5" fmla="*/ 0 h 33"/>
            </a:gdLst>
            <a:ahLst/>
            <a:cxnLst>
              <a:cxn ang="0">
                <a:pos x="T0" y="T1"/>
              </a:cxn>
              <a:cxn ang="0">
                <a:pos x="T2" y="T3"/>
              </a:cxn>
              <a:cxn ang="0">
                <a:pos x="T4" y="T5"/>
              </a:cxn>
            </a:cxnLst>
            <a:rect l="0" t="0" r="r" b="b"/>
            <a:pathLst>
              <a:path w="23" h="33">
                <a:moveTo>
                  <a:pt x="0" y="0"/>
                </a:moveTo>
                <a:cubicBezTo>
                  <a:pt x="7" y="12"/>
                  <a:pt x="14" y="23"/>
                  <a:pt x="23" y="33"/>
                </a:cubicBezTo>
                <a:lnTo>
                  <a:pt x="0" y="0"/>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6" name="Freeform 22"/>
          <p:cNvSpPr>
            <a:spLocks/>
          </p:cNvSpPr>
          <p:nvPr/>
        </p:nvSpPr>
        <p:spPr bwMode="auto">
          <a:xfrm>
            <a:off x="3468688" y="1579563"/>
            <a:ext cx="87313" cy="123825"/>
          </a:xfrm>
          <a:custGeom>
            <a:avLst/>
            <a:gdLst>
              <a:gd name="T0" fmla="*/ 0 w 23"/>
              <a:gd name="T1" fmla="*/ 33 h 33"/>
              <a:gd name="T2" fmla="*/ 23 w 23"/>
              <a:gd name="T3" fmla="*/ 0 h 33"/>
              <a:gd name="T4" fmla="*/ 0 w 23"/>
              <a:gd name="T5" fmla="*/ 33 h 33"/>
            </a:gdLst>
            <a:ahLst/>
            <a:cxnLst>
              <a:cxn ang="0">
                <a:pos x="T0" y="T1"/>
              </a:cxn>
              <a:cxn ang="0">
                <a:pos x="T2" y="T3"/>
              </a:cxn>
              <a:cxn ang="0">
                <a:pos x="T4" y="T5"/>
              </a:cxn>
            </a:cxnLst>
            <a:rect l="0" t="0" r="r" b="b"/>
            <a:pathLst>
              <a:path w="23" h="33">
                <a:moveTo>
                  <a:pt x="0" y="33"/>
                </a:moveTo>
                <a:cubicBezTo>
                  <a:pt x="9" y="23"/>
                  <a:pt x="16" y="12"/>
                  <a:pt x="23" y="0"/>
                </a:cubicBezTo>
                <a:lnTo>
                  <a:pt x="0" y="33"/>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7" name="Freeform 17"/>
          <p:cNvSpPr>
            <a:spLocks noEditPoints="1"/>
          </p:cNvSpPr>
          <p:nvPr/>
        </p:nvSpPr>
        <p:spPr bwMode="auto">
          <a:xfrm>
            <a:off x="2499719" y="504917"/>
            <a:ext cx="4144562" cy="4140018"/>
          </a:xfrm>
          <a:custGeom>
            <a:avLst/>
            <a:gdLst>
              <a:gd name="T0" fmla="*/ 643 w 769"/>
              <a:gd name="T1" fmla="*/ 96 h 768"/>
              <a:gd name="T2" fmla="*/ 486 w 769"/>
              <a:gd name="T3" fmla="*/ 14 h 768"/>
              <a:gd name="T4" fmla="*/ 378 w 769"/>
              <a:gd name="T5" fmla="*/ 6 h 768"/>
              <a:gd name="T6" fmla="*/ 252 w 769"/>
              <a:gd name="T7" fmla="*/ 23 h 768"/>
              <a:gd name="T8" fmla="*/ 39 w 769"/>
              <a:gd name="T9" fmla="*/ 222 h 768"/>
              <a:gd name="T10" fmla="*/ 33 w 769"/>
              <a:gd name="T11" fmla="*/ 539 h 768"/>
              <a:gd name="T12" fmla="*/ 246 w 769"/>
              <a:gd name="T13" fmla="*/ 748 h 768"/>
              <a:gd name="T14" fmla="*/ 335 w 769"/>
              <a:gd name="T15" fmla="*/ 759 h 768"/>
              <a:gd name="T16" fmla="*/ 486 w 769"/>
              <a:gd name="T17" fmla="*/ 753 h 768"/>
              <a:gd name="T18" fmla="*/ 643 w 769"/>
              <a:gd name="T19" fmla="*/ 672 h 768"/>
              <a:gd name="T20" fmla="*/ 769 w 769"/>
              <a:gd name="T21" fmla="*/ 384 h 768"/>
              <a:gd name="T22" fmla="*/ 676 w 769"/>
              <a:gd name="T23" fmla="*/ 220 h 768"/>
              <a:gd name="T24" fmla="*/ 447 w 769"/>
              <a:gd name="T25" fmla="*/ 757 h 768"/>
              <a:gd name="T26" fmla="*/ 496 w 769"/>
              <a:gd name="T27" fmla="*/ 748 h 768"/>
              <a:gd name="T28" fmla="*/ 541 w 769"/>
              <a:gd name="T29" fmla="*/ 566 h 768"/>
              <a:gd name="T30" fmla="*/ 271 w 769"/>
              <a:gd name="T31" fmla="*/ 680 h 768"/>
              <a:gd name="T32" fmla="*/ 384 w 769"/>
              <a:gd name="T33" fmla="*/ 683 h 768"/>
              <a:gd name="T34" fmla="*/ 227 w 769"/>
              <a:gd name="T35" fmla="*/ 567 h 768"/>
              <a:gd name="T36" fmla="*/ 184 w 769"/>
              <a:gd name="T37" fmla="*/ 88 h 768"/>
              <a:gd name="T38" fmla="*/ 106 w 769"/>
              <a:gd name="T39" fmla="*/ 210 h 768"/>
              <a:gd name="T40" fmla="*/ 228 w 769"/>
              <a:gd name="T41" fmla="*/ 201 h 768"/>
              <a:gd name="T42" fmla="*/ 499 w 769"/>
              <a:gd name="T43" fmla="*/ 87 h 768"/>
              <a:gd name="T44" fmla="*/ 394 w 769"/>
              <a:gd name="T45" fmla="*/ 76 h 768"/>
              <a:gd name="T46" fmla="*/ 501 w 769"/>
              <a:gd name="T47" fmla="*/ 86 h 768"/>
              <a:gd name="T48" fmla="*/ 561 w 769"/>
              <a:gd name="T49" fmla="*/ 372 h 768"/>
              <a:gd name="T50" fmla="*/ 546 w 769"/>
              <a:gd name="T51" fmla="*/ 542 h 768"/>
              <a:gd name="T52" fmla="*/ 560 w 769"/>
              <a:gd name="T53" fmla="*/ 396 h 768"/>
              <a:gd name="T54" fmla="*/ 209 w 769"/>
              <a:gd name="T55" fmla="*/ 396 h 768"/>
              <a:gd name="T56" fmla="*/ 333 w 769"/>
              <a:gd name="T57" fmla="*/ 210 h 768"/>
              <a:gd name="T58" fmla="*/ 397 w 769"/>
              <a:gd name="T59" fmla="*/ 208 h 768"/>
              <a:gd name="T60" fmla="*/ 385 w 769"/>
              <a:gd name="T61" fmla="*/ 367 h 768"/>
              <a:gd name="T62" fmla="*/ 208 w 769"/>
              <a:gd name="T63" fmla="*/ 371 h 768"/>
              <a:gd name="T64" fmla="*/ 207 w 769"/>
              <a:gd name="T65" fmla="*/ 396 h 768"/>
              <a:gd name="T66" fmla="*/ 83 w 769"/>
              <a:gd name="T67" fmla="*/ 384 h 768"/>
              <a:gd name="T68" fmla="*/ 559 w 769"/>
              <a:gd name="T69" fmla="*/ 555 h 768"/>
              <a:gd name="T70" fmla="*/ 575 w 769"/>
              <a:gd name="T71" fmla="*/ 553 h 768"/>
              <a:gd name="T72" fmla="*/ 669 w 769"/>
              <a:gd name="T73" fmla="*/ 541 h 768"/>
              <a:gd name="T74" fmla="*/ 633 w 769"/>
              <a:gd name="T75" fmla="*/ 155 h 768"/>
              <a:gd name="T76" fmla="*/ 517 w 769"/>
              <a:gd name="T77" fmla="*/ 25 h 768"/>
              <a:gd name="T78" fmla="*/ 496 w 769"/>
              <a:gd name="T79" fmla="*/ 18 h 768"/>
              <a:gd name="T80" fmla="*/ 576 w 769"/>
              <a:gd name="T81" fmla="*/ 86 h 768"/>
              <a:gd name="T82" fmla="*/ 440 w 769"/>
              <a:gd name="T83" fmla="*/ 15 h 768"/>
              <a:gd name="T84" fmla="*/ 434 w 769"/>
              <a:gd name="T85" fmla="*/ 9 h 768"/>
              <a:gd name="T86" fmla="*/ 378 w 769"/>
              <a:gd name="T87" fmla="*/ 7 h 768"/>
              <a:gd name="T88" fmla="*/ 182 w 769"/>
              <a:gd name="T89" fmla="*/ 84 h 768"/>
              <a:gd name="T90" fmla="*/ 252 w 769"/>
              <a:gd name="T91" fmla="*/ 24 h 768"/>
              <a:gd name="T92" fmla="*/ 242 w 769"/>
              <a:gd name="T93" fmla="*/ 29 h 768"/>
              <a:gd name="T94" fmla="*/ 102 w 769"/>
              <a:gd name="T95" fmla="*/ 209 h 768"/>
              <a:gd name="T96" fmla="*/ 45 w 769"/>
              <a:gd name="T97" fmla="*/ 227 h 768"/>
              <a:gd name="T98" fmla="*/ 39 w 769"/>
              <a:gd name="T99" fmla="*/ 234 h 768"/>
              <a:gd name="T100" fmla="*/ 90 w 769"/>
              <a:gd name="T101" fmla="*/ 547 h 768"/>
              <a:gd name="T102" fmla="*/ 93 w 769"/>
              <a:gd name="T103" fmla="*/ 548 h 768"/>
              <a:gd name="T104" fmla="*/ 126 w 769"/>
              <a:gd name="T105" fmla="*/ 660 h 768"/>
              <a:gd name="T106" fmla="*/ 148 w 769"/>
              <a:gd name="T107" fmla="*/ 672 h 768"/>
              <a:gd name="T108" fmla="*/ 284 w 769"/>
              <a:gd name="T109" fmla="*/ 752 h 768"/>
              <a:gd name="T110" fmla="*/ 271 w 769"/>
              <a:gd name="T111" fmla="*/ 697 h 768"/>
              <a:gd name="T112" fmla="*/ 277 w 769"/>
              <a:gd name="T113" fmla="*/ 695 h 768"/>
              <a:gd name="T114" fmla="*/ 385 w 769"/>
              <a:gd name="T115" fmla="*/ 700 h 768"/>
              <a:gd name="T116" fmla="*/ 527 w 769"/>
              <a:gd name="T117" fmla="*/ 739 h 768"/>
              <a:gd name="T118" fmla="*/ 602 w 769"/>
              <a:gd name="T119" fmla="*/ 677 h 768"/>
              <a:gd name="T120" fmla="*/ 602 w 769"/>
              <a:gd name="T121" fmla="*/ 676 h 768"/>
              <a:gd name="T122" fmla="*/ 645 w 769"/>
              <a:gd name="T123" fmla="*/ 661 h 768"/>
              <a:gd name="T124" fmla="*/ 695 w 769"/>
              <a:gd name="T125" fmla="*/ 393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69" h="768">
                <a:moveTo>
                  <a:pt x="763" y="378"/>
                </a:moveTo>
                <a:cubicBezTo>
                  <a:pt x="762" y="378"/>
                  <a:pt x="762" y="378"/>
                  <a:pt x="762" y="378"/>
                </a:cubicBezTo>
                <a:cubicBezTo>
                  <a:pt x="732" y="234"/>
                  <a:pt x="732" y="234"/>
                  <a:pt x="732" y="234"/>
                </a:cubicBezTo>
                <a:cubicBezTo>
                  <a:pt x="734" y="234"/>
                  <a:pt x="736" y="231"/>
                  <a:pt x="736" y="228"/>
                </a:cubicBezTo>
                <a:cubicBezTo>
                  <a:pt x="736" y="225"/>
                  <a:pt x="734" y="222"/>
                  <a:pt x="730" y="222"/>
                </a:cubicBezTo>
                <a:cubicBezTo>
                  <a:pt x="729" y="222"/>
                  <a:pt x="728" y="223"/>
                  <a:pt x="727" y="223"/>
                </a:cubicBezTo>
                <a:cubicBezTo>
                  <a:pt x="646" y="106"/>
                  <a:pt x="646" y="106"/>
                  <a:pt x="646" y="106"/>
                </a:cubicBezTo>
                <a:cubicBezTo>
                  <a:pt x="648" y="105"/>
                  <a:pt x="649" y="103"/>
                  <a:pt x="649" y="101"/>
                </a:cubicBezTo>
                <a:cubicBezTo>
                  <a:pt x="649" y="98"/>
                  <a:pt x="646" y="96"/>
                  <a:pt x="643" y="96"/>
                </a:cubicBezTo>
                <a:cubicBezTo>
                  <a:pt x="641" y="96"/>
                  <a:pt x="639" y="97"/>
                  <a:pt x="638" y="98"/>
                </a:cubicBezTo>
                <a:cubicBezTo>
                  <a:pt x="528" y="28"/>
                  <a:pt x="528" y="28"/>
                  <a:pt x="528" y="28"/>
                </a:cubicBezTo>
                <a:cubicBezTo>
                  <a:pt x="528" y="27"/>
                  <a:pt x="529" y="26"/>
                  <a:pt x="529" y="25"/>
                </a:cubicBezTo>
                <a:cubicBezTo>
                  <a:pt x="529" y="22"/>
                  <a:pt x="526" y="19"/>
                  <a:pt x="523" y="19"/>
                </a:cubicBezTo>
                <a:cubicBezTo>
                  <a:pt x="520" y="19"/>
                  <a:pt x="518" y="21"/>
                  <a:pt x="517" y="23"/>
                </a:cubicBezTo>
                <a:cubicBezTo>
                  <a:pt x="497" y="17"/>
                  <a:pt x="497" y="17"/>
                  <a:pt x="497" y="17"/>
                </a:cubicBezTo>
                <a:cubicBezTo>
                  <a:pt x="497" y="16"/>
                  <a:pt x="497" y="15"/>
                  <a:pt x="497" y="15"/>
                </a:cubicBezTo>
                <a:cubicBezTo>
                  <a:pt x="497" y="12"/>
                  <a:pt x="495" y="9"/>
                  <a:pt x="492" y="9"/>
                </a:cubicBezTo>
                <a:cubicBezTo>
                  <a:pt x="489" y="9"/>
                  <a:pt x="486" y="11"/>
                  <a:pt x="486" y="14"/>
                </a:cubicBezTo>
                <a:cubicBezTo>
                  <a:pt x="446" y="10"/>
                  <a:pt x="446" y="10"/>
                  <a:pt x="446" y="10"/>
                </a:cubicBezTo>
                <a:cubicBezTo>
                  <a:pt x="446" y="9"/>
                  <a:pt x="446" y="9"/>
                  <a:pt x="446" y="9"/>
                </a:cubicBezTo>
                <a:cubicBezTo>
                  <a:pt x="446" y="6"/>
                  <a:pt x="443" y="3"/>
                  <a:pt x="440" y="3"/>
                </a:cubicBezTo>
                <a:cubicBezTo>
                  <a:pt x="437" y="3"/>
                  <a:pt x="434" y="5"/>
                  <a:pt x="434" y="9"/>
                </a:cubicBezTo>
                <a:cubicBezTo>
                  <a:pt x="390" y="6"/>
                  <a:pt x="390" y="6"/>
                  <a:pt x="390" y="6"/>
                </a:cubicBezTo>
                <a:cubicBezTo>
                  <a:pt x="390" y="6"/>
                  <a:pt x="390" y="6"/>
                  <a:pt x="390" y="6"/>
                </a:cubicBezTo>
                <a:cubicBezTo>
                  <a:pt x="390" y="2"/>
                  <a:pt x="387" y="0"/>
                  <a:pt x="384" y="0"/>
                </a:cubicBezTo>
                <a:cubicBezTo>
                  <a:pt x="381" y="0"/>
                  <a:pt x="378" y="2"/>
                  <a:pt x="378" y="6"/>
                </a:cubicBezTo>
                <a:cubicBezTo>
                  <a:pt x="378" y="6"/>
                  <a:pt x="378" y="6"/>
                  <a:pt x="378" y="6"/>
                </a:cubicBezTo>
                <a:cubicBezTo>
                  <a:pt x="335" y="9"/>
                  <a:pt x="335" y="9"/>
                  <a:pt x="335" y="9"/>
                </a:cubicBezTo>
                <a:cubicBezTo>
                  <a:pt x="334" y="6"/>
                  <a:pt x="332" y="3"/>
                  <a:pt x="329" y="3"/>
                </a:cubicBezTo>
                <a:cubicBezTo>
                  <a:pt x="325" y="3"/>
                  <a:pt x="323" y="6"/>
                  <a:pt x="323" y="9"/>
                </a:cubicBezTo>
                <a:cubicBezTo>
                  <a:pt x="323" y="9"/>
                  <a:pt x="323" y="9"/>
                  <a:pt x="323" y="10"/>
                </a:cubicBezTo>
                <a:cubicBezTo>
                  <a:pt x="283" y="14"/>
                  <a:pt x="283" y="14"/>
                  <a:pt x="283" y="14"/>
                </a:cubicBezTo>
                <a:cubicBezTo>
                  <a:pt x="283" y="11"/>
                  <a:pt x="281" y="9"/>
                  <a:pt x="278" y="9"/>
                </a:cubicBezTo>
                <a:cubicBezTo>
                  <a:pt x="274" y="9"/>
                  <a:pt x="272" y="12"/>
                  <a:pt x="272" y="15"/>
                </a:cubicBezTo>
                <a:cubicBezTo>
                  <a:pt x="272" y="15"/>
                  <a:pt x="272" y="16"/>
                  <a:pt x="272" y="17"/>
                </a:cubicBezTo>
                <a:cubicBezTo>
                  <a:pt x="252" y="23"/>
                  <a:pt x="252" y="23"/>
                  <a:pt x="252" y="23"/>
                </a:cubicBezTo>
                <a:cubicBezTo>
                  <a:pt x="251" y="21"/>
                  <a:pt x="249" y="19"/>
                  <a:pt x="246" y="19"/>
                </a:cubicBezTo>
                <a:cubicBezTo>
                  <a:pt x="243" y="19"/>
                  <a:pt x="241" y="22"/>
                  <a:pt x="241" y="25"/>
                </a:cubicBezTo>
                <a:cubicBezTo>
                  <a:pt x="241" y="26"/>
                  <a:pt x="241" y="27"/>
                  <a:pt x="241" y="28"/>
                </a:cubicBezTo>
                <a:cubicBezTo>
                  <a:pt x="131" y="98"/>
                  <a:pt x="131" y="98"/>
                  <a:pt x="131" y="98"/>
                </a:cubicBezTo>
                <a:cubicBezTo>
                  <a:pt x="130" y="97"/>
                  <a:pt x="128" y="96"/>
                  <a:pt x="126" y="96"/>
                </a:cubicBezTo>
                <a:cubicBezTo>
                  <a:pt x="123" y="96"/>
                  <a:pt x="120" y="98"/>
                  <a:pt x="120" y="101"/>
                </a:cubicBezTo>
                <a:cubicBezTo>
                  <a:pt x="120" y="103"/>
                  <a:pt x="121" y="105"/>
                  <a:pt x="123" y="106"/>
                </a:cubicBezTo>
                <a:cubicBezTo>
                  <a:pt x="42" y="223"/>
                  <a:pt x="42" y="223"/>
                  <a:pt x="42" y="223"/>
                </a:cubicBezTo>
                <a:cubicBezTo>
                  <a:pt x="41" y="222"/>
                  <a:pt x="40" y="222"/>
                  <a:pt x="39" y="222"/>
                </a:cubicBezTo>
                <a:cubicBezTo>
                  <a:pt x="36" y="222"/>
                  <a:pt x="33" y="224"/>
                  <a:pt x="33" y="228"/>
                </a:cubicBezTo>
                <a:cubicBezTo>
                  <a:pt x="33" y="231"/>
                  <a:pt x="35" y="233"/>
                  <a:pt x="38" y="233"/>
                </a:cubicBezTo>
                <a:cubicBezTo>
                  <a:pt x="7" y="378"/>
                  <a:pt x="7" y="378"/>
                  <a:pt x="7" y="378"/>
                </a:cubicBezTo>
                <a:cubicBezTo>
                  <a:pt x="7" y="378"/>
                  <a:pt x="7" y="378"/>
                  <a:pt x="6" y="378"/>
                </a:cubicBezTo>
                <a:cubicBezTo>
                  <a:pt x="3" y="378"/>
                  <a:pt x="0" y="381"/>
                  <a:pt x="0" y="384"/>
                </a:cubicBezTo>
                <a:cubicBezTo>
                  <a:pt x="0" y="387"/>
                  <a:pt x="3" y="390"/>
                  <a:pt x="6" y="390"/>
                </a:cubicBezTo>
                <a:cubicBezTo>
                  <a:pt x="7" y="390"/>
                  <a:pt x="7" y="390"/>
                  <a:pt x="8" y="390"/>
                </a:cubicBezTo>
                <a:cubicBezTo>
                  <a:pt x="38" y="534"/>
                  <a:pt x="38" y="534"/>
                  <a:pt x="38" y="534"/>
                </a:cubicBezTo>
                <a:cubicBezTo>
                  <a:pt x="35" y="534"/>
                  <a:pt x="33" y="537"/>
                  <a:pt x="33" y="539"/>
                </a:cubicBezTo>
                <a:cubicBezTo>
                  <a:pt x="33" y="543"/>
                  <a:pt x="36" y="545"/>
                  <a:pt x="39" y="545"/>
                </a:cubicBezTo>
                <a:cubicBezTo>
                  <a:pt x="40" y="545"/>
                  <a:pt x="41" y="545"/>
                  <a:pt x="42" y="544"/>
                </a:cubicBezTo>
                <a:cubicBezTo>
                  <a:pt x="123" y="661"/>
                  <a:pt x="123" y="661"/>
                  <a:pt x="123" y="661"/>
                </a:cubicBezTo>
                <a:cubicBezTo>
                  <a:pt x="122" y="662"/>
                  <a:pt x="121" y="664"/>
                  <a:pt x="121" y="666"/>
                </a:cubicBezTo>
                <a:cubicBezTo>
                  <a:pt x="121" y="669"/>
                  <a:pt x="123" y="672"/>
                  <a:pt x="126" y="672"/>
                </a:cubicBezTo>
                <a:cubicBezTo>
                  <a:pt x="129" y="672"/>
                  <a:pt x="130" y="671"/>
                  <a:pt x="131" y="669"/>
                </a:cubicBezTo>
                <a:cubicBezTo>
                  <a:pt x="241" y="739"/>
                  <a:pt x="241" y="739"/>
                  <a:pt x="241" y="739"/>
                </a:cubicBezTo>
                <a:cubicBezTo>
                  <a:pt x="241" y="740"/>
                  <a:pt x="240" y="741"/>
                  <a:pt x="240" y="742"/>
                </a:cubicBezTo>
                <a:cubicBezTo>
                  <a:pt x="240" y="746"/>
                  <a:pt x="243" y="748"/>
                  <a:pt x="246" y="748"/>
                </a:cubicBezTo>
                <a:cubicBezTo>
                  <a:pt x="249" y="748"/>
                  <a:pt x="251" y="746"/>
                  <a:pt x="252" y="744"/>
                </a:cubicBezTo>
                <a:cubicBezTo>
                  <a:pt x="272" y="751"/>
                  <a:pt x="272" y="751"/>
                  <a:pt x="272" y="751"/>
                </a:cubicBezTo>
                <a:cubicBezTo>
                  <a:pt x="272" y="751"/>
                  <a:pt x="272" y="751"/>
                  <a:pt x="272" y="752"/>
                </a:cubicBezTo>
                <a:cubicBezTo>
                  <a:pt x="272" y="755"/>
                  <a:pt x="275" y="757"/>
                  <a:pt x="278" y="757"/>
                </a:cubicBezTo>
                <a:cubicBezTo>
                  <a:pt x="281" y="757"/>
                  <a:pt x="283" y="756"/>
                  <a:pt x="283" y="753"/>
                </a:cubicBezTo>
                <a:cubicBezTo>
                  <a:pt x="323" y="758"/>
                  <a:pt x="323" y="758"/>
                  <a:pt x="323" y="758"/>
                </a:cubicBezTo>
                <a:cubicBezTo>
                  <a:pt x="323" y="758"/>
                  <a:pt x="323" y="758"/>
                  <a:pt x="323" y="758"/>
                </a:cubicBezTo>
                <a:cubicBezTo>
                  <a:pt x="323" y="762"/>
                  <a:pt x="326" y="764"/>
                  <a:pt x="329" y="764"/>
                </a:cubicBezTo>
                <a:cubicBezTo>
                  <a:pt x="332" y="764"/>
                  <a:pt x="335" y="762"/>
                  <a:pt x="335" y="759"/>
                </a:cubicBezTo>
                <a:cubicBezTo>
                  <a:pt x="379" y="761"/>
                  <a:pt x="379" y="761"/>
                  <a:pt x="379" y="761"/>
                </a:cubicBezTo>
                <a:cubicBezTo>
                  <a:pt x="379" y="761"/>
                  <a:pt x="379" y="762"/>
                  <a:pt x="379" y="762"/>
                </a:cubicBezTo>
                <a:cubicBezTo>
                  <a:pt x="379" y="765"/>
                  <a:pt x="381" y="768"/>
                  <a:pt x="385" y="768"/>
                </a:cubicBezTo>
                <a:cubicBezTo>
                  <a:pt x="388" y="768"/>
                  <a:pt x="390" y="765"/>
                  <a:pt x="390" y="762"/>
                </a:cubicBezTo>
                <a:cubicBezTo>
                  <a:pt x="390" y="762"/>
                  <a:pt x="390" y="761"/>
                  <a:pt x="390" y="761"/>
                </a:cubicBezTo>
                <a:cubicBezTo>
                  <a:pt x="435" y="759"/>
                  <a:pt x="435" y="759"/>
                  <a:pt x="435" y="759"/>
                </a:cubicBezTo>
                <a:cubicBezTo>
                  <a:pt x="436" y="761"/>
                  <a:pt x="438" y="763"/>
                  <a:pt x="441" y="763"/>
                </a:cubicBezTo>
                <a:cubicBezTo>
                  <a:pt x="444" y="763"/>
                  <a:pt x="447" y="761"/>
                  <a:pt x="447" y="758"/>
                </a:cubicBezTo>
                <a:cubicBezTo>
                  <a:pt x="486" y="753"/>
                  <a:pt x="486" y="753"/>
                  <a:pt x="486" y="753"/>
                </a:cubicBezTo>
                <a:cubicBezTo>
                  <a:pt x="486" y="756"/>
                  <a:pt x="489" y="758"/>
                  <a:pt x="492" y="758"/>
                </a:cubicBezTo>
                <a:cubicBezTo>
                  <a:pt x="495" y="758"/>
                  <a:pt x="497" y="756"/>
                  <a:pt x="497" y="752"/>
                </a:cubicBezTo>
                <a:cubicBezTo>
                  <a:pt x="497" y="752"/>
                  <a:pt x="497" y="751"/>
                  <a:pt x="497" y="751"/>
                </a:cubicBezTo>
                <a:cubicBezTo>
                  <a:pt x="517" y="744"/>
                  <a:pt x="517" y="744"/>
                  <a:pt x="517" y="744"/>
                </a:cubicBezTo>
                <a:cubicBezTo>
                  <a:pt x="518" y="747"/>
                  <a:pt x="520" y="748"/>
                  <a:pt x="523" y="748"/>
                </a:cubicBezTo>
                <a:cubicBezTo>
                  <a:pt x="526" y="748"/>
                  <a:pt x="529" y="746"/>
                  <a:pt x="529" y="742"/>
                </a:cubicBezTo>
                <a:cubicBezTo>
                  <a:pt x="529" y="741"/>
                  <a:pt x="528" y="740"/>
                  <a:pt x="528" y="739"/>
                </a:cubicBezTo>
                <a:cubicBezTo>
                  <a:pt x="638" y="669"/>
                  <a:pt x="638" y="669"/>
                  <a:pt x="638" y="669"/>
                </a:cubicBezTo>
                <a:cubicBezTo>
                  <a:pt x="639" y="671"/>
                  <a:pt x="641" y="672"/>
                  <a:pt x="643" y="672"/>
                </a:cubicBezTo>
                <a:cubicBezTo>
                  <a:pt x="646" y="672"/>
                  <a:pt x="649" y="669"/>
                  <a:pt x="649" y="666"/>
                </a:cubicBezTo>
                <a:cubicBezTo>
                  <a:pt x="649" y="664"/>
                  <a:pt x="648" y="662"/>
                  <a:pt x="646" y="661"/>
                </a:cubicBezTo>
                <a:cubicBezTo>
                  <a:pt x="726" y="545"/>
                  <a:pt x="726" y="545"/>
                  <a:pt x="726" y="545"/>
                </a:cubicBezTo>
                <a:cubicBezTo>
                  <a:pt x="727" y="546"/>
                  <a:pt x="728" y="546"/>
                  <a:pt x="729" y="546"/>
                </a:cubicBezTo>
                <a:cubicBezTo>
                  <a:pt x="732" y="546"/>
                  <a:pt x="735" y="543"/>
                  <a:pt x="735" y="540"/>
                </a:cubicBezTo>
                <a:cubicBezTo>
                  <a:pt x="735" y="537"/>
                  <a:pt x="733" y="535"/>
                  <a:pt x="731" y="535"/>
                </a:cubicBezTo>
                <a:cubicBezTo>
                  <a:pt x="762" y="390"/>
                  <a:pt x="762" y="390"/>
                  <a:pt x="762" y="390"/>
                </a:cubicBezTo>
                <a:cubicBezTo>
                  <a:pt x="762" y="390"/>
                  <a:pt x="762" y="390"/>
                  <a:pt x="763" y="390"/>
                </a:cubicBezTo>
                <a:cubicBezTo>
                  <a:pt x="766" y="390"/>
                  <a:pt x="769" y="387"/>
                  <a:pt x="769" y="384"/>
                </a:cubicBezTo>
                <a:cubicBezTo>
                  <a:pt x="769" y="381"/>
                  <a:pt x="766" y="378"/>
                  <a:pt x="763" y="378"/>
                </a:cubicBezTo>
                <a:close/>
                <a:moveTo>
                  <a:pt x="761" y="378"/>
                </a:moveTo>
                <a:cubicBezTo>
                  <a:pt x="759" y="379"/>
                  <a:pt x="757" y="381"/>
                  <a:pt x="757" y="383"/>
                </a:cubicBezTo>
                <a:cubicBezTo>
                  <a:pt x="703" y="383"/>
                  <a:pt x="703" y="383"/>
                  <a:pt x="703" y="383"/>
                </a:cubicBezTo>
                <a:cubicBezTo>
                  <a:pt x="703" y="379"/>
                  <a:pt x="699" y="375"/>
                  <a:pt x="695" y="375"/>
                </a:cubicBezTo>
                <a:cubicBezTo>
                  <a:pt x="695" y="375"/>
                  <a:pt x="694" y="376"/>
                  <a:pt x="694" y="376"/>
                </a:cubicBezTo>
                <a:cubicBezTo>
                  <a:pt x="690" y="349"/>
                  <a:pt x="690" y="349"/>
                  <a:pt x="690" y="349"/>
                </a:cubicBezTo>
                <a:cubicBezTo>
                  <a:pt x="670" y="226"/>
                  <a:pt x="670" y="226"/>
                  <a:pt x="670" y="226"/>
                </a:cubicBezTo>
                <a:cubicBezTo>
                  <a:pt x="673" y="226"/>
                  <a:pt x="676" y="223"/>
                  <a:pt x="676" y="220"/>
                </a:cubicBezTo>
                <a:cubicBezTo>
                  <a:pt x="680" y="220"/>
                  <a:pt x="680" y="220"/>
                  <a:pt x="680" y="220"/>
                </a:cubicBezTo>
                <a:cubicBezTo>
                  <a:pt x="725" y="227"/>
                  <a:pt x="725" y="227"/>
                  <a:pt x="725" y="227"/>
                </a:cubicBezTo>
                <a:cubicBezTo>
                  <a:pt x="724" y="228"/>
                  <a:pt x="724" y="228"/>
                  <a:pt x="724" y="228"/>
                </a:cubicBezTo>
                <a:cubicBezTo>
                  <a:pt x="724" y="232"/>
                  <a:pt x="727" y="234"/>
                  <a:pt x="730" y="234"/>
                </a:cubicBezTo>
                <a:cubicBezTo>
                  <a:pt x="730" y="234"/>
                  <a:pt x="731" y="234"/>
                  <a:pt x="731" y="234"/>
                </a:cubicBezTo>
                <a:lnTo>
                  <a:pt x="761" y="378"/>
                </a:lnTo>
                <a:close/>
                <a:moveTo>
                  <a:pt x="492" y="747"/>
                </a:moveTo>
                <a:cubicBezTo>
                  <a:pt x="488" y="747"/>
                  <a:pt x="486" y="749"/>
                  <a:pt x="486" y="752"/>
                </a:cubicBezTo>
                <a:cubicBezTo>
                  <a:pt x="447" y="757"/>
                  <a:pt x="447" y="757"/>
                  <a:pt x="447" y="757"/>
                </a:cubicBezTo>
                <a:cubicBezTo>
                  <a:pt x="446" y="755"/>
                  <a:pt x="446" y="754"/>
                  <a:pt x="445" y="753"/>
                </a:cubicBezTo>
                <a:cubicBezTo>
                  <a:pt x="494" y="695"/>
                  <a:pt x="494" y="695"/>
                  <a:pt x="494" y="695"/>
                </a:cubicBezTo>
                <a:cubicBezTo>
                  <a:pt x="495" y="696"/>
                  <a:pt x="497" y="696"/>
                  <a:pt x="499" y="696"/>
                </a:cubicBezTo>
                <a:cubicBezTo>
                  <a:pt x="504" y="696"/>
                  <a:pt x="507" y="693"/>
                  <a:pt x="507" y="688"/>
                </a:cubicBezTo>
                <a:cubicBezTo>
                  <a:pt x="507" y="688"/>
                  <a:pt x="507" y="688"/>
                  <a:pt x="507" y="688"/>
                </a:cubicBezTo>
                <a:cubicBezTo>
                  <a:pt x="584" y="680"/>
                  <a:pt x="584" y="680"/>
                  <a:pt x="584" y="680"/>
                </a:cubicBezTo>
                <a:cubicBezTo>
                  <a:pt x="586" y="680"/>
                  <a:pt x="586" y="680"/>
                  <a:pt x="586" y="680"/>
                </a:cubicBezTo>
                <a:cubicBezTo>
                  <a:pt x="586" y="681"/>
                  <a:pt x="586" y="682"/>
                  <a:pt x="587" y="683"/>
                </a:cubicBezTo>
                <a:cubicBezTo>
                  <a:pt x="496" y="748"/>
                  <a:pt x="496" y="748"/>
                  <a:pt x="496" y="748"/>
                </a:cubicBezTo>
                <a:cubicBezTo>
                  <a:pt x="495" y="747"/>
                  <a:pt x="493" y="747"/>
                  <a:pt x="492" y="747"/>
                </a:cubicBezTo>
                <a:close/>
                <a:moveTo>
                  <a:pt x="393" y="691"/>
                </a:moveTo>
                <a:cubicBezTo>
                  <a:pt x="393" y="687"/>
                  <a:pt x="389" y="683"/>
                  <a:pt x="385" y="683"/>
                </a:cubicBezTo>
                <a:cubicBezTo>
                  <a:pt x="385" y="572"/>
                  <a:pt x="385" y="572"/>
                  <a:pt x="385" y="572"/>
                </a:cubicBezTo>
                <a:cubicBezTo>
                  <a:pt x="392" y="572"/>
                  <a:pt x="397" y="567"/>
                  <a:pt x="397" y="560"/>
                </a:cubicBezTo>
                <a:cubicBezTo>
                  <a:pt x="397" y="560"/>
                  <a:pt x="397" y="560"/>
                  <a:pt x="397" y="560"/>
                </a:cubicBezTo>
                <a:cubicBezTo>
                  <a:pt x="493" y="557"/>
                  <a:pt x="493" y="557"/>
                  <a:pt x="493" y="557"/>
                </a:cubicBezTo>
                <a:cubicBezTo>
                  <a:pt x="534" y="556"/>
                  <a:pt x="534" y="556"/>
                  <a:pt x="534" y="556"/>
                </a:cubicBezTo>
                <a:cubicBezTo>
                  <a:pt x="534" y="561"/>
                  <a:pt x="537" y="565"/>
                  <a:pt x="541" y="566"/>
                </a:cubicBezTo>
                <a:cubicBezTo>
                  <a:pt x="501" y="680"/>
                  <a:pt x="501" y="680"/>
                  <a:pt x="501" y="680"/>
                </a:cubicBezTo>
                <a:cubicBezTo>
                  <a:pt x="500" y="679"/>
                  <a:pt x="500" y="679"/>
                  <a:pt x="499" y="679"/>
                </a:cubicBezTo>
                <a:cubicBezTo>
                  <a:pt x="494" y="679"/>
                  <a:pt x="490" y="683"/>
                  <a:pt x="490" y="688"/>
                </a:cubicBezTo>
                <a:cubicBezTo>
                  <a:pt x="490" y="688"/>
                  <a:pt x="490" y="688"/>
                  <a:pt x="490" y="688"/>
                </a:cubicBezTo>
                <a:cubicBezTo>
                  <a:pt x="486" y="688"/>
                  <a:pt x="486" y="688"/>
                  <a:pt x="486" y="688"/>
                </a:cubicBezTo>
                <a:lnTo>
                  <a:pt x="393" y="691"/>
                </a:lnTo>
                <a:close/>
                <a:moveTo>
                  <a:pt x="376" y="691"/>
                </a:moveTo>
                <a:cubicBezTo>
                  <a:pt x="279" y="688"/>
                  <a:pt x="279" y="688"/>
                  <a:pt x="279" y="688"/>
                </a:cubicBezTo>
                <a:cubicBezTo>
                  <a:pt x="279" y="684"/>
                  <a:pt x="275" y="680"/>
                  <a:pt x="271" y="680"/>
                </a:cubicBezTo>
                <a:cubicBezTo>
                  <a:pt x="270" y="680"/>
                  <a:pt x="269" y="680"/>
                  <a:pt x="269" y="681"/>
                </a:cubicBezTo>
                <a:cubicBezTo>
                  <a:pt x="255" y="642"/>
                  <a:pt x="255" y="642"/>
                  <a:pt x="255" y="642"/>
                </a:cubicBezTo>
                <a:cubicBezTo>
                  <a:pt x="228" y="567"/>
                  <a:pt x="228" y="567"/>
                  <a:pt x="228" y="567"/>
                </a:cubicBezTo>
                <a:cubicBezTo>
                  <a:pt x="232" y="565"/>
                  <a:pt x="236" y="561"/>
                  <a:pt x="236" y="556"/>
                </a:cubicBezTo>
                <a:cubicBezTo>
                  <a:pt x="296" y="558"/>
                  <a:pt x="296" y="558"/>
                  <a:pt x="296" y="558"/>
                </a:cubicBezTo>
                <a:cubicBezTo>
                  <a:pt x="372" y="560"/>
                  <a:pt x="372" y="560"/>
                  <a:pt x="372" y="560"/>
                </a:cubicBezTo>
                <a:cubicBezTo>
                  <a:pt x="372" y="560"/>
                  <a:pt x="372" y="560"/>
                  <a:pt x="372" y="560"/>
                </a:cubicBezTo>
                <a:cubicBezTo>
                  <a:pt x="372" y="567"/>
                  <a:pt x="377" y="572"/>
                  <a:pt x="384" y="572"/>
                </a:cubicBezTo>
                <a:cubicBezTo>
                  <a:pt x="384" y="683"/>
                  <a:pt x="384" y="683"/>
                  <a:pt x="384" y="683"/>
                </a:cubicBezTo>
                <a:cubicBezTo>
                  <a:pt x="380" y="683"/>
                  <a:pt x="376" y="686"/>
                  <a:pt x="376" y="691"/>
                </a:cubicBezTo>
                <a:close/>
                <a:moveTo>
                  <a:pt x="175" y="671"/>
                </a:moveTo>
                <a:cubicBezTo>
                  <a:pt x="174" y="671"/>
                  <a:pt x="173" y="671"/>
                  <a:pt x="172" y="672"/>
                </a:cubicBezTo>
                <a:cubicBezTo>
                  <a:pt x="106" y="556"/>
                  <a:pt x="106" y="556"/>
                  <a:pt x="106" y="556"/>
                </a:cubicBezTo>
                <a:cubicBezTo>
                  <a:pt x="108" y="555"/>
                  <a:pt x="110" y="553"/>
                  <a:pt x="110" y="550"/>
                </a:cubicBezTo>
                <a:cubicBezTo>
                  <a:pt x="160" y="553"/>
                  <a:pt x="160" y="553"/>
                  <a:pt x="160" y="553"/>
                </a:cubicBezTo>
                <a:cubicBezTo>
                  <a:pt x="211" y="555"/>
                  <a:pt x="211" y="555"/>
                  <a:pt x="211" y="555"/>
                </a:cubicBezTo>
                <a:cubicBezTo>
                  <a:pt x="211" y="562"/>
                  <a:pt x="217" y="567"/>
                  <a:pt x="224" y="567"/>
                </a:cubicBezTo>
                <a:cubicBezTo>
                  <a:pt x="225" y="567"/>
                  <a:pt x="226" y="567"/>
                  <a:pt x="227" y="567"/>
                </a:cubicBezTo>
                <a:cubicBezTo>
                  <a:pt x="268" y="681"/>
                  <a:pt x="268" y="681"/>
                  <a:pt x="268" y="681"/>
                </a:cubicBezTo>
                <a:cubicBezTo>
                  <a:pt x="265" y="682"/>
                  <a:pt x="263" y="684"/>
                  <a:pt x="262" y="687"/>
                </a:cubicBezTo>
                <a:cubicBezTo>
                  <a:pt x="193" y="680"/>
                  <a:pt x="193" y="680"/>
                  <a:pt x="193" y="680"/>
                </a:cubicBezTo>
                <a:cubicBezTo>
                  <a:pt x="184" y="679"/>
                  <a:pt x="184" y="679"/>
                  <a:pt x="184" y="679"/>
                </a:cubicBezTo>
                <a:cubicBezTo>
                  <a:pt x="184" y="679"/>
                  <a:pt x="184" y="679"/>
                  <a:pt x="184" y="679"/>
                </a:cubicBezTo>
                <a:cubicBezTo>
                  <a:pt x="184" y="675"/>
                  <a:pt x="180" y="671"/>
                  <a:pt x="175" y="671"/>
                </a:cubicBezTo>
                <a:close/>
                <a:moveTo>
                  <a:pt x="176" y="97"/>
                </a:moveTo>
                <a:cubicBezTo>
                  <a:pt x="180" y="97"/>
                  <a:pt x="184" y="93"/>
                  <a:pt x="184" y="89"/>
                </a:cubicBezTo>
                <a:cubicBezTo>
                  <a:pt x="184" y="88"/>
                  <a:pt x="184" y="88"/>
                  <a:pt x="184" y="88"/>
                </a:cubicBezTo>
                <a:cubicBezTo>
                  <a:pt x="262" y="80"/>
                  <a:pt x="262" y="80"/>
                  <a:pt x="262" y="80"/>
                </a:cubicBezTo>
                <a:cubicBezTo>
                  <a:pt x="262" y="83"/>
                  <a:pt x="264" y="86"/>
                  <a:pt x="267" y="87"/>
                </a:cubicBezTo>
                <a:cubicBezTo>
                  <a:pt x="229" y="194"/>
                  <a:pt x="229" y="194"/>
                  <a:pt x="229" y="194"/>
                </a:cubicBezTo>
                <a:cubicBezTo>
                  <a:pt x="227" y="201"/>
                  <a:pt x="227" y="201"/>
                  <a:pt x="227" y="201"/>
                </a:cubicBezTo>
                <a:cubicBezTo>
                  <a:pt x="226" y="200"/>
                  <a:pt x="224" y="200"/>
                  <a:pt x="223" y="200"/>
                </a:cubicBezTo>
                <a:cubicBezTo>
                  <a:pt x="216" y="200"/>
                  <a:pt x="210" y="205"/>
                  <a:pt x="210" y="212"/>
                </a:cubicBezTo>
                <a:cubicBezTo>
                  <a:pt x="160" y="215"/>
                  <a:pt x="160" y="215"/>
                  <a:pt x="160" y="215"/>
                </a:cubicBezTo>
                <a:cubicBezTo>
                  <a:pt x="110" y="217"/>
                  <a:pt x="110" y="217"/>
                  <a:pt x="110" y="217"/>
                </a:cubicBezTo>
                <a:cubicBezTo>
                  <a:pt x="110" y="214"/>
                  <a:pt x="109" y="211"/>
                  <a:pt x="106" y="210"/>
                </a:cubicBezTo>
                <a:cubicBezTo>
                  <a:pt x="171" y="96"/>
                  <a:pt x="171" y="96"/>
                  <a:pt x="171" y="96"/>
                </a:cubicBezTo>
                <a:cubicBezTo>
                  <a:pt x="173" y="97"/>
                  <a:pt x="174" y="97"/>
                  <a:pt x="176" y="97"/>
                </a:cubicBezTo>
                <a:close/>
                <a:moveTo>
                  <a:pt x="376" y="76"/>
                </a:moveTo>
                <a:cubicBezTo>
                  <a:pt x="377" y="80"/>
                  <a:pt x="380" y="84"/>
                  <a:pt x="384" y="84"/>
                </a:cubicBezTo>
                <a:cubicBezTo>
                  <a:pt x="384" y="196"/>
                  <a:pt x="384" y="196"/>
                  <a:pt x="384" y="196"/>
                </a:cubicBezTo>
                <a:cubicBezTo>
                  <a:pt x="377" y="196"/>
                  <a:pt x="372" y="201"/>
                  <a:pt x="372" y="208"/>
                </a:cubicBezTo>
                <a:cubicBezTo>
                  <a:pt x="276" y="210"/>
                  <a:pt x="276" y="210"/>
                  <a:pt x="276" y="210"/>
                </a:cubicBezTo>
                <a:cubicBezTo>
                  <a:pt x="235" y="211"/>
                  <a:pt x="235" y="211"/>
                  <a:pt x="235" y="211"/>
                </a:cubicBezTo>
                <a:cubicBezTo>
                  <a:pt x="235" y="207"/>
                  <a:pt x="232" y="203"/>
                  <a:pt x="228" y="201"/>
                </a:cubicBezTo>
                <a:cubicBezTo>
                  <a:pt x="268" y="88"/>
                  <a:pt x="268" y="88"/>
                  <a:pt x="268" y="88"/>
                </a:cubicBezTo>
                <a:cubicBezTo>
                  <a:pt x="269" y="88"/>
                  <a:pt x="270" y="88"/>
                  <a:pt x="270" y="88"/>
                </a:cubicBezTo>
                <a:cubicBezTo>
                  <a:pt x="275" y="88"/>
                  <a:pt x="279" y="84"/>
                  <a:pt x="279" y="79"/>
                </a:cubicBezTo>
                <a:cubicBezTo>
                  <a:pt x="279" y="79"/>
                  <a:pt x="279" y="79"/>
                  <a:pt x="279" y="79"/>
                </a:cubicBezTo>
                <a:cubicBezTo>
                  <a:pt x="283" y="79"/>
                  <a:pt x="283" y="79"/>
                  <a:pt x="283" y="79"/>
                </a:cubicBezTo>
                <a:lnTo>
                  <a:pt x="376" y="76"/>
                </a:lnTo>
                <a:close/>
                <a:moveTo>
                  <a:pt x="394" y="76"/>
                </a:moveTo>
                <a:cubicBezTo>
                  <a:pt x="490" y="79"/>
                  <a:pt x="490" y="79"/>
                  <a:pt x="490" y="79"/>
                </a:cubicBezTo>
                <a:cubicBezTo>
                  <a:pt x="490" y="83"/>
                  <a:pt x="494" y="87"/>
                  <a:pt x="499" y="87"/>
                </a:cubicBezTo>
                <a:cubicBezTo>
                  <a:pt x="499" y="87"/>
                  <a:pt x="500" y="87"/>
                  <a:pt x="501" y="87"/>
                </a:cubicBezTo>
                <a:cubicBezTo>
                  <a:pt x="514" y="125"/>
                  <a:pt x="514" y="125"/>
                  <a:pt x="514" y="125"/>
                </a:cubicBezTo>
                <a:cubicBezTo>
                  <a:pt x="541" y="201"/>
                  <a:pt x="541" y="201"/>
                  <a:pt x="541" y="201"/>
                </a:cubicBezTo>
                <a:cubicBezTo>
                  <a:pt x="537" y="202"/>
                  <a:pt x="533" y="206"/>
                  <a:pt x="533" y="211"/>
                </a:cubicBezTo>
                <a:cubicBezTo>
                  <a:pt x="473" y="210"/>
                  <a:pt x="473" y="210"/>
                  <a:pt x="473" y="210"/>
                </a:cubicBezTo>
                <a:cubicBezTo>
                  <a:pt x="397" y="208"/>
                  <a:pt x="397" y="208"/>
                  <a:pt x="397" y="208"/>
                </a:cubicBezTo>
                <a:cubicBezTo>
                  <a:pt x="396" y="201"/>
                  <a:pt x="391" y="196"/>
                  <a:pt x="385" y="196"/>
                </a:cubicBezTo>
                <a:cubicBezTo>
                  <a:pt x="385" y="84"/>
                  <a:pt x="385" y="84"/>
                  <a:pt x="385" y="84"/>
                </a:cubicBezTo>
                <a:cubicBezTo>
                  <a:pt x="390" y="84"/>
                  <a:pt x="393" y="81"/>
                  <a:pt x="394" y="76"/>
                </a:cubicBezTo>
                <a:close/>
                <a:moveTo>
                  <a:pt x="594" y="97"/>
                </a:moveTo>
                <a:cubicBezTo>
                  <a:pt x="595" y="97"/>
                  <a:pt x="597" y="97"/>
                  <a:pt x="598" y="96"/>
                </a:cubicBezTo>
                <a:cubicBezTo>
                  <a:pt x="664" y="211"/>
                  <a:pt x="664" y="211"/>
                  <a:pt x="664" y="211"/>
                </a:cubicBezTo>
                <a:cubicBezTo>
                  <a:pt x="661" y="212"/>
                  <a:pt x="660" y="214"/>
                  <a:pt x="659" y="217"/>
                </a:cubicBezTo>
                <a:cubicBezTo>
                  <a:pt x="609" y="215"/>
                  <a:pt x="609" y="215"/>
                  <a:pt x="609" y="215"/>
                </a:cubicBezTo>
                <a:cubicBezTo>
                  <a:pt x="558" y="212"/>
                  <a:pt x="558" y="212"/>
                  <a:pt x="558" y="212"/>
                </a:cubicBezTo>
                <a:cubicBezTo>
                  <a:pt x="558" y="205"/>
                  <a:pt x="552" y="200"/>
                  <a:pt x="545" y="200"/>
                </a:cubicBezTo>
                <a:cubicBezTo>
                  <a:pt x="544" y="200"/>
                  <a:pt x="543" y="200"/>
                  <a:pt x="542" y="200"/>
                </a:cubicBezTo>
                <a:cubicBezTo>
                  <a:pt x="501" y="86"/>
                  <a:pt x="501" y="86"/>
                  <a:pt x="501" y="86"/>
                </a:cubicBezTo>
                <a:cubicBezTo>
                  <a:pt x="504" y="85"/>
                  <a:pt x="506" y="83"/>
                  <a:pt x="507" y="80"/>
                </a:cubicBezTo>
                <a:cubicBezTo>
                  <a:pt x="575" y="87"/>
                  <a:pt x="575" y="87"/>
                  <a:pt x="575" y="87"/>
                </a:cubicBezTo>
                <a:cubicBezTo>
                  <a:pt x="585" y="88"/>
                  <a:pt x="585" y="88"/>
                  <a:pt x="585" y="88"/>
                </a:cubicBezTo>
                <a:cubicBezTo>
                  <a:pt x="585" y="88"/>
                  <a:pt x="585" y="88"/>
                  <a:pt x="585" y="89"/>
                </a:cubicBezTo>
                <a:cubicBezTo>
                  <a:pt x="585" y="93"/>
                  <a:pt x="589" y="97"/>
                  <a:pt x="594" y="97"/>
                </a:cubicBezTo>
                <a:close/>
                <a:moveTo>
                  <a:pt x="686" y="383"/>
                </a:moveTo>
                <a:cubicBezTo>
                  <a:pt x="575" y="383"/>
                  <a:pt x="575" y="383"/>
                  <a:pt x="575" y="383"/>
                </a:cubicBezTo>
                <a:cubicBezTo>
                  <a:pt x="574" y="377"/>
                  <a:pt x="569" y="371"/>
                  <a:pt x="562" y="371"/>
                </a:cubicBezTo>
                <a:cubicBezTo>
                  <a:pt x="562" y="371"/>
                  <a:pt x="562" y="372"/>
                  <a:pt x="561" y="372"/>
                </a:cubicBezTo>
                <a:cubicBezTo>
                  <a:pt x="547" y="225"/>
                  <a:pt x="547" y="225"/>
                  <a:pt x="547" y="225"/>
                </a:cubicBezTo>
                <a:cubicBezTo>
                  <a:pt x="553" y="224"/>
                  <a:pt x="558" y="219"/>
                  <a:pt x="558" y="213"/>
                </a:cubicBezTo>
                <a:cubicBezTo>
                  <a:pt x="659" y="218"/>
                  <a:pt x="659" y="218"/>
                  <a:pt x="659" y="218"/>
                </a:cubicBezTo>
                <a:cubicBezTo>
                  <a:pt x="659" y="218"/>
                  <a:pt x="659" y="218"/>
                  <a:pt x="659" y="218"/>
                </a:cubicBezTo>
                <a:cubicBezTo>
                  <a:pt x="659" y="223"/>
                  <a:pt x="663" y="227"/>
                  <a:pt x="668" y="227"/>
                </a:cubicBezTo>
                <a:cubicBezTo>
                  <a:pt x="668" y="227"/>
                  <a:pt x="669" y="227"/>
                  <a:pt x="669" y="227"/>
                </a:cubicBezTo>
                <a:cubicBezTo>
                  <a:pt x="693" y="376"/>
                  <a:pt x="693" y="376"/>
                  <a:pt x="693" y="376"/>
                </a:cubicBezTo>
                <a:cubicBezTo>
                  <a:pt x="690" y="376"/>
                  <a:pt x="687" y="379"/>
                  <a:pt x="686" y="383"/>
                </a:cubicBezTo>
                <a:close/>
                <a:moveTo>
                  <a:pt x="546" y="542"/>
                </a:moveTo>
                <a:cubicBezTo>
                  <a:pt x="539" y="542"/>
                  <a:pt x="534" y="548"/>
                  <a:pt x="534" y="555"/>
                </a:cubicBezTo>
                <a:cubicBezTo>
                  <a:pt x="534" y="555"/>
                  <a:pt x="534" y="555"/>
                  <a:pt x="534" y="555"/>
                </a:cubicBezTo>
                <a:cubicBezTo>
                  <a:pt x="436" y="558"/>
                  <a:pt x="436" y="558"/>
                  <a:pt x="436" y="558"/>
                </a:cubicBezTo>
                <a:cubicBezTo>
                  <a:pt x="397" y="559"/>
                  <a:pt x="397" y="559"/>
                  <a:pt x="397" y="559"/>
                </a:cubicBezTo>
                <a:cubicBezTo>
                  <a:pt x="396" y="553"/>
                  <a:pt x="391" y="548"/>
                  <a:pt x="385" y="547"/>
                </a:cubicBezTo>
                <a:cubicBezTo>
                  <a:pt x="385" y="401"/>
                  <a:pt x="385" y="401"/>
                  <a:pt x="385" y="401"/>
                </a:cubicBezTo>
                <a:cubicBezTo>
                  <a:pt x="395" y="401"/>
                  <a:pt x="402" y="394"/>
                  <a:pt x="402" y="384"/>
                </a:cubicBezTo>
                <a:cubicBezTo>
                  <a:pt x="550" y="384"/>
                  <a:pt x="550" y="384"/>
                  <a:pt x="550" y="384"/>
                </a:cubicBezTo>
                <a:cubicBezTo>
                  <a:pt x="550" y="390"/>
                  <a:pt x="554" y="395"/>
                  <a:pt x="560" y="396"/>
                </a:cubicBezTo>
                <a:cubicBezTo>
                  <a:pt x="547" y="542"/>
                  <a:pt x="547" y="542"/>
                  <a:pt x="547" y="542"/>
                </a:cubicBezTo>
                <a:cubicBezTo>
                  <a:pt x="546" y="542"/>
                  <a:pt x="546" y="542"/>
                  <a:pt x="546" y="542"/>
                </a:cubicBezTo>
                <a:close/>
                <a:moveTo>
                  <a:pt x="372" y="559"/>
                </a:moveTo>
                <a:cubicBezTo>
                  <a:pt x="240" y="555"/>
                  <a:pt x="240" y="555"/>
                  <a:pt x="240" y="555"/>
                </a:cubicBezTo>
                <a:cubicBezTo>
                  <a:pt x="236" y="555"/>
                  <a:pt x="236" y="555"/>
                  <a:pt x="236" y="555"/>
                </a:cubicBezTo>
                <a:cubicBezTo>
                  <a:pt x="236" y="555"/>
                  <a:pt x="236" y="555"/>
                  <a:pt x="236" y="555"/>
                </a:cubicBezTo>
                <a:cubicBezTo>
                  <a:pt x="236" y="548"/>
                  <a:pt x="231" y="542"/>
                  <a:pt x="224" y="542"/>
                </a:cubicBezTo>
                <a:cubicBezTo>
                  <a:pt x="223" y="542"/>
                  <a:pt x="223" y="542"/>
                  <a:pt x="223" y="542"/>
                </a:cubicBezTo>
                <a:cubicBezTo>
                  <a:pt x="209" y="396"/>
                  <a:pt x="209" y="396"/>
                  <a:pt x="209" y="396"/>
                </a:cubicBezTo>
                <a:cubicBezTo>
                  <a:pt x="215" y="395"/>
                  <a:pt x="219" y="390"/>
                  <a:pt x="219" y="384"/>
                </a:cubicBezTo>
                <a:cubicBezTo>
                  <a:pt x="368" y="384"/>
                  <a:pt x="368" y="384"/>
                  <a:pt x="368" y="384"/>
                </a:cubicBezTo>
                <a:cubicBezTo>
                  <a:pt x="368" y="393"/>
                  <a:pt x="375" y="401"/>
                  <a:pt x="384" y="401"/>
                </a:cubicBezTo>
                <a:cubicBezTo>
                  <a:pt x="384" y="547"/>
                  <a:pt x="384" y="547"/>
                  <a:pt x="384" y="547"/>
                </a:cubicBezTo>
                <a:cubicBezTo>
                  <a:pt x="378" y="547"/>
                  <a:pt x="372" y="552"/>
                  <a:pt x="372" y="559"/>
                </a:cubicBezTo>
                <a:close/>
                <a:moveTo>
                  <a:pt x="223" y="225"/>
                </a:moveTo>
                <a:cubicBezTo>
                  <a:pt x="230" y="225"/>
                  <a:pt x="235" y="219"/>
                  <a:pt x="235" y="212"/>
                </a:cubicBezTo>
                <a:cubicBezTo>
                  <a:pt x="235" y="212"/>
                  <a:pt x="235" y="212"/>
                  <a:pt x="235" y="212"/>
                </a:cubicBezTo>
                <a:cubicBezTo>
                  <a:pt x="333" y="210"/>
                  <a:pt x="333" y="210"/>
                  <a:pt x="333" y="210"/>
                </a:cubicBezTo>
                <a:cubicBezTo>
                  <a:pt x="372" y="209"/>
                  <a:pt x="372" y="209"/>
                  <a:pt x="372" y="209"/>
                </a:cubicBezTo>
                <a:cubicBezTo>
                  <a:pt x="372" y="215"/>
                  <a:pt x="377" y="221"/>
                  <a:pt x="384" y="221"/>
                </a:cubicBezTo>
                <a:cubicBezTo>
                  <a:pt x="384" y="367"/>
                  <a:pt x="384" y="367"/>
                  <a:pt x="384" y="367"/>
                </a:cubicBezTo>
                <a:cubicBezTo>
                  <a:pt x="375" y="367"/>
                  <a:pt x="368" y="374"/>
                  <a:pt x="368" y="383"/>
                </a:cubicBezTo>
                <a:cubicBezTo>
                  <a:pt x="219" y="383"/>
                  <a:pt x="219" y="383"/>
                  <a:pt x="219" y="383"/>
                </a:cubicBezTo>
                <a:cubicBezTo>
                  <a:pt x="219" y="377"/>
                  <a:pt x="215" y="372"/>
                  <a:pt x="209" y="371"/>
                </a:cubicBezTo>
                <a:cubicBezTo>
                  <a:pt x="223" y="225"/>
                  <a:pt x="223" y="225"/>
                  <a:pt x="223" y="225"/>
                </a:cubicBezTo>
                <a:cubicBezTo>
                  <a:pt x="223" y="225"/>
                  <a:pt x="223" y="225"/>
                  <a:pt x="223" y="225"/>
                </a:cubicBezTo>
                <a:close/>
                <a:moveTo>
                  <a:pt x="397" y="208"/>
                </a:moveTo>
                <a:cubicBezTo>
                  <a:pt x="529" y="212"/>
                  <a:pt x="529" y="212"/>
                  <a:pt x="529" y="212"/>
                </a:cubicBezTo>
                <a:cubicBezTo>
                  <a:pt x="533" y="212"/>
                  <a:pt x="533" y="212"/>
                  <a:pt x="533" y="212"/>
                </a:cubicBezTo>
                <a:cubicBezTo>
                  <a:pt x="533" y="212"/>
                  <a:pt x="533" y="212"/>
                  <a:pt x="533" y="212"/>
                </a:cubicBezTo>
                <a:cubicBezTo>
                  <a:pt x="533" y="219"/>
                  <a:pt x="538" y="225"/>
                  <a:pt x="545" y="225"/>
                </a:cubicBezTo>
                <a:cubicBezTo>
                  <a:pt x="546" y="225"/>
                  <a:pt x="546" y="225"/>
                  <a:pt x="547" y="225"/>
                </a:cubicBezTo>
                <a:cubicBezTo>
                  <a:pt x="560" y="372"/>
                  <a:pt x="560" y="372"/>
                  <a:pt x="560" y="372"/>
                </a:cubicBezTo>
                <a:cubicBezTo>
                  <a:pt x="555" y="373"/>
                  <a:pt x="550" y="377"/>
                  <a:pt x="550" y="383"/>
                </a:cubicBezTo>
                <a:cubicBezTo>
                  <a:pt x="402" y="383"/>
                  <a:pt x="402" y="383"/>
                  <a:pt x="402" y="383"/>
                </a:cubicBezTo>
                <a:cubicBezTo>
                  <a:pt x="402" y="374"/>
                  <a:pt x="394" y="367"/>
                  <a:pt x="385" y="367"/>
                </a:cubicBezTo>
                <a:cubicBezTo>
                  <a:pt x="385" y="221"/>
                  <a:pt x="385" y="221"/>
                  <a:pt x="385" y="221"/>
                </a:cubicBezTo>
                <a:cubicBezTo>
                  <a:pt x="391" y="220"/>
                  <a:pt x="397" y="215"/>
                  <a:pt x="397" y="208"/>
                </a:cubicBezTo>
                <a:close/>
                <a:moveTo>
                  <a:pt x="102" y="226"/>
                </a:moveTo>
                <a:cubicBezTo>
                  <a:pt x="106" y="226"/>
                  <a:pt x="110" y="222"/>
                  <a:pt x="110" y="218"/>
                </a:cubicBezTo>
                <a:cubicBezTo>
                  <a:pt x="194" y="214"/>
                  <a:pt x="194" y="214"/>
                  <a:pt x="194" y="214"/>
                </a:cubicBezTo>
                <a:cubicBezTo>
                  <a:pt x="210" y="213"/>
                  <a:pt x="210" y="213"/>
                  <a:pt x="210" y="213"/>
                </a:cubicBezTo>
                <a:cubicBezTo>
                  <a:pt x="211" y="219"/>
                  <a:pt x="216" y="224"/>
                  <a:pt x="222" y="225"/>
                </a:cubicBezTo>
                <a:cubicBezTo>
                  <a:pt x="218" y="267"/>
                  <a:pt x="218" y="267"/>
                  <a:pt x="218" y="267"/>
                </a:cubicBezTo>
                <a:cubicBezTo>
                  <a:pt x="208" y="371"/>
                  <a:pt x="208" y="371"/>
                  <a:pt x="208" y="371"/>
                </a:cubicBezTo>
                <a:cubicBezTo>
                  <a:pt x="208" y="371"/>
                  <a:pt x="207" y="371"/>
                  <a:pt x="207" y="371"/>
                </a:cubicBezTo>
                <a:cubicBezTo>
                  <a:pt x="200" y="371"/>
                  <a:pt x="194" y="376"/>
                  <a:pt x="194" y="383"/>
                </a:cubicBezTo>
                <a:cubicBezTo>
                  <a:pt x="83" y="383"/>
                  <a:pt x="83" y="383"/>
                  <a:pt x="83" y="383"/>
                </a:cubicBezTo>
                <a:cubicBezTo>
                  <a:pt x="83" y="379"/>
                  <a:pt x="80" y="375"/>
                  <a:pt x="76" y="375"/>
                </a:cubicBezTo>
                <a:cubicBezTo>
                  <a:pt x="100" y="226"/>
                  <a:pt x="100" y="226"/>
                  <a:pt x="100" y="226"/>
                </a:cubicBezTo>
                <a:cubicBezTo>
                  <a:pt x="101" y="226"/>
                  <a:pt x="101" y="226"/>
                  <a:pt x="102" y="226"/>
                </a:cubicBezTo>
                <a:close/>
                <a:moveTo>
                  <a:pt x="83" y="384"/>
                </a:moveTo>
                <a:cubicBezTo>
                  <a:pt x="194" y="384"/>
                  <a:pt x="194" y="384"/>
                  <a:pt x="194" y="384"/>
                </a:cubicBezTo>
                <a:cubicBezTo>
                  <a:pt x="195" y="391"/>
                  <a:pt x="200" y="396"/>
                  <a:pt x="207" y="396"/>
                </a:cubicBezTo>
                <a:cubicBezTo>
                  <a:pt x="207" y="396"/>
                  <a:pt x="208" y="396"/>
                  <a:pt x="208" y="396"/>
                </a:cubicBezTo>
                <a:cubicBezTo>
                  <a:pt x="222" y="542"/>
                  <a:pt x="222" y="542"/>
                  <a:pt x="222" y="542"/>
                </a:cubicBezTo>
                <a:cubicBezTo>
                  <a:pt x="216" y="543"/>
                  <a:pt x="212" y="548"/>
                  <a:pt x="211" y="554"/>
                </a:cubicBezTo>
                <a:cubicBezTo>
                  <a:pt x="110" y="549"/>
                  <a:pt x="110" y="549"/>
                  <a:pt x="110" y="549"/>
                </a:cubicBezTo>
                <a:cubicBezTo>
                  <a:pt x="110" y="549"/>
                  <a:pt x="110" y="549"/>
                  <a:pt x="110" y="549"/>
                </a:cubicBezTo>
                <a:cubicBezTo>
                  <a:pt x="110" y="544"/>
                  <a:pt x="106" y="540"/>
                  <a:pt x="102" y="540"/>
                </a:cubicBezTo>
                <a:cubicBezTo>
                  <a:pt x="101" y="540"/>
                  <a:pt x="101" y="540"/>
                  <a:pt x="100" y="541"/>
                </a:cubicBezTo>
                <a:cubicBezTo>
                  <a:pt x="76" y="392"/>
                  <a:pt x="76" y="392"/>
                  <a:pt x="76" y="392"/>
                </a:cubicBezTo>
                <a:cubicBezTo>
                  <a:pt x="80" y="391"/>
                  <a:pt x="83" y="388"/>
                  <a:pt x="83" y="384"/>
                </a:cubicBezTo>
                <a:close/>
                <a:moveTo>
                  <a:pt x="594" y="671"/>
                </a:moveTo>
                <a:cubicBezTo>
                  <a:pt x="589" y="671"/>
                  <a:pt x="586" y="675"/>
                  <a:pt x="586" y="679"/>
                </a:cubicBezTo>
                <a:cubicBezTo>
                  <a:pt x="586" y="679"/>
                  <a:pt x="586" y="679"/>
                  <a:pt x="586" y="679"/>
                </a:cubicBezTo>
                <a:cubicBezTo>
                  <a:pt x="507" y="687"/>
                  <a:pt x="507" y="687"/>
                  <a:pt x="507" y="687"/>
                </a:cubicBezTo>
                <a:cubicBezTo>
                  <a:pt x="507" y="684"/>
                  <a:pt x="505" y="681"/>
                  <a:pt x="502" y="680"/>
                </a:cubicBezTo>
                <a:cubicBezTo>
                  <a:pt x="540" y="574"/>
                  <a:pt x="540" y="574"/>
                  <a:pt x="540" y="574"/>
                </a:cubicBezTo>
                <a:cubicBezTo>
                  <a:pt x="542" y="567"/>
                  <a:pt x="542" y="567"/>
                  <a:pt x="542" y="567"/>
                </a:cubicBezTo>
                <a:cubicBezTo>
                  <a:pt x="543" y="567"/>
                  <a:pt x="545" y="567"/>
                  <a:pt x="546" y="567"/>
                </a:cubicBezTo>
                <a:cubicBezTo>
                  <a:pt x="553" y="567"/>
                  <a:pt x="559" y="562"/>
                  <a:pt x="559" y="555"/>
                </a:cubicBezTo>
                <a:cubicBezTo>
                  <a:pt x="609" y="553"/>
                  <a:pt x="609" y="553"/>
                  <a:pt x="609" y="553"/>
                </a:cubicBezTo>
                <a:cubicBezTo>
                  <a:pt x="659" y="550"/>
                  <a:pt x="659" y="550"/>
                  <a:pt x="659" y="550"/>
                </a:cubicBezTo>
                <a:cubicBezTo>
                  <a:pt x="660" y="553"/>
                  <a:pt x="661" y="555"/>
                  <a:pt x="664" y="556"/>
                </a:cubicBezTo>
                <a:cubicBezTo>
                  <a:pt x="598" y="671"/>
                  <a:pt x="598" y="671"/>
                  <a:pt x="598" y="671"/>
                </a:cubicBezTo>
                <a:cubicBezTo>
                  <a:pt x="597" y="671"/>
                  <a:pt x="595" y="671"/>
                  <a:pt x="594" y="671"/>
                </a:cubicBezTo>
                <a:close/>
                <a:moveTo>
                  <a:pt x="668" y="540"/>
                </a:moveTo>
                <a:cubicBezTo>
                  <a:pt x="663" y="540"/>
                  <a:pt x="659" y="544"/>
                  <a:pt x="659" y="549"/>
                </a:cubicBezTo>
                <a:cubicBezTo>
                  <a:pt x="659" y="549"/>
                  <a:pt x="659" y="549"/>
                  <a:pt x="659" y="549"/>
                </a:cubicBezTo>
                <a:cubicBezTo>
                  <a:pt x="575" y="553"/>
                  <a:pt x="575" y="553"/>
                  <a:pt x="575" y="553"/>
                </a:cubicBezTo>
                <a:cubicBezTo>
                  <a:pt x="559" y="554"/>
                  <a:pt x="559" y="554"/>
                  <a:pt x="559" y="554"/>
                </a:cubicBezTo>
                <a:cubicBezTo>
                  <a:pt x="558" y="548"/>
                  <a:pt x="554" y="543"/>
                  <a:pt x="547" y="542"/>
                </a:cubicBezTo>
                <a:cubicBezTo>
                  <a:pt x="551" y="500"/>
                  <a:pt x="551" y="500"/>
                  <a:pt x="551" y="500"/>
                </a:cubicBezTo>
                <a:cubicBezTo>
                  <a:pt x="561" y="396"/>
                  <a:pt x="561" y="396"/>
                  <a:pt x="561" y="396"/>
                </a:cubicBezTo>
                <a:cubicBezTo>
                  <a:pt x="562" y="396"/>
                  <a:pt x="562" y="397"/>
                  <a:pt x="562" y="397"/>
                </a:cubicBezTo>
                <a:cubicBezTo>
                  <a:pt x="569" y="397"/>
                  <a:pt x="575" y="391"/>
                  <a:pt x="575" y="384"/>
                </a:cubicBezTo>
                <a:cubicBezTo>
                  <a:pt x="686" y="384"/>
                  <a:pt x="686" y="384"/>
                  <a:pt x="686" y="384"/>
                </a:cubicBezTo>
                <a:cubicBezTo>
                  <a:pt x="686" y="388"/>
                  <a:pt x="689" y="392"/>
                  <a:pt x="693" y="392"/>
                </a:cubicBezTo>
                <a:cubicBezTo>
                  <a:pt x="669" y="541"/>
                  <a:pt x="669" y="541"/>
                  <a:pt x="669" y="541"/>
                </a:cubicBezTo>
                <a:cubicBezTo>
                  <a:pt x="669" y="540"/>
                  <a:pt x="668" y="540"/>
                  <a:pt x="668" y="540"/>
                </a:cubicBezTo>
                <a:close/>
                <a:moveTo>
                  <a:pt x="727" y="224"/>
                </a:moveTo>
                <a:cubicBezTo>
                  <a:pt x="726" y="225"/>
                  <a:pt x="725" y="226"/>
                  <a:pt x="725" y="227"/>
                </a:cubicBezTo>
                <a:cubicBezTo>
                  <a:pt x="690" y="221"/>
                  <a:pt x="690" y="221"/>
                  <a:pt x="690" y="221"/>
                </a:cubicBezTo>
                <a:cubicBezTo>
                  <a:pt x="676" y="219"/>
                  <a:pt x="676" y="219"/>
                  <a:pt x="676" y="219"/>
                </a:cubicBezTo>
                <a:cubicBezTo>
                  <a:pt x="676" y="219"/>
                  <a:pt x="676" y="218"/>
                  <a:pt x="676" y="218"/>
                </a:cubicBezTo>
                <a:cubicBezTo>
                  <a:pt x="676" y="213"/>
                  <a:pt x="672" y="210"/>
                  <a:pt x="668" y="210"/>
                </a:cubicBezTo>
                <a:cubicBezTo>
                  <a:pt x="666" y="210"/>
                  <a:pt x="665" y="210"/>
                  <a:pt x="664" y="210"/>
                </a:cubicBezTo>
                <a:cubicBezTo>
                  <a:pt x="633" y="155"/>
                  <a:pt x="633" y="155"/>
                  <a:pt x="633" y="155"/>
                </a:cubicBezTo>
                <a:cubicBezTo>
                  <a:pt x="599" y="96"/>
                  <a:pt x="599" y="96"/>
                  <a:pt x="599" y="96"/>
                </a:cubicBezTo>
                <a:cubicBezTo>
                  <a:pt x="600" y="95"/>
                  <a:pt x="601" y="93"/>
                  <a:pt x="602" y="91"/>
                </a:cubicBezTo>
                <a:cubicBezTo>
                  <a:pt x="637" y="101"/>
                  <a:pt x="637" y="101"/>
                  <a:pt x="637" y="101"/>
                </a:cubicBezTo>
                <a:cubicBezTo>
                  <a:pt x="637" y="101"/>
                  <a:pt x="637" y="101"/>
                  <a:pt x="637" y="101"/>
                </a:cubicBezTo>
                <a:cubicBezTo>
                  <a:pt x="637" y="105"/>
                  <a:pt x="640" y="107"/>
                  <a:pt x="643" y="107"/>
                </a:cubicBezTo>
                <a:cubicBezTo>
                  <a:pt x="644" y="107"/>
                  <a:pt x="645" y="107"/>
                  <a:pt x="645" y="107"/>
                </a:cubicBezTo>
                <a:lnTo>
                  <a:pt x="727" y="224"/>
                </a:lnTo>
                <a:close/>
                <a:moveTo>
                  <a:pt x="517" y="24"/>
                </a:moveTo>
                <a:cubicBezTo>
                  <a:pt x="517" y="24"/>
                  <a:pt x="517" y="25"/>
                  <a:pt x="517" y="25"/>
                </a:cubicBezTo>
                <a:cubicBezTo>
                  <a:pt x="517" y="28"/>
                  <a:pt x="520" y="31"/>
                  <a:pt x="523" y="31"/>
                </a:cubicBezTo>
                <a:cubicBezTo>
                  <a:pt x="525" y="31"/>
                  <a:pt x="526" y="30"/>
                  <a:pt x="527" y="29"/>
                </a:cubicBezTo>
                <a:cubicBezTo>
                  <a:pt x="638" y="99"/>
                  <a:pt x="638" y="99"/>
                  <a:pt x="638" y="99"/>
                </a:cubicBezTo>
                <a:cubicBezTo>
                  <a:pt x="637" y="99"/>
                  <a:pt x="637" y="100"/>
                  <a:pt x="637" y="100"/>
                </a:cubicBezTo>
                <a:cubicBezTo>
                  <a:pt x="602" y="90"/>
                  <a:pt x="602" y="90"/>
                  <a:pt x="602" y="90"/>
                </a:cubicBezTo>
                <a:cubicBezTo>
                  <a:pt x="602" y="90"/>
                  <a:pt x="602" y="89"/>
                  <a:pt x="602" y="89"/>
                </a:cubicBezTo>
                <a:cubicBezTo>
                  <a:pt x="602" y="84"/>
                  <a:pt x="598" y="80"/>
                  <a:pt x="594" y="80"/>
                </a:cubicBezTo>
                <a:cubicBezTo>
                  <a:pt x="591" y="80"/>
                  <a:pt x="589" y="81"/>
                  <a:pt x="587" y="83"/>
                </a:cubicBezTo>
                <a:cubicBezTo>
                  <a:pt x="496" y="18"/>
                  <a:pt x="496" y="18"/>
                  <a:pt x="496" y="18"/>
                </a:cubicBezTo>
                <a:cubicBezTo>
                  <a:pt x="497" y="18"/>
                  <a:pt x="497" y="18"/>
                  <a:pt x="497" y="17"/>
                </a:cubicBezTo>
                <a:lnTo>
                  <a:pt x="517" y="24"/>
                </a:lnTo>
                <a:close/>
                <a:moveTo>
                  <a:pt x="486" y="15"/>
                </a:moveTo>
                <a:cubicBezTo>
                  <a:pt x="486" y="18"/>
                  <a:pt x="488" y="21"/>
                  <a:pt x="492" y="21"/>
                </a:cubicBezTo>
                <a:cubicBezTo>
                  <a:pt x="493" y="21"/>
                  <a:pt x="495" y="20"/>
                  <a:pt x="496" y="19"/>
                </a:cubicBezTo>
                <a:cubicBezTo>
                  <a:pt x="536" y="47"/>
                  <a:pt x="536" y="47"/>
                  <a:pt x="536" y="47"/>
                </a:cubicBezTo>
                <a:cubicBezTo>
                  <a:pt x="587" y="84"/>
                  <a:pt x="587" y="84"/>
                  <a:pt x="587" y="84"/>
                </a:cubicBezTo>
                <a:cubicBezTo>
                  <a:pt x="586" y="85"/>
                  <a:pt x="586" y="86"/>
                  <a:pt x="585" y="87"/>
                </a:cubicBezTo>
                <a:cubicBezTo>
                  <a:pt x="576" y="86"/>
                  <a:pt x="576" y="86"/>
                  <a:pt x="576" y="86"/>
                </a:cubicBezTo>
                <a:cubicBezTo>
                  <a:pt x="507" y="79"/>
                  <a:pt x="507" y="79"/>
                  <a:pt x="507" y="79"/>
                </a:cubicBezTo>
                <a:cubicBezTo>
                  <a:pt x="507" y="79"/>
                  <a:pt x="507" y="79"/>
                  <a:pt x="507" y="78"/>
                </a:cubicBezTo>
                <a:cubicBezTo>
                  <a:pt x="507" y="74"/>
                  <a:pt x="503" y="70"/>
                  <a:pt x="499" y="70"/>
                </a:cubicBezTo>
                <a:cubicBezTo>
                  <a:pt x="496" y="70"/>
                  <a:pt x="495" y="71"/>
                  <a:pt x="493" y="72"/>
                </a:cubicBezTo>
                <a:cubicBezTo>
                  <a:pt x="444" y="13"/>
                  <a:pt x="444" y="13"/>
                  <a:pt x="444" y="13"/>
                </a:cubicBezTo>
                <a:cubicBezTo>
                  <a:pt x="445" y="13"/>
                  <a:pt x="445" y="12"/>
                  <a:pt x="446" y="10"/>
                </a:cubicBezTo>
                <a:lnTo>
                  <a:pt x="486" y="15"/>
                </a:lnTo>
                <a:close/>
                <a:moveTo>
                  <a:pt x="434" y="9"/>
                </a:moveTo>
                <a:cubicBezTo>
                  <a:pt x="434" y="12"/>
                  <a:pt x="437" y="15"/>
                  <a:pt x="440" y="15"/>
                </a:cubicBezTo>
                <a:cubicBezTo>
                  <a:pt x="441" y="15"/>
                  <a:pt x="442" y="14"/>
                  <a:pt x="443" y="14"/>
                </a:cubicBezTo>
                <a:cubicBezTo>
                  <a:pt x="472" y="48"/>
                  <a:pt x="472" y="48"/>
                  <a:pt x="472" y="48"/>
                </a:cubicBezTo>
                <a:cubicBezTo>
                  <a:pt x="492" y="73"/>
                  <a:pt x="492" y="73"/>
                  <a:pt x="492" y="73"/>
                </a:cubicBezTo>
                <a:cubicBezTo>
                  <a:pt x="491" y="74"/>
                  <a:pt x="490" y="76"/>
                  <a:pt x="490" y="78"/>
                </a:cubicBezTo>
                <a:cubicBezTo>
                  <a:pt x="393" y="75"/>
                  <a:pt x="393" y="75"/>
                  <a:pt x="393" y="75"/>
                </a:cubicBezTo>
                <a:cubicBezTo>
                  <a:pt x="393" y="71"/>
                  <a:pt x="390" y="67"/>
                  <a:pt x="385" y="67"/>
                </a:cubicBezTo>
                <a:cubicBezTo>
                  <a:pt x="385" y="11"/>
                  <a:pt x="385" y="11"/>
                  <a:pt x="385" y="11"/>
                </a:cubicBezTo>
                <a:cubicBezTo>
                  <a:pt x="387" y="11"/>
                  <a:pt x="389" y="9"/>
                  <a:pt x="390" y="7"/>
                </a:cubicBezTo>
                <a:lnTo>
                  <a:pt x="434" y="9"/>
                </a:lnTo>
                <a:close/>
                <a:moveTo>
                  <a:pt x="384" y="11"/>
                </a:moveTo>
                <a:cubicBezTo>
                  <a:pt x="384" y="67"/>
                  <a:pt x="384" y="67"/>
                  <a:pt x="384" y="67"/>
                </a:cubicBezTo>
                <a:cubicBezTo>
                  <a:pt x="380" y="68"/>
                  <a:pt x="377" y="71"/>
                  <a:pt x="377" y="75"/>
                </a:cubicBezTo>
                <a:cubicBezTo>
                  <a:pt x="279" y="78"/>
                  <a:pt x="279" y="78"/>
                  <a:pt x="279" y="78"/>
                </a:cubicBezTo>
                <a:cubicBezTo>
                  <a:pt x="278" y="76"/>
                  <a:pt x="278" y="74"/>
                  <a:pt x="276" y="73"/>
                </a:cubicBezTo>
                <a:cubicBezTo>
                  <a:pt x="326" y="14"/>
                  <a:pt x="326" y="14"/>
                  <a:pt x="326" y="14"/>
                </a:cubicBezTo>
                <a:cubicBezTo>
                  <a:pt x="327" y="15"/>
                  <a:pt x="328" y="15"/>
                  <a:pt x="329" y="15"/>
                </a:cubicBezTo>
                <a:cubicBezTo>
                  <a:pt x="332" y="15"/>
                  <a:pt x="334" y="12"/>
                  <a:pt x="335" y="9"/>
                </a:cubicBezTo>
                <a:cubicBezTo>
                  <a:pt x="378" y="7"/>
                  <a:pt x="378" y="7"/>
                  <a:pt x="378" y="7"/>
                </a:cubicBezTo>
                <a:cubicBezTo>
                  <a:pt x="379" y="9"/>
                  <a:pt x="381" y="11"/>
                  <a:pt x="384" y="11"/>
                </a:cubicBezTo>
                <a:close/>
                <a:moveTo>
                  <a:pt x="325" y="14"/>
                </a:moveTo>
                <a:cubicBezTo>
                  <a:pt x="276" y="73"/>
                  <a:pt x="276" y="73"/>
                  <a:pt x="276" y="73"/>
                </a:cubicBezTo>
                <a:cubicBezTo>
                  <a:pt x="274" y="71"/>
                  <a:pt x="272" y="71"/>
                  <a:pt x="270" y="71"/>
                </a:cubicBezTo>
                <a:cubicBezTo>
                  <a:pt x="266" y="71"/>
                  <a:pt x="262" y="75"/>
                  <a:pt x="262" y="79"/>
                </a:cubicBezTo>
                <a:cubicBezTo>
                  <a:pt x="262" y="79"/>
                  <a:pt x="262" y="79"/>
                  <a:pt x="262" y="79"/>
                </a:cubicBezTo>
                <a:cubicBezTo>
                  <a:pt x="186" y="87"/>
                  <a:pt x="186" y="87"/>
                  <a:pt x="186" y="87"/>
                </a:cubicBezTo>
                <a:cubicBezTo>
                  <a:pt x="184" y="87"/>
                  <a:pt x="184" y="87"/>
                  <a:pt x="184" y="87"/>
                </a:cubicBezTo>
                <a:cubicBezTo>
                  <a:pt x="184" y="86"/>
                  <a:pt x="183" y="85"/>
                  <a:pt x="182" y="84"/>
                </a:cubicBezTo>
                <a:cubicBezTo>
                  <a:pt x="273" y="19"/>
                  <a:pt x="273" y="19"/>
                  <a:pt x="273" y="19"/>
                </a:cubicBezTo>
                <a:cubicBezTo>
                  <a:pt x="274" y="20"/>
                  <a:pt x="276" y="21"/>
                  <a:pt x="278" y="21"/>
                </a:cubicBezTo>
                <a:cubicBezTo>
                  <a:pt x="281" y="21"/>
                  <a:pt x="283" y="18"/>
                  <a:pt x="283" y="15"/>
                </a:cubicBezTo>
                <a:cubicBezTo>
                  <a:pt x="323" y="10"/>
                  <a:pt x="323" y="10"/>
                  <a:pt x="323" y="10"/>
                </a:cubicBezTo>
                <a:cubicBezTo>
                  <a:pt x="323" y="12"/>
                  <a:pt x="324" y="13"/>
                  <a:pt x="325" y="14"/>
                </a:cubicBezTo>
                <a:close/>
                <a:moveTo>
                  <a:pt x="242" y="29"/>
                </a:moveTo>
                <a:cubicBezTo>
                  <a:pt x="243" y="30"/>
                  <a:pt x="245" y="31"/>
                  <a:pt x="246" y="31"/>
                </a:cubicBezTo>
                <a:cubicBezTo>
                  <a:pt x="250" y="31"/>
                  <a:pt x="252" y="28"/>
                  <a:pt x="252" y="25"/>
                </a:cubicBezTo>
                <a:cubicBezTo>
                  <a:pt x="252" y="24"/>
                  <a:pt x="252" y="24"/>
                  <a:pt x="252" y="24"/>
                </a:cubicBezTo>
                <a:cubicBezTo>
                  <a:pt x="272" y="17"/>
                  <a:pt x="272" y="17"/>
                  <a:pt x="272" y="17"/>
                </a:cubicBezTo>
                <a:cubicBezTo>
                  <a:pt x="272" y="18"/>
                  <a:pt x="273" y="18"/>
                  <a:pt x="273" y="18"/>
                </a:cubicBezTo>
                <a:cubicBezTo>
                  <a:pt x="182" y="83"/>
                  <a:pt x="182" y="83"/>
                  <a:pt x="182" y="83"/>
                </a:cubicBezTo>
                <a:cubicBezTo>
                  <a:pt x="180" y="81"/>
                  <a:pt x="178" y="80"/>
                  <a:pt x="176" y="80"/>
                </a:cubicBezTo>
                <a:cubicBezTo>
                  <a:pt x="171" y="80"/>
                  <a:pt x="167" y="84"/>
                  <a:pt x="167" y="89"/>
                </a:cubicBezTo>
                <a:cubicBezTo>
                  <a:pt x="167" y="89"/>
                  <a:pt x="167" y="90"/>
                  <a:pt x="167" y="90"/>
                </a:cubicBezTo>
                <a:cubicBezTo>
                  <a:pt x="132" y="100"/>
                  <a:pt x="132" y="100"/>
                  <a:pt x="132" y="100"/>
                </a:cubicBezTo>
                <a:cubicBezTo>
                  <a:pt x="132" y="100"/>
                  <a:pt x="132" y="99"/>
                  <a:pt x="132" y="99"/>
                </a:cubicBezTo>
                <a:lnTo>
                  <a:pt x="242" y="29"/>
                </a:lnTo>
                <a:close/>
                <a:moveTo>
                  <a:pt x="124" y="107"/>
                </a:moveTo>
                <a:cubicBezTo>
                  <a:pt x="124" y="107"/>
                  <a:pt x="125" y="107"/>
                  <a:pt x="126" y="107"/>
                </a:cubicBezTo>
                <a:cubicBezTo>
                  <a:pt x="130" y="107"/>
                  <a:pt x="132" y="105"/>
                  <a:pt x="132" y="101"/>
                </a:cubicBezTo>
                <a:cubicBezTo>
                  <a:pt x="132" y="101"/>
                  <a:pt x="132" y="101"/>
                  <a:pt x="132" y="101"/>
                </a:cubicBezTo>
                <a:cubicBezTo>
                  <a:pt x="167" y="91"/>
                  <a:pt x="167" y="91"/>
                  <a:pt x="167" y="91"/>
                </a:cubicBezTo>
                <a:cubicBezTo>
                  <a:pt x="168" y="93"/>
                  <a:pt x="169" y="95"/>
                  <a:pt x="171" y="96"/>
                </a:cubicBezTo>
                <a:cubicBezTo>
                  <a:pt x="154" y="125"/>
                  <a:pt x="154" y="125"/>
                  <a:pt x="154" y="125"/>
                </a:cubicBezTo>
                <a:cubicBezTo>
                  <a:pt x="105" y="210"/>
                  <a:pt x="105" y="210"/>
                  <a:pt x="105" y="210"/>
                </a:cubicBezTo>
                <a:cubicBezTo>
                  <a:pt x="104" y="209"/>
                  <a:pt x="103" y="209"/>
                  <a:pt x="102" y="209"/>
                </a:cubicBezTo>
                <a:cubicBezTo>
                  <a:pt x="97" y="209"/>
                  <a:pt x="93" y="213"/>
                  <a:pt x="93" y="217"/>
                </a:cubicBezTo>
                <a:cubicBezTo>
                  <a:pt x="93" y="218"/>
                  <a:pt x="93" y="218"/>
                  <a:pt x="93" y="219"/>
                </a:cubicBezTo>
                <a:cubicBezTo>
                  <a:pt x="45" y="227"/>
                  <a:pt x="45" y="227"/>
                  <a:pt x="45" y="227"/>
                </a:cubicBezTo>
                <a:cubicBezTo>
                  <a:pt x="45" y="225"/>
                  <a:pt x="44" y="224"/>
                  <a:pt x="43" y="223"/>
                </a:cubicBezTo>
                <a:lnTo>
                  <a:pt x="124" y="107"/>
                </a:lnTo>
                <a:close/>
                <a:moveTo>
                  <a:pt x="39" y="234"/>
                </a:moveTo>
                <a:cubicBezTo>
                  <a:pt x="39" y="234"/>
                  <a:pt x="39" y="234"/>
                  <a:pt x="39" y="234"/>
                </a:cubicBezTo>
                <a:cubicBezTo>
                  <a:pt x="42" y="234"/>
                  <a:pt x="45" y="231"/>
                  <a:pt x="45" y="228"/>
                </a:cubicBezTo>
                <a:cubicBezTo>
                  <a:pt x="45" y="228"/>
                  <a:pt x="45" y="227"/>
                  <a:pt x="45" y="227"/>
                </a:cubicBezTo>
                <a:cubicBezTo>
                  <a:pt x="94" y="219"/>
                  <a:pt x="94" y="219"/>
                  <a:pt x="94" y="219"/>
                </a:cubicBezTo>
                <a:cubicBezTo>
                  <a:pt x="94" y="222"/>
                  <a:pt x="97" y="225"/>
                  <a:pt x="99" y="226"/>
                </a:cubicBezTo>
                <a:cubicBezTo>
                  <a:pt x="88" y="295"/>
                  <a:pt x="88" y="295"/>
                  <a:pt x="88" y="295"/>
                </a:cubicBezTo>
                <a:cubicBezTo>
                  <a:pt x="75" y="375"/>
                  <a:pt x="75" y="375"/>
                  <a:pt x="75" y="375"/>
                </a:cubicBezTo>
                <a:cubicBezTo>
                  <a:pt x="75" y="375"/>
                  <a:pt x="75" y="375"/>
                  <a:pt x="74" y="375"/>
                </a:cubicBezTo>
                <a:cubicBezTo>
                  <a:pt x="70" y="375"/>
                  <a:pt x="66" y="378"/>
                  <a:pt x="66" y="383"/>
                </a:cubicBezTo>
                <a:cubicBezTo>
                  <a:pt x="12" y="383"/>
                  <a:pt x="12" y="383"/>
                  <a:pt x="12" y="383"/>
                </a:cubicBezTo>
                <a:cubicBezTo>
                  <a:pt x="12" y="381"/>
                  <a:pt x="10" y="379"/>
                  <a:pt x="8" y="378"/>
                </a:cubicBezTo>
                <a:lnTo>
                  <a:pt x="39" y="234"/>
                </a:lnTo>
                <a:close/>
                <a:moveTo>
                  <a:pt x="8" y="390"/>
                </a:moveTo>
                <a:cubicBezTo>
                  <a:pt x="11" y="389"/>
                  <a:pt x="12" y="387"/>
                  <a:pt x="12" y="384"/>
                </a:cubicBezTo>
                <a:cubicBezTo>
                  <a:pt x="66" y="384"/>
                  <a:pt x="66" y="384"/>
                  <a:pt x="66" y="384"/>
                </a:cubicBezTo>
                <a:cubicBezTo>
                  <a:pt x="66" y="388"/>
                  <a:pt x="70" y="392"/>
                  <a:pt x="74" y="392"/>
                </a:cubicBezTo>
                <a:cubicBezTo>
                  <a:pt x="75" y="392"/>
                  <a:pt x="75" y="392"/>
                  <a:pt x="75" y="392"/>
                </a:cubicBezTo>
                <a:cubicBezTo>
                  <a:pt x="79" y="419"/>
                  <a:pt x="79" y="419"/>
                  <a:pt x="79" y="419"/>
                </a:cubicBezTo>
                <a:cubicBezTo>
                  <a:pt x="99" y="541"/>
                  <a:pt x="99" y="541"/>
                  <a:pt x="99" y="541"/>
                </a:cubicBezTo>
                <a:cubicBezTo>
                  <a:pt x="96" y="542"/>
                  <a:pt x="94" y="544"/>
                  <a:pt x="93" y="548"/>
                </a:cubicBezTo>
                <a:cubicBezTo>
                  <a:pt x="90" y="547"/>
                  <a:pt x="90" y="547"/>
                  <a:pt x="90" y="547"/>
                </a:cubicBezTo>
                <a:cubicBezTo>
                  <a:pt x="45" y="540"/>
                  <a:pt x="45" y="540"/>
                  <a:pt x="45" y="540"/>
                </a:cubicBezTo>
                <a:cubicBezTo>
                  <a:pt x="45" y="540"/>
                  <a:pt x="45" y="540"/>
                  <a:pt x="45" y="539"/>
                </a:cubicBezTo>
                <a:cubicBezTo>
                  <a:pt x="45" y="536"/>
                  <a:pt x="42" y="534"/>
                  <a:pt x="39" y="534"/>
                </a:cubicBezTo>
                <a:cubicBezTo>
                  <a:pt x="39" y="534"/>
                  <a:pt x="39" y="534"/>
                  <a:pt x="39" y="534"/>
                </a:cubicBezTo>
                <a:lnTo>
                  <a:pt x="8" y="390"/>
                </a:lnTo>
                <a:close/>
                <a:moveTo>
                  <a:pt x="43" y="544"/>
                </a:moveTo>
                <a:cubicBezTo>
                  <a:pt x="44" y="543"/>
                  <a:pt x="45" y="542"/>
                  <a:pt x="45" y="541"/>
                </a:cubicBezTo>
                <a:cubicBezTo>
                  <a:pt x="79" y="546"/>
                  <a:pt x="79" y="546"/>
                  <a:pt x="79" y="546"/>
                </a:cubicBezTo>
                <a:cubicBezTo>
                  <a:pt x="93" y="548"/>
                  <a:pt x="93" y="548"/>
                  <a:pt x="93" y="548"/>
                </a:cubicBezTo>
                <a:cubicBezTo>
                  <a:pt x="93" y="549"/>
                  <a:pt x="93" y="549"/>
                  <a:pt x="93" y="549"/>
                </a:cubicBezTo>
                <a:cubicBezTo>
                  <a:pt x="93" y="554"/>
                  <a:pt x="97" y="558"/>
                  <a:pt x="102" y="558"/>
                </a:cubicBezTo>
                <a:cubicBezTo>
                  <a:pt x="103" y="558"/>
                  <a:pt x="104" y="557"/>
                  <a:pt x="105" y="557"/>
                </a:cubicBezTo>
                <a:cubicBezTo>
                  <a:pt x="137" y="612"/>
                  <a:pt x="137" y="612"/>
                  <a:pt x="137" y="612"/>
                </a:cubicBezTo>
                <a:cubicBezTo>
                  <a:pt x="171" y="672"/>
                  <a:pt x="171" y="672"/>
                  <a:pt x="171" y="672"/>
                </a:cubicBezTo>
                <a:cubicBezTo>
                  <a:pt x="169" y="673"/>
                  <a:pt x="168" y="674"/>
                  <a:pt x="167" y="676"/>
                </a:cubicBezTo>
                <a:cubicBezTo>
                  <a:pt x="132" y="667"/>
                  <a:pt x="132" y="667"/>
                  <a:pt x="132" y="667"/>
                </a:cubicBezTo>
                <a:cubicBezTo>
                  <a:pt x="132" y="666"/>
                  <a:pt x="132" y="666"/>
                  <a:pt x="132" y="666"/>
                </a:cubicBezTo>
                <a:cubicBezTo>
                  <a:pt x="132" y="663"/>
                  <a:pt x="130" y="660"/>
                  <a:pt x="126" y="660"/>
                </a:cubicBezTo>
                <a:cubicBezTo>
                  <a:pt x="125" y="660"/>
                  <a:pt x="125" y="660"/>
                  <a:pt x="124" y="661"/>
                </a:cubicBezTo>
                <a:lnTo>
                  <a:pt x="43" y="544"/>
                </a:lnTo>
                <a:close/>
                <a:moveTo>
                  <a:pt x="252" y="743"/>
                </a:moveTo>
                <a:cubicBezTo>
                  <a:pt x="252" y="743"/>
                  <a:pt x="252" y="743"/>
                  <a:pt x="252" y="742"/>
                </a:cubicBezTo>
                <a:cubicBezTo>
                  <a:pt x="252" y="739"/>
                  <a:pt x="250" y="736"/>
                  <a:pt x="246" y="736"/>
                </a:cubicBezTo>
                <a:cubicBezTo>
                  <a:pt x="245" y="736"/>
                  <a:pt x="243" y="737"/>
                  <a:pt x="242" y="738"/>
                </a:cubicBezTo>
                <a:cubicBezTo>
                  <a:pt x="132" y="668"/>
                  <a:pt x="132" y="668"/>
                  <a:pt x="132" y="668"/>
                </a:cubicBezTo>
                <a:cubicBezTo>
                  <a:pt x="132" y="668"/>
                  <a:pt x="132" y="668"/>
                  <a:pt x="132" y="667"/>
                </a:cubicBezTo>
                <a:cubicBezTo>
                  <a:pt x="148" y="672"/>
                  <a:pt x="148" y="672"/>
                  <a:pt x="148" y="672"/>
                </a:cubicBezTo>
                <a:cubicBezTo>
                  <a:pt x="167" y="677"/>
                  <a:pt x="167" y="677"/>
                  <a:pt x="167" y="677"/>
                </a:cubicBezTo>
                <a:cubicBezTo>
                  <a:pt x="167" y="678"/>
                  <a:pt x="167" y="678"/>
                  <a:pt x="167" y="679"/>
                </a:cubicBezTo>
                <a:cubicBezTo>
                  <a:pt x="167" y="684"/>
                  <a:pt x="170" y="688"/>
                  <a:pt x="175" y="688"/>
                </a:cubicBezTo>
                <a:cubicBezTo>
                  <a:pt x="178" y="688"/>
                  <a:pt x="180" y="686"/>
                  <a:pt x="182" y="684"/>
                </a:cubicBezTo>
                <a:cubicBezTo>
                  <a:pt x="273" y="749"/>
                  <a:pt x="273" y="749"/>
                  <a:pt x="273" y="749"/>
                </a:cubicBezTo>
                <a:cubicBezTo>
                  <a:pt x="272" y="749"/>
                  <a:pt x="272" y="750"/>
                  <a:pt x="272" y="750"/>
                </a:cubicBezTo>
                <a:lnTo>
                  <a:pt x="252" y="743"/>
                </a:lnTo>
                <a:close/>
                <a:moveTo>
                  <a:pt x="284" y="752"/>
                </a:moveTo>
                <a:cubicBezTo>
                  <a:pt x="284" y="752"/>
                  <a:pt x="284" y="752"/>
                  <a:pt x="284" y="752"/>
                </a:cubicBezTo>
                <a:cubicBezTo>
                  <a:pt x="284" y="748"/>
                  <a:pt x="281" y="746"/>
                  <a:pt x="278" y="746"/>
                </a:cubicBezTo>
                <a:cubicBezTo>
                  <a:pt x="276" y="746"/>
                  <a:pt x="274" y="747"/>
                  <a:pt x="273" y="748"/>
                </a:cubicBezTo>
                <a:cubicBezTo>
                  <a:pt x="233" y="719"/>
                  <a:pt x="233" y="719"/>
                  <a:pt x="233" y="719"/>
                </a:cubicBezTo>
                <a:cubicBezTo>
                  <a:pt x="182" y="684"/>
                  <a:pt x="182" y="684"/>
                  <a:pt x="182" y="684"/>
                </a:cubicBezTo>
                <a:cubicBezTo>
                  <a:pt x="183" y="683"/>
                  <a:pt x="183" y="681"/>
                  <a:pt x="184" y="680"/>
                </a:cubicBezTo>
                <a:cubicBezTo>
                  <a:pt x="192" y="681"/>
                  <a:pt x="192" y="681"/>
                  <a:pt x="192" y="681"/>
                </a:cubicBezTo>
                <a:cubicBezTo>
                  <a:pt x="262" y="688"/>
                  <a:pt x="262" y="688"/>
                  <a:pt x="262" y="688"/>
                </a:cubicBezTo>
                <a:cubicBezTo>
                  <a:pt x="262" y="688"/>
                  <a:pt x="262" y="688"/>
                  <a:pt x="262" y="689"/>
                </a:cubicBezTo>
                <a:cubicBezTo>
                  <a:pt x="262" y="694"/>
                  <a:pt x="266" y="697"/>
                  <a:pt x="271" y="697"/>
                </a:cubicBezTo>
                <a:cubicBezTo>
                  <a:pt x="273" y="697"/>
                  <a:pt x="275" y="697"/>
                  <a:pt x="276" y="695"/>
                </a:cubicBezTo>
                <a:cubicBezTo>
                  <a:pt x="325" y="754"/>
                  <a:pt x="325" y="754"/>
                  <a:pt x="325" y="754"/>
                </a:cubicBezTo>
                <a:cubicBezTo>
                  <a:pt x="325" y="755"/>
                  <a:pt x="324" y="756"/>
                  <a:pt x="324" y="757"/>
                </a:cubicBezTo>
                <a:lnTo>
                  <a:pt x="284" y="752"/>
                </a:lnTo>
                <a:close/>
                <a:moveTo>
                  <a:pt x="335" y="758"/>
                </a:moveTo>
                <a:cubicBezTo>
                  <a:pt x="335" y="755"/>
                  <a:pt x="332" y="752"/>
                  <a:pt x="329" y="752"/>
                </a:cubicBezTo>
                <a:cubicBezTo>
                  <a:pt x="328" y="752"/>
                  <a:pt x="327" y="753"/>
                  <a:pt x="326" y="753"/>
                </a:cubicBezTo>
                <a:cubicBezTo>
                  <a:pt x="297" y="719"/>
                  <a:pt x="297" y="719"/>
                  <a:pt x="297" y="719"/>
                </a:cubicBezTo>
                <a:cubicBezTo>
                  <a:pt x="277" y="695"/>
                  <a:pt x="277" y="695"/>
                  <a:pt x="277" y="695"/>
                </a:cubicBezTo>
                <a:cubicBezTo>
                  <a:pt x="278" y="693"/>
                  <a:pt x="279" y="691"/>
                  <a:pt x="279" y="689"/>
                </a:cubicBezTo>
                <a:cubicBezTo>
                  <a:pt x="376" y="692"/>
                  <a:pt x="376" y="692"/>
                  <a:pt x="376" y="692"/>
                </a:cubicBezTo>
                <a:cubicBezTo>
                  <a:pt x="376" y="696"/>
                  <a:pt x="380" y="700"/>
                  <a:pt x="384" y="700"/>
                </a:cubicBezTo>
                <a:cubicBezTo>
                  <a:pt x="384" y="756"/>
                  <a:pt x="384" y="756"/>
                  <a:pt x="384" y="756"/>
                </a:cubicBezTo>
                <a:cubicBezTo>
                  <a:pt x="382" y="756"/>
                  <a:pt x="379" y="758"/>
                  <a:pt x="379" y="760"/>
                </a:cubicBezTo>
                <a:lnTo>
                  <a:pt x="335" y="758"/>
                </a:lnTo>
                <a:close/>
                <a:moveTo>
                  <a:pt x="390" y="760"/>
                </a:moveTo>
                <a:cubicBezTo>
                  <a:pt x="390" y="758"/>
                  <a:pt x="388" y="756"/>
                  <a:pt x="385" y="756"/>
                </a:cubicBezTo>
                <a:cubicBezTo>
                  <a:pt x="385" y="700"/>
                  <a:pt x="385" y="700"/>
                  <a:pt x="385" y="700"/>
                </a:cubicBezTo>
                <a:cubicBezTo>
                  <a:pt x="389" y="699"/>
                  <a:pt x="392" y="696"/>
                  <a:pt x="393" y="692"/>
                </a:cubicBezTo>
                <a:cubicBezTo>
                  <a:pt x="490" y="689"/>
                  <a:pt x="490" y="689"/>
                  <a:pt x="490" y="689"/>
                </a:cubicBezTo>
                <a:cubicBezTo>
                  <a:pt x="491" y="691"/>
                  <a:pt x="492" y="693"/>
                  <a:pt x="493" y="694"/>
                </a:cubicBezTo>
                <a:cubicBezTo>
                  <a:pt x="444" y="752"/>
                  <a:pt x="444" y="752"/>
                  <a:pt x="444" y="752"/>
                </a:cubicBezTo>
                <a:cubicBezTo>
                  <a:pt x="443" y="752"/>
                  <a:pt x="442" y="751"/>
                  <a:pt x="441" y="751"/>
                </a:cubicBezTo>
                <a:cubicBezTo>
                  <a:pt x="437" y="751"/>
                  <a:pt x="435" y="754"/>
                  <a:pt x="435" y="757"/>
                </a:cubicBezTo>
                <a:cubicBezTo>
                  <a:pt x="435" y="757"/>
                  <a:pt x="435" y="758"/>
                  <a:pt x="435" y="758"/>
                </a:cubicBezTo>
                <a:lnTo>
                  <a:pt x="390" y="760"/>
                </a:lnTo>
                <a:close/>
                <a:moveTo>
                  <a:pt x="527" y="739"/>
                </a:moveTo>
                <a:cubicBezTo>
                  <a:pt x="526" y="737"/>
                  <a:pt x="525" y="736"/>
                  <a:pt x="523" y="736"/>
                </a:cubicBezTo>
                <a:cubicBezTo>
                  <a:pt x="520" y="736"/>
                  <a:pt x="517" y="739"/>
                  <a:pt x="517" y="742"/>
                </a:cubicBezTo>
                <a:cubicBezTo>
                  <a:pt x="517" y="743"/>
                  <a:pt x="517" y="743"/>
                  <a:pt x="517" y="743"/>
                </a:cubicBezTo>
                <a:cubicBezTo>
                  <a:pt x="497" y="750"/>
                  <a:pt x="497" y="750"/>
                  <a:pt x="497" y="750"/>
                </a:cubicBezTo>
                <a:cubicBezTo>
                  <a:pt x="497" y="750"/>
                  <a:pt x="497" y="749"/>
                  <a:pt x="496" y="749"/>
                </a:cubicBezTo>
                <a:cubicBezTo>
                  <a:pt x="587" y="684"/>
                  <a:pt x="587" y="684"/>
                  <a:pt x="587" y="684"/>
                </a:cubicBezTo>
                <a:cubicBezTo>
                  <a:pt x="589" y="686"/>
                  <a:pt x="591" y="688"/>
                  <a:pt x="594" y="688"/>
                </a:cubicBezTo>
                <a:cubicBezTo>
                  <a:pt x="599" y="688"/>
                  <a:pt x="603" y="684"/>
                  <a:pt x="603" y="679"/>
                </a:cubicBezTo>
                <a:cubicBezTo>
                  <a:pt x="603" y="678"/>
                  <a:pt x="603" y="678"/>
                  <a:pt x="602" y="677"/>
                </a:cubicBezTo>
                <a:cubicBezTo>
                  <a:pt x="637" y="667"/>
                  <a:pt x="637" y="667"/>
                  <a:pt x="637" y="667"/>
                </a:cubicBezTo>
                <a:cubicBezTo>
                  <a:pt x="637" y="668"/>
                  <a:pt x="637" y="668"/>
                  <a:pt x="637" y="668"/>
                </a:cubicBezTo>
                <a:lnTo>
                  <a:pt x="527" y="739"/>
                </a:lnTo>
                <a:close/>
                <a:moveTo>
                  <a:pt x="645" y="661"/>
                </a:moveTo>
                <a:cubicBezTo>
                  <a:pt x="645" y="660"/>
                  <a:pt x="644" y="660"/>
                  <a:pt x="643" y="660"/>
                </a:cubicBezTo>
                <a:cubicBezTo>
                  <a:pt x="639" y="660"/>
                  <a:pt x="637" y="663"/>
                  <a:pt x="637" y="666"/>
                </a:cubicBezTo>
                <a:cubicBezTo>
                  <a:pt x="637" y="666"/>
                  <a:pt x="637" y="666"/>
                  <a:pt x="637" y="667"/>
                </a:cubicBezTo>
                <a:cubicBezTo>
                  <a:pt x="626" y="670"/>
                  <a:pt x="626" y="670"/>
                  <a:pt x="626" y="670"/>
                </a:cubicBezTo>
                <a:cubicBezTo>
                  <a:pt x="602" y="676"/>
                  <a:pt x="602" y="676"/>
                  <a:pt x="602" y="676"/>
                </a:cubicBezTo>
                <a:cubicBezTo>
                  <a:pt x="601" y="674"/>
                  <a:pt x="600" y="673"/>
                  <a:pt x="598" y="672"/>
                </a:cubicBezTo>
                <a:cubicBezTo>
                  <a:pt x="615" y="642"/>
                  <a:pt x="615" y="642"/>
                  <a:pt x="615" y="642"/>
                </a:cubicBezTo>
                <a:cubicBezTo>
                  <a:pt x="664" y="557"/>
                  <a:pt x="664" y="557"/>
                  <a:pt x="664" y="557"/>
                </a:cubicBezTo>
                <a:cubicBezTo>
                  <a:pt x="665" y="557"/>
                  <a:pt x="666" y="558"/>
                  <a:pt x="668" y="558"/>
                </a:cubicBezTo>
                <a:cubicBezTo>
                  <a:pt x="672" y="558"/>
                  <a:pt x="676" y="554"/>
                  <a:pt x="676" y="549"/>
                </a:cubicBezTo>
                <a:cubicBezTo>
                  <a:pt x="676" y="549"/>
                  <a:pt x="676" y="549"/>
                  <a:pt x="676" y="548"/>
                </a:cubicBezTo>
                <a:cubicBezTo>
                  <a:pt x="723" y="541"/>
                  <a:pt x="723" y="541"/>
                  <a:pt x="723" y="541"/>
                </a:cubicBezTo>
                <a:cubicBezTo>
                  <a:pt x="723" y="542"/>
                  <a:pt x="724" y="544"/>
                  <a:pt x="726" y="545"/>
                </a:cubicBezTo>
                <a:lnTo>
                  <a:pt x="645" y="661"/>
                </a:lnTo>
                <a:close/>
                <a:moveTo>
                  <a:pt x="730" y="534"/>
                </a:moveTo>
                <a:cubicBezTo>
                  <a:pt x="730" y="534"/>
                  <a:pt x="729" y="534"/>
                  <a:pt x="729" y="534"/>
                </a:cubicBezTo>
                <a:cubicBezTo>
                  <a:pt x="726" y="534"/>
                  <a:pt x="723" y="537"/>
                  <a:pt x="723" y="540"/>
                </a:cubicBezTo>
                <a:cubicBezTo>
                  <a:pt x="723" y="540"/>
                  <a:pt x="723" y="540"/>
                  <a:pt x="723" y="540"/>
                </a:cubicBezTo>
                <a:cubicBezTo>
                  <a:pt x="676" y="548"/>
                  <a:pt x="676" y="548"/>
                  <a:pt x="676" y="548"/>
                </a:cubicBezTo>
                <a:cubicBezTo>
                  <a:pt x="676" y="544"/>
                  <a:pt x="673" y="542"/>
                  <a:pt x="670" y="541"/>
                </a:cubicBezTo>
                <a:cubicBezTo>
                  <a:pt x="681" y="472"/>
                  <a:pt x="681" y="472"/>
                  <a:pt x="681" y="472"/>
                </a:cubicBezTo>
                <a:cubicBezTo>
                  <a:pt x="694" y="393"/>
                  <a:pt x="694" y="393"/>
                  <a:pt x="694" y="393"/>
                </a:cubicBezTo>
                <a:cubicBezTo>
                  <a:pt x="694" y="393"/>
                  <a:pt x="694" y="393"/>
                  <a:pt x="695" y="393"/>
                </a:cubicBezTo>
                <a:cubicBezTo>
                  <a:pt x="699" y="393"/>
                  <a:pt x="703" y="389"/>
                  <a:pt x="703" y="384"/>
                </a:cubicBezTo>
                <a:cubicBezTo>
                  <a:pt x="757" y="384"/>
                  <a:pt x="757" y="384"/>
                  <a:pt x="757" y="384"/>
                </a:cubicBezTo>
                <a:cubicBezTo>
                  <a:pt x="757" y="387"/>
                  <a:pt x="759" y="389"/>
                  <a:pt x="761" y="390"/>
                </a:cubicBezTo>
                <a:lnTo>
                  <a:pt x="730" y="534"/>
                </a:lnTo>
                <a:close/>
              </a:path>
            </a:pathLst>
          </a:custGeom>
          <a:gradFill>
            <a:gsLst>
              <a:gs pos="100000">
                <a:srgbClr val="153B6A"/>
              </a:gs>
              <a:gs pos="0">
                <a:srgbClr val="17D5F7"/>
              </a:gs>
            </a:gsLst>
            <a:path path="shape">
              <a:fillToRect l="50000" t="50000" r="50000" b="50000"/>
            </a:path>
          </a:gradFill>
          <a:ln>
            <a:noFill/>
          </a:ln>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8" name="Freeform 24"/>
          <p:cNvSpPr>
            <a:spLocks/>
          </p:cNvSpPr>
          <p:nvPr/>
        </p:nvSpPr>
        <p:spPr bwMode="auto">
          <a:xfrm>
            <a:off x="5583238" y="3443288"/>
            <a:ext cx="87313" cy="123825"/>
          </a:xfrm>
          <a:custGeom>
            <a:avLst/>
            <a:gdLst>
              <a:gd name="T0" fmla="*/ 23 w 23"/>
              <a:gd name="T1" fmla="*/ 0 h 33"/>
              <a:gd name="T2" fmla="*/ 0 w 23"/>
              <a:gd name="T3" fmla="*/ 33 h 33"/>
              <a:gd name="T4" fmla="*/ 23 w 23"/>
              <a:gd name="T5" fmla="*/ 0 h 33"/>
            </a:gdLst>
            <a:ahLst/>
            <a:cxnLst>
              <a:cxn ang="0">
                <a:pos x="T0" y="T1"/>
              </a:cxn>
              <a:cxn ang="0">
                <a:pos x="T2" y="T3"/>
              </a:cxn>
              <a:cxn ang="0">
                <a:pos x="T4" y="T5"/>
              </a:cxn>
            </a:cxnLst>
            <a:rect l="0" t="0" r="r" b="b"/>
            <a:pathLst>
              <a:path w="23" h="33">
                <a:moveTo>
                  <a:pt x="23" y="0"/>
                </a:moveTo>
                <a:cubicBezTo>
                  <a:pt x="14" y="11"/>
                  <a:pt x="7" y="21"/>
                  <a:pt x="0" y="33"/>
                </a:cubicBezTo>
                <a:lnTo>
                  <a:pt x="23" y="0"/>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9" name="Freeform 25"/>
          <p:cNvSpPr>
            <a:spLocks/>
          </p:cNvSpPr>
          <p:nvPr/>
        </p:nvSpPr>
        <p:spPr bwMode="auto">
          <a:xfrm>
            <a:off x="3468688" y="3443288"/>
            <a:ext cx="87313" cy="123825"/>
          </a:xfrm>
          <a:custGeom>
            <a:avLst/>
            <a:gdLst>
              <a:gd name="T0" fmla="*/ 23 w 23"/>
              <a:gd name="T1" fmla="*/ 33 h 33"/>
              <a:gd name="T2" fmla="*/ 0 w 23"/>
              <a:gd name="T3" fmla="*/ 0 h 33"/>
              <a:gd name="T4" fmla="*/ 23 w 23"/>
              <a:gd name="T5" fmla="*/ 33 h 33"/>
            </a:gdLst>
            <a:ahLst/>
            <a:cxnLst>
              <a:cxn ang="0">
                <a:pos x="T0" y="T1"/>
              </a:cxn>
              <a:cxn ang="0">
                <a:pos x="T2" y="T3"/>
              </a:cxn>
              <a:cxn ang="0">
                <a:pos x="T4" y="T5"/>
              </a:cxn>
            </a:cxnLst>
            <a:rect l="0" t="0" r="r" b="b"/>
            <a:pathLst>
              <a:path w="23" h="33">
                <a:moveTo>
                  <a:pt x="23" y="33"/>
                </a:moveTo>
                <a:cubicBezTo>
                  <a:pt x="16" y="21"/>
                  <a:pt x="9" y="11"/>
                  <a:pt x="0" y="0"/>
                </a:cubicBezTo>
                <a:lnTo>
                  <a:pt x="23" y="33"/>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30" name="文本框 29"/>
          <p:cNvSpPr txBox="1"/>
          <p:nvPr/>
        </p:nvSpPr>
        <p:spPr bwMode="auto">
          <a:xfrm>
            <a:off x="1005840" y="868680"/>
            <a:ext cx="7132320" cy="1417320"/>
          </a:xfrm>
          <a:prstGeom prst="rect">
            <a:avLst/>
          </a:prstGeom>
          <a:noFill/>
        </p:spPr>
        <p:txBody>
          <a:bodyPr wrap="none">
            <a:spAutoFit/>
          </a:bodyPr>
          <a:lstStyle/>
          <a:p>
            <a:pPr algn="ctr" eaLnBrk="0" fontAlgn="base" hangingPunct="0">
              <a:spcBef>
                <a:spcPct val="0"/>
              </a:spcBef>
              <a:spcAft>
                <a:spcPct val="0"/>
              </a:spcAft>
              <a:defRPr/>
            </a:pPr>
            <a:r>
              <a:rPr sz="10800" b="1">
                <a:solidFill>
                  <a:srgbClr val="FFFFFF"/>
                </a:solidFill>
              </a:rPr>
              <a:t>Thanks</a:t>
            </a:r>
            <a:endParaRPr lang="zh-CN" altLang="en-US" sz="16600" dirty="0">
              <a:ln w="38100">
                <a:noFill/>
              </a:ln>
              <a:solidFill>
                <a:prstClr val="white"/>
              </a:solidFill>
              <a:latin typeface="Impact" panose="020B0806030902050204" pitchFamily="34" charset="0"/>
              <a:ea typeface="微软雅黑" panose="020B0503020204020204" pitchFamily="34" charset="-122"/>
            </a:endParaRPr>
          </a:p>
        </p:txBody>
      </p:sp>
      <p:grpSp>
        <p:nvGrpSpPr>
          <p:cNvPr id="31" name="组合 30"/>
          <p:cNvGrpSpPr/>
          <p:nvPr/>
        </p:nvGrpSpPr>
        <p:grpSpPr>
          <a:xfrm>
            <a:off x="2296940" y="3116160"/>
            <a:ext cx="4187402" cy="436733"/>
            <a:chOff x="2986690" y="3596641"/>
            <a:chExt cx="2956910" cy="308396"/>
          </a:xfrm>
        </p:grpSpPr>
        <p:sp>
          <p:nvSpPr>
            <p:cNvPr id="32" name="圆角矩形 31"/>
            <p:cNvSpPr/>
            <p:nvPr/>
          </p:nvSpPr>
          <p:spPr bwMode="auto">
            <a:xfrm>
              <a:off x="3078163" y="3596641"/>
              <a:ext cx="2865437" cy="308396"/>
            </a:xfrm>
            <a:prstGeom prst="roundRect">
              <a:avLst>
                <a:gd name="adj" fmla="val 0"/>
              </a:avLst>
            </a:prstGeom>
            <a:solidFill>
              <a:srgbClr val="012436"/>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prstClr val="white"/>
                </a:solidFill>
              </a:endParaRPr>
            </a:p>
          </p:txBody>
        </p:sp>
        <p:sp>
          <p:nvSpPr>
            <p:cNvPr id="33" name="文本框 32"/>
            <p:cNvSpPr txBox="1"/>
            <p:nvPr/>
          </p:nvSpPr>
          <p:spPr>
            <a:xfrm>
              <a:off x="2986690" y="3609402"/>
              <a:ext cx="2551871" cy="282535"/>
            </a:xfrm>
            <a:prstGeom prst="rect">
              <a:avLst/>
            </a:prstGeom>
            <a:noFill/>
          </p:spPr>
          <p:txBody>
            <a:bodyPr wrap="none">
              <a:spAutoFit/>
            </a:bodyPr>
            <a:lstStyle/>
            <a:p>
              <a:pPr algn="ctr" eaLnBrk="0" fontAlgn="base" hangingPunct="0">
                <a:spcBef>
                  <a:spcPct val="0"/>
                </a:spcBef>
                <a:spcAft>
                  <a:spcPct val="0"/>
                </a:spcAft>
                <a:defRPr/>
              </a:pPr>
              <a:r>
                <a:rPr lang="en-US" altLang="zh-CN" sz="2000" b="1" dirty="0">
                  <a:ln w="38100">
                    <a:noFill/>
                  </a:ln>
                  <a:solidFill>
                    <a:srgbClr val="91ECFB"/>
                  </a:solidFill>
                  <a:latin typeface="Arial" panose="020B0604020202020204" pitchFamily="34" charset="0"/>
                  <a:cs typeface="Arial" panose="020B0604020202020204" pitchFamily="34" charset="0"/>
                </a:rPr>
                <a:t>      AMATH 383 Final Project</a:t>
              </a:r>
              <a:endParaRPr lang="zh-CN" altLang="en-US" sz="2000" b="1" dirty="0">
                <a:ln w="38100">
                  <a:noFill/>
                </a:ln>
                <a:solidFill>
                  <a:srgbClr val="91ECFB"/>
                </a:solidFill>
                <a:latin typeface="Arial" panose="020B0604020202020204" pitchFamily="34" charset="0"/>
                <a:cs typeface="Arial" panose="020B0604020202020204" pitchFamily="34" charset="0"/>
              </a:endParaRPr>
            </a:p>
          </p:txBody>
        </p:sp>
      </p:grpSp>
      <p:sp>
        <p:nvSpPr>
          <p:cNvPr id="34" name="文本框 66"/>
          <p:cNvSpPr txBox="1">
            <a:spLocks noChangeArrowheads="1"/>
          </p:cNvSpPr>
          <p:nvPr/>
        </p:nvSpPr>
        <p:spPr bwMode="auto">
          <a:xfrm>
            <a:off x="2261394" y="3607478"/>
            <a:ext cx="45524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fontAlgn="base" hangingPunct="0">
              <a:spcBef>
                <a:spcPct val="0"/>
              </a:spcBef>
              <a:spcAft>
                <a:spcPct val="0"/>
              </a:spcAft>
            </a:pPr>
            <a:r>
              <a:rPr lang="zh-CN" altLang="zh-CN" sz="3200" b="1" dirty="0">
                <a:solidFill>
                  <a:prstClr val="white"/>
                </a:solidFill>
                <a:latin typeface="Meiryo UI" pitchFamily="34" charset="-128"/>
                <a:ea typeface="Meiryo UI" pitchFamily="34" charset="-128"/>
                <a:cs typeface="Meiryo UI" pitchFamily="34" charset="-128"/>
              </a:rPr>
              <a:t>Questions?</a:t>
            </a:r>
            <a:endParaRPr lang="zh-CN" altLang="zh-CN" sz="3200" dirty="0">
              <a:solidFill>
                <a:prstClr val="white"/>
              </a:solidFill>
              <a:latin typeface="Meiryo UI" pitchFamily="34" charset="-128"/>
              <a:ea typeface="Meiryo UI" pitchFamily="34" charset="-128"/>
              <a:cs typeface="Meiryo UI" pitchFamily="34" charset="-128"/>
            </a:endParaRPr>
          </a:p>
        </p:txBody>
      </p:sp>
    </p:spTree>
    <p:extLst>
      <p:ext uri="{BB962C8B-B14F-4D97-AF65-F5344CB8AC3E}">
        <p14:creationId xmlns:p14="http://schemas.microsoft.com/office/powerpoint/2010/main" val="266207484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 fill="hold" grpId="0" nodeType="withEffect">
                                  <p:stCondLst>
                                    <p:cond delay="0"/>
                                  </p:stCondLst>
                                  <p:iterate type="lt">
                                    <p:tmPct val="24444"/>
                                  </p:iterate>
                                  <p:childTnLst>
                                    <p:set>
                                      <p:cBhvr>
                                        <p:cTn id="6" dur="1" fill="hold">
                                          <p:stCondLst>
                                            <p:cond delay="0"/>
                                          </p:stCondLst>
                                        </p:cTn>
                                        <p:tgtEl>
                                          <p:spTgt spid="30"/>
                                        </p:tgtEl>
                                        <p:attrNameLst>
                                          <p:attrName>style.visibility</p:attrName>
                                        </p:attrNameLst>
                                      </p:cBhvr>
                                      <p:to>
                                        <p:strVal val="visible"/>
                                      </p:to>
                                    </p:set>
                                    <p:anim calcmode="lin" valueType="num">
                                      <p:cBhvr>
                                        <p:cTn id="7" dur="1200" fill="hold"/>
                                        <p:tgtEl>
                                          <p:spTgt spid="30"/>
                                        </p:tgtEl>
                                        <p:attrNameLst>
                                          <p:attrName>ppt_x</p:attrName>
                                        </p:attrNameLst>
                                      </p:cBhvr>
                                      <p:tavLst>
                                        <p:tav tm="0">
                                          <p:val>
                                            <p:strVal val="#ppt_x"/>
                                          </p:val>
                                        </p:tav>
                                        <p:tav tm="100000">
                                          <p:val>
                                            <p:strVal val="#ppt_x"/>
                                          </p:val>
                                        </p:tav>
                                      </p:tavLst>
                                    </p:anim>
                                    <p:anim calcmode="lin" valueType="num">
                                      <p:cBhvr>
                                        <p:cTn id="8" dur="1200" fill="hold"/>
                                        <p:tgtEl>
                                          <p:spTgt spid="30"/>
                                        </p:tgtEl>
                                        <p:attrNameLst>
                                          <p:attrName>ppt_y</p:attrName>
                                        </p:attrNameLst>
                                      </p:cBhvr>
                                      <p:tavLst>
                                        <p:tav tm="0">
                                          <p:val>
                                            <p:strVal val="#ppt_y-#ppt_h/2"/>
                                          </p:val>
                                        </p:tav>
                                        <p:tav tm="100000">
                                          <p:val>
                                            <p:strVal val="#ppt_y"/>
                                          </p:val>
                                        </p:tav>
                                      </p:tavLst>
                                    </p:anim>
                                    <p:anim calcmode="lin" valueType="num">
                                      <p:cBhvr>
                                        <p:cTn id="9" dur="1200" fill="hold"/>
                                        <p:tgtEl>
                                          <p:spTgt spid="30"/>
                                        </p:tgtEl>
                                        <p:attrNameLst>
                                          <p:attrName>ppt_w</p:attrName>
                                        </p:attrNameLst>
                                      </p:cBhvr>
                                      <p:tavLst>
                                        <p:tav tm="0">
                                          <p:val>
                                            <p:strVal val="#ppt_w"/>
                                          </p:val>
                                        </p:tav>
                                        <p:tav tm="100000">
                                          <p:val>
                                            <p:strVal val="#ppt_w"/>
                                          </p:val>
                                        </p:tav>
                                      </p:tavLst>
                                    </p:anim>
                                    <p:anim calcmode="lin" valueType="num">
                                      <p:cBhvr>
                                        <p:cTn id="10" dur="1200" fill="hold"/>
                                        <p:tgtEl>
                                          <p:spTgt spid="30"/>
                                        </p:tgtEl>
                                        <p:attrNameLst>
                                          <p:attrName>ppt_h</p:attrName>
                                        </p:attrNameLst>
                                      </p:cBhvr>
                                      <p:tavLst>
                                        <p:tav tm="0">
                                          <p:val>
                                            <p:fltVal val="0"/>
                                          </p:val>
                                        </p:tav>
                                        <p:tav tm="100000">
                                          <p:val>
                                            <p:strVal val="#ppt_h"/>
                                          </p:val>
                                        </p:tav>
                                      </p:tavLst>
                                    </p:anim>
                                  </p:childTnLst>
                                </p:cTn>
                              </p:par>
                              <p:par>
                                <p:cTn id="11" presetID="17" presetClass="entr" presetSubtype="10" fill="hold" nodeType="withEffect">
                                  <p:stCondLst>
                                    <p:cond delay="1100"/>
                                  </p:stCondLst>
                                  <p:childTnLst>
                                    <p:set>
                                      <p:cBhvr>
                                        <p:cTn id="12" dur="1" fill="hold">
                                          <p:stCondLst>
                                            <p:cond delay="0"/>
                                          </p:stCondLst>
                                        </p:cTn>
                                        <p:tgtEl>
                                          <p:spTgt spid="31"/>
                                        </p:tgtEl>
                                        <p:attrNameLst>
                                          <p:attrName>style.visibility</p:attrName>
                                        </p:attrNameLst>
                                      </p:cBhvr>
                                      <p:to>
                                        <p:strVal val="visible"/>
                                      </p:to>
                                    </p:set>
                                    <p:anim calcmode="lin" valueType="num">
                                      <p:cBhvr>
                                        <p:cTn id="13" dur="1500" fill="hold"/>
                                        <p:tgtEl>
                                          <p:spTgt spid="31"/>
                                        </p:tgtEl>
                                        <p:attrNameLst>
                                          <p:attrName>ppt_w</p:attrName>
                                        </p:attrNameLst>
                                      </p:cBhvr>
                                      <p:tavLst>
                                        <p:tav tm="0">
                                          <p:val>
                                            <p:fltVal val="0"/>
                                          </p:val>
                                        </p:tav>
                                        <p:tav tm="100000">
                                          <p:val>
                                            <p:strVal val="#ppt_w"/>
                                          </p:val>
                                        </p:tav>
                                      </p:tavLst>
                                    </p:anim>
                                    <p:anim calcmode="lin" valueType="num">
                                      <p:cBhvr>
                                        <p:cTn id="14" dur="1500" fill="hold"/>
                                        <p:tgtEl>
                                          <p:spTgt spid="31"/>
                                        </p:tgtEl>
                                        <p:attrNameLst>
                                          <p:attrName>ppt_h</p:attrName>
                                        </p:attrNameLst>
                                      </p:cBhvr>
                                      <p:tavLst>
                                        <p:tav tm="0">
                                          <p:val>
                                            <p:strVal val="#ppt_h"/>
                                          </p:val>
                                        </p:tav>
                                        <p:tav tm="100000">
                                          <p:val>
                                            <p:strVal val="#ppt_h"/>
                                          </p:val>
                                        </p:tav>
                                      </p:tavLst>
                                    </p:anim>
                                  </p:childTnLst>
                                </p:cTn>
                              </p:par>
                              <p:par>
                                <p:cTn id="15" presetID="55" presetClass="entr" presetSubtype="0" fill="hold" grpId="0" nodeType="withEffect">
                                  <p:stCondLst>
                                    <p:cond delay="2100"/>
                                  </p:stCondLst>
                                  <p:childTnLst>
                                    <p:set>
                                      <p:cBhvr>
                                        <p:cTn id="16" dur="1" fill="hold">
                                          <p:stCondLst>
                                            <p:cond delay="0"/>
                                          </p:stCondLst>
                                        </p:cTn>
                                        <p:tgtEl>
                                          <p:spTgt spid="34"/>
                                        </p:tgtEl>
                                        <p:attrNameLst>
                                          <p:attrName>style.visibility</p:attrName>
                                        </p:attrNameLst>
                                      </p:cBhvr>
                                      <p:to>
                                        <p:strVal val="visible"/>
                                      </p:to>
                                    </p:set>
                                    <p:anim calcmode="lin" valueType="num">
                                      <p:cBhvr>
                                        <p:cTn id="17" dur="1000" fill="hold"/>
                                        <p:tgtEl>
                                          <p:spTgt spid="34"/>
                                        </p:tgtEl>
                                        <p:attrNameLst>
                                          <p:attrName>ppt_w</p:attrName>
                                        </p:attrNameLst>
                                      </p:cBhvr>
                                      <p:tavLst>
                                        <p:tav tm="0">
                                          <p:val>
                                            <p:strVal val="#ppt_w*0.70"/>
                                          </p:val>
                                        </p:tav>
                                        <p:tav tm="100000">
                                          <p:val>
                                            <p:strVal val="#ppt_w"/>
                                          </p:val>
                                        </p:tav>
                                      </p:tavLst>
                                    </p:anim>
                                    <p:anim calcmode="lin" valueType="num">
                                      <p:cBhvr>
                                        <p:cTn id="18" dur="1000" fill="hold"/>
                                        <p:tgtEl>
                                          <p:spTgt spid="34"/>
                                        </p:tgtEl>
                                        <p:attrNameLst>
                                          <p:attrName>ppt_h</p:attrName>
                                        </p:attrNameLst>
                                      </p:cBhvr>
                                      <p:tavLst>
                                        <p:tav tm="0">
                                          <p:val>
                                            <p:strVal val="#ppt_h"/>
                                          </p:val>
                                        </p:tav>
                                        <p:tav tm="100000">
                                          <p:val>
                                            <p:strVal val="#ppt_h"/>
                                          </p:val>
                                        </p:tav>
                                      </p:tavLst>
                                    </p:anim>
                                    <p:animEffect transition="in" filter="fade">
                                      <p:cBhvr>
                                        <p:cTn id="19" dur="1000"/>
                                        <p:tgtEl>
                                          <p:spTgt spid="34"/>
                                        </p:tgtEl>
                                      </p:cBhvr>
                                    </p:animEffect>
                                  </p:childTnLst>
                                </p:cTn>
                              </p:par>
                              <p:par>
                                <p:cTn id="20" presetID="0" presetClass="path" presetSubtype="0" repeatCount="indefinite" fill="hold" nodeType="withEffect">
                                  <p:stCondLst>
                                    <p:cond delay="0"/>
                                  </p:stCondLst>
                                  <p:childTnLst>
                                    <p:animMotion origin="layout" path="M 1.66667E-6 -0.00031 L 1.66667E-6 0.00031 C 0.00017 -0.09876 1.66667E-6 -0.19753 0.00069 -0.29568 C 0.00087 -0.31234 0.00347 -0.32469 0.00573 -0.34012 C 0.00694 -0.34876 0.00903 -0.36574 0.01076 -0.375 C 0.01354 -0.39105 0.01597 -0.40309 0.01979 -0.41697 C 0.02205 -0.42469 0.02378 -0.43302 0.02656 -0.4392 C 0.02795 -0.44228 0.02934 -0.44475 0.03073 -0.44846 C 0.03194 -0.45092 0.03264 -0.45494 0.03403 -0.45741 C 0.03663 -0.46296 0.03923 -0.46852 0.04236 -0.47191 C 0.0434 -0.47315 0.04462 -0.47407 0.04566 -0.47592 C 0.04774 -0.47963 0.0493 -0.48457 0.05139 -0.48858 C 0.05312 -0.49167 0.05486 -0.49444 0.05642 -0.49753 C 0.06042 -0.50648 0.05625 -0.5 0.05903 -0.50864 C 0.05955 -0.51111 0.06059 -0.51265 0.06146 -0.51451 C 0.0651 -0.53765 0.06441 -0.52901 0.06232 -0.57068 C 0.06215 -0.57315 0.06111 -0.57469 0.06059 -0.57654 C 0.06042 -0.5787 0.06042 -0.58148 0.05972 -0.58364 C 0.05885 -0.58704 0.05764 -0.58981 0.05642 -0.5929 C 0.05434 -0.59815 0.0526 -0.60185 0.04982 -0.60586 C 0.04757 -0.60895 0.04531 -0.61173 0.04323 -0.61512 C 0.04201 -0.61667 0.04097 -0.61883 0.03976 -0.62037 C 0.03854 -0.62191 0.03698 -0.62284 0.03559 -0.62376 C 0.02847 -0.63148 0.03472 -0.62778 0.02743 -0.63117 C 0.02482 -0.63488 0.02448 -0.6358 0.02153 -0.63827 C 0.02066 -0.6392 0.01979 -0.63951 0.0191 -0.64043 C 0.01875 -0.64228 0.01771 -0.64413 0.01823 -0.64568 C 0.01892 -0.64784 0.02048 -0.64784 0.02153 -0.64938 C 0.02274 -0.65092 0.02378 -0.65309 0.02482 -0.65494 L 0.02812 -0.66265 " pathEditMode="relative" rAng="0" ptsTypes="AAAAAAAAAAAAAAAAAAAAAAAAAAAAAA">
                                      <p:cBhvr>
                                        <p:cTn id="21" dur="2500" fill="hold"/>
                                        <p:tgtEl>
                                          <p:spTgt spid="14"/>
                                        </p:tgtEl>
                                        <p:attrNameLst>
                                          <p:attrName>ppt_x</p:attrName>
                                          <p:attrName>ppt_y</p:attrName>
                                        </p:attrNameLst>
                                      </p:cBhvr>
                                      <p:rCtr x="3194" y="-33086"/>
                                    </p:animMotion>
                                  </p:childTnLst>
                                </p:cTn>
                              </p:par>
                              <p:par>
                                <p:cTn id="22" presetID="0" presetClass="path" presetSubtype="0" repeatCount="indefinite" fill="hold" grpId="0" nodeType="withEffect">
                                  <p:stCondLst>
                                    <p:cond delay="200"/>
                                  </p:stCondLst>
                                  <p:childTnLst>
                                    <p:animMotion origin="layout" path="M 4.44444E-6 -0.00031 L 4.44444E-6 0.00031 C 4.44444E-6 -0.09876 0.02916 -0.06296 0.02986 -0.16142 C 0.03072 -0.21605 0.00138 -0.28703 -0.00139 -0.30216 C -0.00434 -0.31728 0.00486 -0.33271 0.00572 -0.34012 C 0.00694 -0.34876 0.00902 -0.36574 0.01076 -0.375 C 0.01354 -0.39105 0.01597 -0.40339 0.01979 -0.41697 C 0.02204 -0.425 0.02378 -0.43302 0.02656 -0.43919 C 0.02795 -0.4429 0.02934 -0.44475 0.03072 -0.44845 C 0.03194 -0.45092 0.03263 -0.45555 0.03402 -0.4574 C 0.03663 -0.46358 0.03923 -0.46882 0.04236 -0.47253 C 0.0434 -0.47345 0.04461 -0.47407 0.04566 -0.47592 C 0.04774 -0.47993 0.0493 -0.48487 0.05138 -0.48858 L 0.05642 -0.49753 C 0.06041 -0.50648 0.05625 -0.50031 0.05902 -0.50926 C 0.05954 -0.51111 0.06059 -0.51265 0.06145 -0.51481 C 0.0651 -0.53796 0.06441 -0.52901 0.06232 -0.57068 C 0.06215 -0.57314 0.06111 -0.57438 0.06059 -0.57592 C 0.06041 -0.5787 0.06041 -0.58148 0.05972 -0.58333 C 0.05885 -0.58672 0.05763 -0.5895 0.05642 -0.5929 C 0.05434 -0.59753 0.0526 -0.60185 0.04982 -0.60555 L 0.04322 -0.6145 C 0.04201 -0.61635 0.04097 -0.61882 0.03975 -0.62006 C 0.03854 -0.6216 0.03697 -0.62253 0.03559 -0.62345 C 0.02847 -0.63148 0.03472 -0.62777 0.02743 -0.63055 C 0.02482 -0.63426 0.02447 -0.6358 0.02152 -0.63796 C 0.02066 -0.63889 0.01979 -0.6395 0.01909 -0.64043 C 0.01875 -0.64228 0.0177 -0.64413 0.01822 -0.64568 C 0.01892 -0.64784 0.02048 -0.64784 0.02152 -0.64938 C 0.02274 -0.65031 0.02378 -0.65308 0.02482 -0.65493 L 0.02812 -0.66265 " pathEditMode="relative" rAng="0" ptsTypes="AAAAAAAAAAAAAAAAAAAAAAAAAAAAAAA">
                                      <p:cBhvr>
                                        <p:cTn id="23" dur="2500" fill="hold"/>
                                        <p:tgtEl>
                                          <p:spTgt spid="15"/>
                                        </p:tgtEl>
                                        <p:attrNameLst>
                                          <p:attrName>ppt_x</p:attrName>
                                          <p:attrName>ppt_y</p:attrName>
                                        </p:attrNameLst>
                                      </p:cBhvr>
                                      <p:rCtr x="3090" y="-33086"/>
                                    </p:animMotion>
                                  </p:childTnLst>
                                </p:cTn>
                              </p:par>
                              <p:par>
                                <p:cTn id="24" presetID="0" presetClass="path" presetSubtype="0" repeatCount="indefinite" fill="hold" nodeType="withEffect">
                                  <p:stCondLst>
                                    <p:cond delay="1600"/>
                                  </p:stCondLst>
                                  <p:childTnLst>
                                    <p:animMotion origin="layout" path="M 1.11111E-6 -0.00031 L 1.11111E-6 0.00031 C 1.11111E-6 -0.09877 1.11111E-6 -0.19753 0.00052 -0.29599 C 0.00069 -0.31235 0.00347 -0.32469 0.00573 -0.34012 C 0.00694 -0.34877 -0.01806 -0.36389 -0.01632 -0.37315 C -0.01354 -0.3892 0.01267 -0.40617 0.01979 -0.41698 C 0.02691 -0.42809 0.02378 -0.43303 0.02656 -0.4392 C 0.02795 -0.4429 0.02934 -0.44475 0.03073 -0.44846 C 0.03194 -0.45093 0.03264 -0.45556 0.03403 -0.45741 C 0.03663 -0.46358 0.03924 -0.46883 0.04236 -0.47253 C 0.0434 -0.47346 0.04462 -0.47407 0.04566 -0.47593 C 0.04774 -0.47963 0.0493 -0.48488 0.05139 -0.48858 C 0.05295 -0.49198 0.03489 -0.49136 0.03663 -0.49383 C 0.04062 -0.50278 0.05625 -0.50031 0.05903 -0.50926 C 0.05955 -0.51111 0.03455 -0.53704 0.03542 -0.53858 C 0.03906 -0.56204 0.06441 -0.52901 0.06233 -0.57099 C 0.06215 -0.57377 0.06111 -0.57531 0.06059 -0.57716 C 0.06042 -0.57901 0.06042 -0.58179 0.05972 -0.58457 C 0.05885 -0.58735 0.05764 -0.59074 0.05642 -0.59352 C 0.05434 -0.59877 0.0526 -0.60247 0.04983 -0.60617 L 0.04323 -0.61451 C 0.04201 -0.61636 0.04097 -0.61883 0.03976 -0.62006 C 0.03854 -0.62161 0.03698 -0.62253 0.03559 -0.62346 C 0.02847 -0.63148 0.03472 -0.62778 0.02743 -0.63056 C 0.02483 -0.63426 0.02448 -0.6358 0.02153 -0.63796 C 0.02066 -0.63889 0.01979 -0.63951 0.0191 -0.64043 C 0.01875 -0.64228 0.01771 -0.64414 0.01823 -0.64568 C 0.01892 -0.64784 0.02049 -0.64784 0.02153 -0.64938 C 0.02274 -0.65031 0.02378 -0.65309 0.02483 -0.65494 L 0.02812 -0.66266 " pathEditMode="relative" rAng="0" ptsTypes="AAAAAAAAAAAAAAAAAAAAAAAAAAAAAA">
                                      <p:cBhvr>
                                        <p:cTn id="25" dur="2500" fill="hold"/>
                                        <p:tgtEl>
                                          <p:spTgt spid="16"/>
                                        </p:tgtEl>
                                        <p:attrNameLst>
                                          <p:attrName>ppt_x</p:attrName>
                                          <p:attrName>ppt_y</p:attrName>
                                        </p:attrNameLst>
                                      </p:cBhvr>
                                      <p:rCtr x="2309" y="-33086"/>
                                    </p:animMotion>
                                  </p:childTnLst>
                                </p:cTn>
                              </p:par>
                              <p:par>
                                <p:cTn id="26" presetID="0" presetClass="path" presetSubtype="0" repeatCount="indefinite" fill="hold" grpId="0" nodeType="withEffect">
                                  <p:stCondLst>
                                    <p:cond delay="0"/>
                                  </p:stCondLst>
                                  <p:childTnLst>
                                    <p:animMotion origin="layout" path="M -2.77778E-7 -0.00031 L -2.77778E-7 0.0003 C -0.00017 -0.09877 -2.77778E-7 -0.19784 -0.00069 -0.29568 C -0.00087 -0.31235 -0.00295 -0.3247 -0.00469 -0.34013 C -0.00573 -0.34877 -0.00746 -0.36575 -0.00885 -0.375 C -0.01111 -0.39105 -0.01302 -0.40309 -0.01615 -0.41698 C -0.01806 -0.4247 -0.01944 -0.43303 -0.0217 -0.4392 C -0.02292 -0.44229 -0.02396 -0.44476 -0.02517 -0.44846 C -0.02604 -0.45093 -0.02674 -0.45494 -0.02778 -0.45741 C -0.03003 -0.46297 -0.03212 -0.46852 -0.03455 -0.47192 C -0.03542 -0.47315 -0.03646 -0.47408 -0.03733 -0.47593 C -0.03906 -0.47994 -0.04028 -0.48457 -0.04201 -0.48858 C -0.0434 -0.49167 -0.04479 -0.49445 -0.04601 -0.49754 C -0.04931 -0.50649 -0.04601 -0.5 -0.04826 -0.50865 C -0.04861 -0.51112 -0.04948 -0.51266 -0.05017 -0.51482 C -0.05312 -0.53766 -0.0526 -0.52902 -0.05087 -0.57099 C -0.05069 -0.57346 -0.04983 -0.575 -0.04948 -0.57686 C -0.04931 -0.57902 -0.04931 -0.58179 -0.04878 -0.58396 C -0.04809 -0.58735 -0.04705 -0.59013 -0.04601 -0.59321 C -0.04444 -0.59846 -0.04306 -0.60217 -0.04062 -0.60618 C -0.03889 -0.60926 -0.03698 -0.61204 -0.03524 -0.61544 C -0.03437 -0.61698 -0.03351 -0.61914 -0.03246 -0.62068 C -0.03142 -0.62223 -0.03021 -0.62315 -0.02917 -0.62408 C -0.02326 -0.63149 -0.02847 -0.62778 -0.0224 -0.63118 C -0.02031 -0.63488 -0.01996 -0.63581 -0.01771 -0.63828 C -0.01701 -0.6392 -0.01615 -0.63951 -0.01562 -0.64044 C -0.01545 -0.64229 -0.01458 -0.64414 -0.01493 -0.64568 C -0.01545 -0.64784 -0.01684 -0.64784 -0.01771 -0.64939 C -0.01858 -0.65093 -0.01944 -0.65309 -0.02031 -0.65494 L -0.02309 -0.66266 " pathEditMode="relative" rAng="0" ptsTypes="AAAAAAAAAAAAAAAAAAAAAAAAAAAAAA">
                                      <p:cBhvr>
                                        <p:cTn id="27" dur="2500" fill="hold"/>
                                        <p:tgtEl>
                                          <p:spTgt spid="23"/>
                                        </p:tgtEl>
                                        <p:attrNameLst>
                                          <p:attrName>ppt_x</p:attrName>
                                          <p:attrName>ppt_y</p:attrName>
                                        </p:attrNameLst>
                                      </p:cBhvr>
                                      <p:rCtr x="-2622" y="-33086"/>
                                    </p:animMotion>
                                  </p:childTnLst>
                                </p:cTn>
                              </p:par>
                              <p:par>
                                <p:cTn id="28" presetID="0" presetClass="path" presetSubtype="0" repeatCount="indefinite" fill="hold" nodeType="withEffect">
                                  <p:stCondLst>
                                    <p:cond delay="300"/>
                                  </p:stCondLst>
                                  <p:childTnLst>
                                    <p:animMotion origin="layout" path="M 5E-6 -0.00031 L 5E-6 0.00031 C 0.00018 -0.09877 5E-6 -0.19753 0.0007 -0.29568 C 0.00087 -0.31235 0.00348 -0.32469 0.00573 -0.34013 C 0.00695 -0.34877 0.00903 -0.36574 0.01077 -0.375 C 0.01355 -0.39105 0.01598 -0.40309 0.0198 -0.41698 C 0.02205 -0.42469 0.02379 -0.43303 0.02657 -0.4392 C 0.02796 -0.44229 0.02935 -0.44476 0.03073 -0.44846 C 0.03195 -0.45093 0.03264 -0.45494 0.03403 -0.45741 C 0.03664 -0.46297 0.03924 -0.46852 0.04237 -0.47192 C 0.04341 -0.47315 0.04462 -0.47408 0.04566 -0.47593 C 0.04775 -0.47963 0.04931 -0.48457 0.05139 -0.48858 C 0.05313 -0.49167 0.05487 -0.49445 0.05643 -0.49753 C 0.06042 -0.50648 0.05626 -0.5 0.05903 -0.50864 C 0.05955 -0.51111 0.0606 -0.51266 0.06146 -0.51451 C 0.06511 -0.53766 0.06441 -0.52901 0.06233 -0.57099 C 0.06216 -0.57346 0.06112 -0.575 0.0606 -0.57685 C 0.06042 -0.57901 0.06042 -0.58179 0.05973 -0.58395 C 0.05886 -0.58735 0.05764 -0.59013 0.05643 -0.59321 C 0.05435 -0.59846 0.0526 -0.60216 0.04983 -0.60618 C 0.04757 -0.60926 0.04532 -0.61204 0.04323 -0.61543 C 0.04202 -0.61698 0.04098 -0.61914 0.03976 -0.62068 C 0.03855 -0.62222 0.03698 -0.62315 0.0356 -0.62408 C 0.02848 -0.63179 0.03473 -0.62809 0.02744 -0.63148 C 0.02483 -0.63519 0.02448 -0.63611 0.02153 -0.63858 C 0.02066 -0.63951 0.0198 -0.63982 0.0191 -0.64074 C 0.01876 -0.6426 0.01771 -0.64445 0.01823 -0.64599 C 0.01893 -0.64815 0.02049 -0.64815 0.02153 -0.64969 C 0.02275 -0.65124 0.02379 -0.6534 0.02483 -0.65525 L 0.02813 -0.66266 " pathEditMode="relative" rAng="0" ptsTypes="AAAAAAAAAAAAAAAAAAAAAAAAAAAAAA">
                                      <p:cBhvr>
                                        <p:cTn id="29" dur="2500" fill="hold"/>
                                        <p:tgtEl>
                                          <p:spTgt spid="17"/>
                                        </p:tgtEl>
                                        <p:attrNameLst>
                                          <p:attrName>ppt_x</p:attrName>
                                          <p:attrName>ppt_y</p:attrName>
                                        </p:attrNameLst>
                                      </p:cBhvr>
                                      <p:rCtr x="3194" y="-33086"/>
                                    </p:animMotion>
                                  </p:childTnLst>
                                </p:cTn>
                              </p:par>
                              <p:par>
                                <p:cTn id="30" presetID="0" presetClass="path" presetSubtype="0" repeatCount="indefinite" fill="hold" grpId="0" nodeType="withEffect">
                                  <p:stCondLst>
                                    <p:cond delay="1000"/>
                                  </p:stCondLst>
                                  <p:childTnLst>
                                    <p:animMotion origin="layout" path="M -2.22222E-6 -0.00031 L -2.22222E-6 0.00031 C 0.00018 -0.09876 -2.22222E-6 -0.19784 0.0007 -0.29568 C 0.00087 -0.31235 0.00347 -0.32469 0.00573 -0.34012 C 0.00695 -0.34876 0.00903 -0.36574 0.01077 -0.375 C 0.01354 -0.39105 0.01597 -0.40309 0.01979 -0.41697 C 0.02205 -0.42469 0.02379 -0.43302 0.02656 -0.4392 C 0.02795 -0.44228 0.02934 -0.44475 0.03073 -0.44846 C 0.03195 -0.45093 0.03264 -0.45494 0.03403 -0.45741 C 0.03663 -0.46296 0.03924 -0.46852 0.04236 -0.47191 C 0.04341 -0.47315 0.04462 -0.47407 0.04566 -0.47593 C 0.04775 -0.47994 0.04931 -0.48457 0.05139 -0.48858 C 0.05313 -0.49167 0.05486 -0.49444 0.05643 -0.49753 C 0.06042 -0.50648 0.05625 -0.5 0.05903 -0.50864 C 0.05955 -0.51111 0.06059 -0.51265 0.06146 -0.51451 C 0.06511 -0.53765 0.06441 -0.52901 0.06233 -0.57099 C 0.06216 -0.57346 0.06111 -0.575 0.06059 -0.57685 C 0.06042 -0.57901 0.06042 -0.58179 0.05972 -0.58395 C 0.05886 -0.58735 0.05764 -0.59012 0.05643 -0.59321 C 0.05434 -0.59846 0.05261 -0.60216 0.04983 -0.60617 C 0.04757 -0.60926 0.04531 -0.61204 0.04323 -0.61543 C 0.04202 -0.61697 0.04097 -0.61914 0.03976 -0.62068 C 0.03854 -0.62222 0.03698 -0.62315 0.03559 -0.62407 C 0.02847 -0.63179 0.03472 -0.62809 0.02743 -0.63148 C 0.02483 -0.63518 0.02448 -0.63611 0.02153 -0.63889 C 0.02066 -0.63951 0.01979 -0.63981 0.0191 -0.64074 C 0.01875 -0.64259 0.01771 -0.64444 0.01823 -0.64599 C 0.01893 -0.64815 0.02049 -0.64815 0.02153 -0.64969 C 0.02275 -0.65123 0.02379 -0.65339 0.02483 -0.65525 L 0.02813 -0.66265 " pathEditMode="relative" rAng="0" ptsTypes="AAAAAAAAAAAAAAAAAAAAAAAAAAAAAA">
                                      <p:cBhvr>
                                        <p:cTn id="31" dur="2500" fill="hold"/>
                                        <p:tgtEl>
                                          <p:spTgt spid="18"/>
                                        </p:tgtEl>
                                        <p:attrNameLst>
                                          <p:attrName>ppt_x</p:attrName>
                                          <p:attrName>ppt_y</p:attrName>
                                        </p:attrNameLst>
                                      </p:cBhvr>
                                      <p:rCtr x="3194" y="-33086"/>
                                    </p:animMotion>
                                  </p:childTnLst>
                                </p:cTn>
                              </p:par>
                              <p:par>
                                <p:cTn id="32" presetID="0" presetClass="path" presetSubtype="0" repeatCount="indefinite" fill="hold" nodeType="withEffect">
                                  <p:stCondLst>
                                    <p:cond delay="0"/>
                                  </p:stCondLst>
                                  <p:childTnLst>
                                    <p:animMotion origin="layout" path="M 1.38889E-6 -0.00031 L 1.38889E-6 0.00031 C 1.38889E-6 -0.09877 0.01458 -0.13642 0.01528 -0.23488 C 0.01545 -0.25124 0.0033 -0.32469 0.00573 -0.34012 C 0.00694 -0.34877 0.00903 -0.36574 0.01076 -0.375 C 0.01354 -0.39105 0.01597 -0.4034 0.01979 -0.41698 C 0.02205 -0.425 0.02378 -0.43303 0.02656 -0.4392 C 0.02795 -0.44259 0.02934 -0.44475 0.03073 -0.44846 C 0.03194 -0.45093 0.03264 -0.45525 0.03403 -0.45741 C 0.03663 -0.46327 0.03923 -0.46883 0.04236 -0.47222 C 0.0434 -0.47346 0.04462 -0.47408 0.04566 -0.47593 C 0.04774 -0.47963 0.0493 -0.48488 0.05139 -0.48858 L 0.05642 -0.49753 C 0.06042 -0.50648 0.05625 -0.50031 0.05903 -0.50895 C 0.05955 -0.51111 0.06059 -0.51266 0.06146 -0.51451 C 0.0651 -0.53796 0.06441 -0.52901 0.06233 -0.57068 C 0.06215 -0.57315 0.06111 -0.57438 0.06059 -0.57624 C 0.06042 -0.5787 0.06042 -0.58148 0.05972 -0.58333 C 0.05885 -0.58673 0.05764 -0.58951 0.05642 -0.5929 C 0.05434 -0.59784 0.0526 -0.60185 0.04983 -0.60556 L 0.04323 -0.61482 C 0.04201 -0.61636 0.04097 -0.61883 0.03976 -0.62006 C 0.03854 -0.62161 0.03698 -0.62253 0.03559 -0.62346 C 0.02847 -0.63148 0.03472 -0.62778 0.02743 -0.63087 C 0.02483 -0.63457 0.02448 -0.6358 0.02153 -0.63796 C 0.02066 -0.63889 0.01979 -0.63951 0.0191 -0.64043 C 0.01875 -0.64229 0.01771 -0.64414 0.01823 -0.64568 C 0.01892 -0.64784 0.02048 -0.64784 0.02153 -0.64938 C 0.02274 -0.65062 0.02378 -0.65309 0.02483 -0.65494 L 0.02812 -0.66266 " pathEditMode="relative" rAng="0" ptsTypes="AAAAAAAAAAAAAAAAAAAAAAAAAAAAAA">
                                      <p:cBhvr>
                                        <p:cTn id="33" dur="2500" fill="hold"/>
                                        <p:tgtEl>
                                          <p:spTgt spid="19"/>
                                        </p:tgtEl>
                                        <p:attrNameLst>
                                          <p:attrName>ppt_x</p:attrName>
                                          <p:attrName>ppt_y</p:attrName>
                                        </p:attrNameLst>
                                      </p:cBhvr>
                                      <p:rCtr x="3194" y="-33086"/>
                                    </p:animMotion>
                                  </p:childTnLst>
                                </p:cTn>
                              </p:par>
                              <p:par>
                                <p:cTn id="34" presetID="0" presetClass="path" presetSubtype="0" repeatCount="indefinite" fill="hold" grpId="0" nodeType="withEffect">
                                  <p:stCondLst>
                                    <p:cond delay="1300"/>
                                  </p:stCondLst>
                                  <p:childTnLst>
                                    <p:animMotion origin="layout" path="M 1.38778E-17 -0.0003 L 1.38778E-17 0.00031 C 0.00017 -0.09876 1.38778E-17 -0.19753 0.00069 -0.29568 C 0.00087 -0.31234 0.00347 -0.32469 0.00573 -0.34012 C 0.00694 -0.34876 0.00903 -0.36574 0.01076 -0.375 C 0.01354 -0.39105 0.01597 -0.40308 0.01979 -0.41697 C 0.02205 -0.42469 0.02378 -0.43302 0.02656 -0.43919 C 0.02795 -0.44228 0.02934 -0.44475 0.03073 -0.44845 C 0.03194 -0.45092 0.03264 -0.45493 0.03403 -0.4574 C 0.03663 -0.46296 0.03924 -0.46851 0.04236 -0.47191 C 0.0434 -0.47314 0.04462 -0.47407 0.04566 -0.47592 C 0.04774 -0.47963 0.04931 -0.48456 0.05139 -0.48858 C 0.05313 -0.49166 0.05486 -0.49444 0.05642 -0.49753 C 0.06042 -0.50648 0.05625 -0.5 0.05903 -0.50864 C 0.05955 -0.51111 0.06059 -0.51265 0.06146 -0.5145 C 0.0651 -0.53765 0.06441 -0.52901 0.06233 -0.57098 C 0.06215 -0.57345 0.06111 -0.575 0.06059 -0.57685 C 0.06042 -0.5787 0.06042 -0.58148 0.05972 -0.58364 C 0.05885 -0.58703 0.05764 -0.58981 0.05642 -0.5929 C 0.05434 -0.59814 0.0526 -0.60185 0.04983 -0.60586 C 0.04757 -0.60895 0.04531 -0.61172 0.04323 -0.61512 C 0.04201 -0.61666 0.04097 -0.61882 0.03976 -0.62037 C 0.03854 -0.62191 0.03698 -0.62284 0.03559 -0.62376 C 0.02847 -0.63148 0.03472 -0.62777 0.02743 -0.63117 C 0.02483 -0.63487 0.02448 -0.6358 0.02153 -0.63827 C 0.02066 -0.63919 0.01979 -0.6395 0.0191 -0.64043 C 0.01875 -0.64228 0.01771 -0.64413 0.01823 -0.64568 C 0.01892 -0.64784 0.02049 -0.64784 0.02153 -0.64938 C 0.02274 -0.65092 0.02378 -0.65308 0.02483 -0.65493 L 0.02813 -0.66265 " pathEditMode="relative" rAng="0" ptsTypes="AAAAAAAAAAAAAAAAAAAAAAAAAAAAAA">
                                      <p:cBhvr>
                                        <p:cTn id="35" dur="2500" fill="hold"/>
                                        <p:tgtEl>
                                          <p:spTgt spid="20"/>
                                        </p:tgtEl>
                                        <p:attrNameLst>
                                          <p:attrName>ppt_x</p:attrName>
                                          <p:attrName>ppt_y</p:attrName>
                                        </p:attrNameLst>
                                      </p:cBhvr>
                                      <p:rCtr x="3194" y="-33086"/>
                                    </p:animMotion>
                                  </p:childTnLst>
                                </p:cTn>
                              </p:par>
                              <p:par>
                                <p:cTn id="36" presetID="0" presetClass="path" presetSubtype="0" repeatCount="indefinite" fill="hold" nodeType="withEffect">
                                  <p:stCondLst>
                                    <p:cond delay="100"/>
                                  </p:stCondLst>
                                  <p:childTnLst>
                                    <p:animMotion origin="layout" path="M -3.33333E-6 -0.00031 L -3.33333E-6 0.0003 C 0.00018 -0.09877 -3.33333E-6 -0.19753 0.0007 -0.29568 C 0.00087 -0.31235 0.00348 -0.3247 0.00573 -0.34013 C 0.00695 -0.34877 0.00903 -0.36574 0.01077 -0.375 C 0.01355 -0.39105 0.01598 -0.40309 0.0198 -0.41698 C 0.02205 -0.4247 0.02379 -0.43303 0.02657 -0.4392 C 0.02795 -0.44229 0.02934 -0.44476 0.03073 -0.44846 C 0.03195 -0.45093 0.03264 -0.45494 0.03403 -0.45741 C 0.03664 -0.46297 0.03924 -0.46852 0.04236 -0.47192 C 0.04341 -0.47315 0.04462 -0.47408 0.04566 -0.47593 C 0.04775 -0.47963 0.04931 -0.48457 0.05139 -0.48858 C 0.05313 -0.49167 0.05486 -0.49445 0.05643 -0.49753 C 0.06042 -0.50649 0.05625 -0.5 0.05903 -0.50865 C 0.05955 -0.51112 0.06059 -0.51266 0.06146 -0.51451 C 0.06511 -0.53766 0.06441 -0.52902 0.06233 -0.57099 C 0.06216 -0.57346 0.06111 -0.575 0.06059 -0.57686 C 0.06042 -0.57902 0.06042 -0.58179 0.05973 -0.58395 C 0.05886 -0.58735 0.05764 -0.59013 0.05643 -0.59321 C 0.05434 -0.59846 0.05261 -0.60216 0.04983 -0.60618 C 0.04757 -0.60926 0.04532 -0.61204 0.04323 -0.61544 C 0.04202 -0.61698 0.04098 -0.61914 0.03976 -0.62068 C 0.03855 -0.62223 0.03698 -0.62315 0.03559 -0.62408 C 0.02848 -0.63179 0.03473 -0.62809 0.02743 -0.63149 C 0.02483 -0.63519 0.02448 -0.63612 0.02153 -0.63858 C 0.02066 -0.63951 0.0198 -0.63982 0.0191 -0.64074 C 0.01875 -0.6426 0.01771 -0.64445 0.01823 -0.64599 C 0.01893 -0.64815 0.02049 -0.64815 0.02153 -0.6497 C 0.02275 -0.65124 0.02379 -0.6534 0.02483 -0.65525 L 0.02813 -0.66266 " pathEditMode="relative" rAng="0" ptsTypes="AAAAAAAAAAAAAAAAAAAAAAAAAAAAAA">
                                      <p:cBhvr>
                                        <p:cTn id="37" dur="2500" fill="hold"/>
                                        <p:tgtEl>
                                          <p:spTgt spid="21"/>
                                        </p:tgtEl>
                                        <p:attrNameLst>
                                          <p:attrName>ppt_x</p:attrName>
                                          <p:attrName>ppt_y</p:attrName>
                                        </p:attrNameLst>
                                      </p:cBhvr>
                                      <p:rCtr x="3194" y="-33086"/>
                                    </p:animMotion>
                                  </p:childTnLst>
                                </p:cTn>
                              </p:par>
                              <p:par>
                                <p:cTn id="38" presetID="0" presetClass="path" presetSubtype="0" repeatCount="indefinite" fill="hold" grpId="0" nodeType="withEffect">
                                  <p:stCondLst>
                                    <p:cond delay="1000"/>
                                  </p:stCondLst>
                                  <p:childTnLst>
                                    <p:animMotion origin="layout" path="M 5E-6 -0.0003 L 5E-6 0.00031 C 0.00017 -0.09876 5E-6 -0.19753 0.0007 -0.29567 C 0.00087 -0.31234 0.00348 -0.32469 0.00572 -0.34012 C 0.00694 -0.34876 0.00902 -0.36574 0.01077 -0.375 C 0.01355 -0.39105 0.01598 -0.40308 0.0198 -0.41697 C 0.02205 -0.42469 0.02378 -0.43302 0.02657 -0.43919 C 0.02795 -0.44228 0.02934 -0.44475 0.03073 -0.44845 C 0.03195 -0.45092 0.03264 -0.45493 0.03403 -0.4574 C 0.03664 -0.46296 0.03923 -0.46851 0.04237 -0.47191 C 0.0434 -0.47314 0.04462 -0.47407 0.04566 -0.47592 C 0.04775 -0.47963 0.0493 -0.48456 0.05138 -0.48858 C 0.05313 -0.49166 0.05487 -0.49444 0.05642 -0.49753 C 0.06042 -0.50648 0.05625 -0.5 0.05903 -0.50864 C 0.05955 -0.51111 0.0606 -0.51265 0.06145 -0.5145 C 0.06511 -0.53765 0.0644 -0.52901 0.06233 -0.57098 C 0.06215 -0.57345 0.06112 -0.575 0.0606 -0.57685 C 0.06042 -0.57901 0.06042 -0.58179 0.05973 -0.58395 C 0.05886 -0.58734 0.05764 -0.59012 0.05642 -0.59321 C 0.05435 -0.59845 0.05261 -0.60216 0.04983 -0.60617 C 0.04757 -0.60926 0.04532 -0.61203 0.04322 -0.61543 C 0.04202 -0.61697 0.04098 -0.61913 0.03976 -0.62067 C 0.03855 -0.62222 0.03698 -0.62314 0.0356 -0.62407 C 0.02848 -0.63179 0.03473 -0.62808 0.02743 -0.63148 C 0.02483 -0.63518 0.02448 -0.63611 0.02153 -0.63858 C 0.02066 -0.6395 0.0198 -0.63981 0.0191 -0.64074 C 0.01876 -0.64259 0.01771 -0.64444 0.01822 -0.64598 C 0.01893 -0.64814 0.02049 -0.64814 0.02153 -0.64969 C 0.02275 -0.65123 0.02378 -0.65339 0.02483 -0.65524 L 0.02812 -0.66265 " pathEditMode="relative" rAng="0" ptsTypes="AAAAAAAAAAAAAAAAAAAAAAAAAAAAAA">
                                      <p:cBhvr>
                                        <p:cTn id="39" dur="2500" fill="hold"/>
                                        <p:tgtEl>
                                          <p:spTgt spid="22"/>
                                        </p:tgtEl>
                                        <p:attrNameLst>
                                          <p:attrName>ppt_x</p:attrName>
                                          <p:attrName>ppt_y</p:attrName>
                                        </p:attrNameLst>
                                      </p:cBhvr>
                                      <p:rCtr x="3194" y="-33086"/>
                                    </p:animMotion>
                                  </p:childTnLst>
                                </p:cTn>
                              </p:par>
                              <p:par>
                                <p:cTn id="40" presetID="0" presetClass="path" presetSubtype="0" repeatCount="indefinite" fill="hold" nodeType="withEffect">
                                  <p:stCondLst>
                                    <p:cond delay="100"/>
                                  </p:stCondLst>
                                  <p:childTnLst>
                                    <p:animMotion origin="layout" path="M -3.61111E-6 -0.00031 L -3.61111E-6 0.00031 C 0.00018 -0.09876 -0.00729 -0.06481 -0.00659 -0.16265 C -0.00642 -0.17932 0.02223 -0.26018 0.02448 -0.27562 C 0.0257 -0.28426 -0.03264 -0.34722 -0.0309 -0.35679 C -0.02812 -0.37284 0.01025 -0.40339 0.0198 -0.41697 C 0.02934 -0.43117 0.02379 -0.43302 0.02657 -0.4392 C 0.02796 -0.4429 0.02934 -0.44475 0.03073 -0.44846 C 0.03195 -0.45092 0.03264 -0.45555 0.03403 -0.45741 C 0.03664 -0.46358 0.03924 -0.46883 0.04236 -0.47253 C 0.04341 -0.47346 0.04462 -0.47407 0.04566 -0.47592 C 0.04775 -0.47963 0.04931 -0.48488 0.05139 -0.48858 L 0.05643 -0.49753 C 0.06042 -0.50648 0.05625 -0.50031 0.05903 -0.50926 C 0.05955 -0.51111 0.06059 -0.51265 0.06146 -0.5145 C 0.06511 -0.53796 0.06441 -0.52901 0.06233 -0.57068 C 0.06216 -0.57315 0.06111 -0.57438 0.06059 -0.57592 C 0.06042 -0.5787 0.06042 -0.58148 0.05973 -0.58333 C 0.05886 -0.58673 0.05764 -0.5895 0.05643 -0.5929 C 0.05434 -0.59753 0.05261 -0.60185 0.04983 -0.60555 L 0.04323 -0.6145 C 0.04202 -0.61636 0.04098 -0.61883 0.03976 -0.62006 C 0.03855 -0.6216 0.03698 -0.62253 0.03559 -0.62346 C 0.02848 -0.63148 0.03473 -0.62778 0.02743 -0.63055 C 0.02483 -0.63426 0.02448 -0.6358 0.02153 -0.63796 C 0.02066 -0.63889 0.0198 -0.6395 0.0191 -0.64043 C 0.01875 -0.64228 0.01771 -0.64413 0.01823 -0.64568 C 0.01893 -0.64784 0.02049 -0.64784 0.02153 -0.64938 C 0.02275 -0.65031 0.02379 -0.65308 0.02483 -0.65494 L 0.02813 -0.66265 " pathEditMode="relative" rAng="0" ptsTypes="AAAAAAAAAAAAAAAAAAAAAAAAAAAAAA">
                                      <p:cBhvr>
                                        <p:cTn id="41" dur="2500" fill="hold"/>
                                        <p:tgtEl>
                                          <p:spTgt spid="24"/>
                                        </p:tgtEl>
                                        <p:attrNameLst>
                                          <p:attrName>ppt_x</p:attrName>
                                          <p:attrName>ppt_y</p:attrName>
                                        </p:attrNameLst>
                                      </p:cBhvr>
                                      <p:rCtr x="1649" y="-33086"/>
                                    </p:animMotion>
                                  </p:childTnLst>
                                </p:cTn>
                              </p:par>
                              <p:par>
                                <p:cTn id="42" presetID="8" presetClass="emph" presetSubtype="0" repeatCount="indefinite" fill="hold" grpId="0" nodeType="withEffect">
                                  <p:stCondLst>
                                    <p:cond delay="0"/>
                                  </p:stCondLst>
                                  <p:childTnLst>
                                    <p:animRot by="-21600000">
                                      <p:cBhvr>
                                        <p:cTn id="43" dur="30000" fill="hold"/>
                                        <p:tgtEl>
                                          <p:spTgt spid="27"/>
                                        </p:tgtEl>
                                        <p:attrNameLst>
                                          <p:attrName>r</p:attrName>
                                        </p:attrNameLst>
                                      </p:cBhvr>
                                    </p:animRot>
                                  </p:childTnLst>
                                </p:cTn>
                              </p:par>
                              <p:par>
                                <p:cTn id="44" presetID="8" presetClass="emph" presetSubtype="0" repeatCount="indefinite" fill="hold" grpId="0" nodeType="withEffect">
                                  <p:stCondLst>
                                    <p:cond delay="0"/>
                                  </p:stCondLst>
                                  <p:childTnLst>
                                    <p:animRot by="21600000">
                                      <p:cBhvr>
                                        <p:cTn id="45" dur="30000" fill="hold"/>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8" grpId="0" animBg="1"/>
      <p:bldP spid="20" grpId="0" animBg="1"/>
      <p:bldP spid="22" grpId="0" animBg="1"/>
      <p:bldP spid="23" grpId="0" animBg="1"/>
      <p:bldP spid="27" grpId="0" animBg="1"/>
      <p:bldP spid="30" grpId="0"/>
      <p:bldP spid="3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04">
      <a:dk1>
        <a:sysClr val="windowText" lastClr="000000"/>
      </a:dk1>
      <a:lt1>
        <a:sysClr val="window" lastClr="FFFFFF"/>
      </a:lt1>
      <a:dk2>
        <a:srgbClr val="385863"/>
      </a:dk2>
      <a:lt2>
        <a:srgbClr val="37B0CD"/>
      </a:lt2>
      <a:accent1>
        <a:srgbClr val="77CAC0"/>
      </a:accent1>
      <a:accent2>
        <a:srgbClr val="7B4B73"/>
      </a:accent2>
      <a:accent3>
        <a:srgbClr val="F2615C"/>
      </a:accent3>
      <a:accent4>
        <a:srgbClr val="D34D42"/>
      </a:accent4>
      <a:accent5>
        <a:srgbClr val="DAD4BE"/>
      </a:accent5>
      <a:accent6>
        <a:srgbClr val="BCAF85"/>
      </a:accent6>
      <a:hlink>
        <a:srgbClr val="AD1F1F"/>
      </a:hlink>
      <a:folHlink>
        <a:srgbClr val="FFC42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TotalTime>
  <Words>5472</Words>
  <Application>Microsoft Office PowerPoint</Application>
  <PresentationFormat>全屏显示(16:9)</PresentationFormat>
  <Paragraphs>502</Paragraphs>
  <Slides>25</Slides>
  <Notes>25</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25</vt:i4>
      </vt:variant>
    </vt:vector>
  </HeadingPairs>
  <TitlesOfParts>
    <vt:vector size="34" baseType="lpstr">
      <vt:lpstr>Meiryo UI</vt:lpstr>
      <vt:lpstr>Aptos</vt:lpstr>
      <vt:lpstr>Aptos Display</vt:lpstr>
      <vt:lpstr>Arial</vt:lpstr>
      <vt:lpstr>Calibri</vt:lpstr>
      <vt:lpstr>Cambria Math</vt:lpstr>
      <vt:lpstr>Impact</vt:lpstr>
      <vt:lpstr>Office 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Linfeng Nie</dc:creator>
  <cp:lastModifiedBy>Yuming Chen</cp:lastModifiedBy>
  <cp:revision>39</cp:revision>
  <dcterms:created xsi:type="dcterms:W3CDTF">2026-05-27T04:36:37Z</dcterms:created>
  <dcterms:modified xsi:type="dcterms:W3CDTF">2026-06-02T09:01:36Z</dcterms:modified>
</cp:coreProperties>
</file>